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Algorithm A</c:v>
                </c:pt>
              </c:strCache>
            </c:strRef>
          </c:tx>
          <c:spPr>
            <a:solidFill>
              <a:srgbClr val="3A3F44"/>
            </a:solidFill>
            <a:ln w="38160">
              <a:solidFill>
                <a:srgbClr val="3A3F44"/>
              </a:solidFill>
              <a:round/>
            </a:ln>
          </c:spPr>
          <c:marker>
            <c:symbol val="circle"/>
            <c:size val="7"/>
            <c:spPr>
              <a:solidFill>
                <a:srgbClr val="3A3F44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100</c:v>
                </c:pt>
                <c:pt idx="1">
                  <c:v>1000</c:v>
                </c:pt>
                <c:pt idx="2">
                  <c:v>10000</c:v>
                </c:pt>
                <c:pt idx="3">
                  <c:v>50000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993.81</c:v>
                </c:pt>
                <c:pt idx="1">
                  <c:v>1778.052</c:v>
                </c:pt>
                <c:pt idx="2">
                  <c:v>10384.459</c:v>
                </c:pt>
                <c:pt idx="3">
                  <c:v>12889.745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Algorithm B</c:v>
                </c:pt>
              </c:strCache>
            </c:strRef>
          </c:tx>
          <c:spPr>
            <a:solidFill>
              <a:srgbClr val="5B6B73"/>
            </a:solidFill>
            <a:ln w="38160">
              <a:solidFill>
                <a:srgbClr val="5B6B73"/>
              </a:solidFill>
              <a:round/>
            </a:ln>
          </c:spPr>
          <c:marker>
            <c:symbol val="circle"/>
            <c:size val="7"/>
            <c:spPr>
              <a:solidFill>
                <a:srgbClr val="5B6B73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100</c:v>
                </c:pt>
                <c:pt idx="1">
                  <c:v>1000</c:v>
                </c:pt>
                <c:pt idx="2">
                  <c:v>10000</c:v>
                </c:pt>
                <c:pt idx="3">
                  <c:v>50000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267.671</c:v>
                </c:pt>
                <c:pt idx="1">
                  <c:v>770.611</c:v>
                </c:pt>
                <c:pt idx="2">
                  <c:v>3818.614</c:v>
                </c:pt>
                <c:pt idx="3">
                  <c:v>5744.386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848692"/>
        <c:axId val="14242129"/>
      </c:lineChart>
      <c:catAx>
        <c:axId val="484869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n (ขนาด input)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8A8F98"/>
                </a:solidFill>
                <a:uFillTx/>
                <a:latin typeface="Arial"/>
              </a:defRPr>
            </a:pPr>
          </a:p>
        </c:txPr>
        <c:crossAx val="14242129"/>
        <c:crosses val="autoZero"/>
        <c:auto val="1"/>
        <c:lblAlgn val="ctr"/>
        <c:lblOffset val="100"/>
        <c:noMultiLvlLbl val="0"/>
      </c:catAx>
      <c:valAx>
        <c:axId val="14242129"/>
        <c:scaling>
          <c:orientation val="minMax"/>
        </c:scaling>
        <c:delete val="0"/>
        <c:axPos val="l"/>
        <c:majorGridlines>
          <c:spPr>
            <a:ln w="12600">
              <a:solidFill>
                <a:srgbClr val="E5E7EB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เวลาเฉลี่ย (µs)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8A8F98"/>
                </a:solidFill>
                <a:uFillTx/>
                <a:latin typeface="Arial"/>
              </a:defRPr>
            </a:pPr>
          </a:p>
        </c:txPr>
        <c:crossAx val="4848692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1F2328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98E55EB-8183-4DC1-8D16-8CD878762D5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9CC430-23FB-42B6-A7C5-BE2B3F13B0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168176-83E4-476F-8F58-2F242F64E6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734930-2161-4566-909C-E717EEF788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A35B15-1E30-44DF-A62B-F07A031865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26D94A-E630-4861-8EF8-6903369C7A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4C4A4F-F403-4839-84CD-F36CCEB705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E031A4-55DE-45B9-AF00-4F89EB78EC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97DFFC-28C2-470D-99D1-5B7C67DCAB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C4B3D2-4BE9-4B32-83BB-CBE93EBA4B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398CC5-5514-458D-9971-01B65E34F1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FA173A-F956-46E3-AD58-999086E817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FAC546-ACAA-431F-952F-D6DC6D53AC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22960" y="2331720"/>
            <a:ext cx="822240" cy="229680"/>
          </a:xfrm>
          <a:prstGeom prst="roundRect">
            <a:avLst>
              <a:gd name="adj" fmla="val 15873"/>
            </a:avLst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" y="2628000"/>
            <a:ext cx="822240" cy="229680"/>
          </a:xfrm>
          <a:prstGeom prst="roundRect">
            <a:avLst>
              <a:gd name="adj" fmla="val 15873"/>
            </a:avLst>
          </a:prstGeom>
          <a:solidFill>
            <a:srgbClr val="6E76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22960" y="2924280"/>
            <a:ext cx="822240" cy="229680"/>
          </a:xfrm>
          <a:prstGeom prst="roundRect">
            <a:avLst>
              <a:gd name="adj" fmla="val 15873"/>
            </a:avLst>
          </a:prstGeom>
          <a:solidFill>
            <a:srgbClr val="9AA0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34290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pc="201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กลุ่มที่ </a:t>
            </a:r>
            <a:r>
              <a:rPr lang="en-US" sz="1600" b="0" u="none" spc="201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749040"/>
            <a:ext cx="9600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Expression Processor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452628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20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ด้วย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Stack (Java)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22960" y="5257800"/>
            <a:ext cx="3200400" cy="360"/>
          </a:xfrm>
          <a:prstGeom prst="line">
            <a:avLst/>
          </a:prstGeom>
          <a:ln w="12700">
            <a:solidFill>
              <a:srgbClr val="D8DB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22960" y="557784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สมาชิกกลุ่ม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ศุภณัฐ บุญรักษา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68122250043,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ชินวัฒน์ พลจันทร์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68122250061,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มหิทธิกรณ์ สุดมี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68122250074,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นันทสิทธิ์ ป้องภัย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68122250021,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ธนากร สุธากมลรัตน์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68122250016,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ทัศนัย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68122250087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22960" y="598932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CSD2103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การออกแบบและวิเคราะห์อัลกอริทึม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Case Story (</a:t>
            </a:r>
            <a:r>
              <a:rPr lang="hi-IN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การวิเคราะห์ปัญหา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548640" y="1234440"/>
            <a:ext cx="6674400" cy="4845600"/>
          </a:xfrm>
          <a:prstGeom prst="roundRect">
            <a:avLst>
              <a:gd name="adj" fmla="val 113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868680" y="1508760"/>
            <a:ext cx="603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โจทย์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868680" y="1920240"/>
            <a:ext cx="6034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ระบบต้องรับนิพจน์ทางคณิตศาสตร์ ตรวจสอบความถูกต้อง แปลง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เป็น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และคำนวณผลลัพธ์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868680" y="2926080"/>
            <a:ext cx="6034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รองรับ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68680" y="3291840"/>
            <a:ext cx="6034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Operator: + - * 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68680" y="3675960"/>
            <a:ext cx="6034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วงเล็บ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( 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868680" y="4060080"/>
            <a:ext cx="6034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จำนวนเต็มบวก หลายหลัก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868680" y="4443840"/>
            <a:ext cx="6034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ช่องว่างระหว่าง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7452360" y="1234440"/>
            <a:ext cx="4159800" cy="2193840"/>
          </a:xfrm>
          <a:prstGeom prst="roundRect">
            <a:avLst>
              <a:gd name="adj" fmla="val 2500"/>
            </a:avLst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7726680" y="14173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pc="99" strike="noStrike">
                <a:solidFill>
                  <a:srgbClr val="F5F5F5"/>
                </a:solidFill>
                <a:effectLst/>
                <a:uFillTx/>
                <a:latin typeface="TH Sarabun New"/>
                <a:cs typeface="TH Sarabun New"/>
              </a:rPr>
              <a:t>ตัวอย่าง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7726680" y="17830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Courier New"/>
              </a:rPr>
              <a:t>3 + 4 * 2 / (1 - 5)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7726680" y="233172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5F5F5"/>
                </a:solidFill>
                <a:effectLst/>
                <a:uFillTx/>
                <a:latin typeface="TH Sarabun New"/>
                <a:ea typeface="Courier New"/>
              </a:rPr>
              <a:t>→ Postfix: 3 4 2 * 1 5 - / +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7726680" y="27432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Courier New"/>
              </a:rPr>
              <a:t>→ ผลลัพธ์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Courier New"/>
              </a:rPr>
              <a:t>=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7452360" y="3611880"/>
            <a:ext cx="4159800" cy="246816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7726680" y="384048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ทำไมต้องแปลงเป็น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7726680" y="4343400"/>
            <a:ext cx="36568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ต้องดู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priority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ล่วงหน้าตลอดเวลา แต่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อ่านซ้ายไปขวาทีเดียวจบ ไม่ต้องดูล่วงหน้าเลย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Input, Output </a:t>
            </a:r>
            <a:r>
              <a:rPr lang="hi-IN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Constraints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548640" y="1371600"/>
            <a:ext cx="3565440" cy="420552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548640" y="1371600"/>
            <a:ext cx="3565440" cy="776520"/>
          </a:xfrm>
          <a:prstGeom prst="roundRect">
            <a:avLst>
              <a:gd name="adj" fmla="val 7059"/>
            </a:avLst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48640" y="1783080"/>
            <a:ext cx="3565440" cy="365040"/>
          </a:xfrm>
          <a:prstGeom prst="rect">
            <a:avLst/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822960" y="1371600"/>
            <a:ext cx="3016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822960" y="233172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string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นิพจน์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+ operator +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วงเล็บ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310896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เลขจำนวนเต็มบวก หลายหลัก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822960" y="388620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ช่องว่างคั่นได้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4389120" y="1371600"/>
            <a:ext cx="3565440" cy="420552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4389120" y="1371600"/>
            <a:ext cx="3565440" cy="776520"/>
          </a:xfrm>
          <a:prstGeom prst="roundRect">
            <a:avLst>
              <a:gd name="adj" fmla="val 7059"/>
            </a:avLst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4389120" y="1783080"/>
            <a:ext cx="3565440" cy="365040"/>
          </a:xfrm>
          <a:prstGeom prst="rect">
            <a:avLst/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4663440" y="1371600"/>
            <a:ext cx="3016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4663440" y="233172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expression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4663440" y="310896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ผลลัพธ์ตัวเลข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663440" y="388620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หรือ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error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พร้อมสาเหตุ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8229600" y="1371600"/>
            <a:ext cx="3565440" cy="420552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8229600" y="1371600"/>
            <a:ext cx="3565440" cy="776520"/>
          </a:xfrm>
          <a:prstGeom prst="roundRect">
            <a:avLst>
              <a:gd name="adj" fmla="val 7059"/>
            </a:avLst>
          </a:prstGeom>
          <a:solidFill>
            <a:srgbClr val="6E76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8229600" y="1783080"/>
            <a:ext cx="3565440" cy="365040"/>
          </a:xfrm>
          <a:prstGeom prst="rect">
            <a:avLst/>
          </a:prstGeom>
          <a:solidFill>
            <a:srgbClr val="6E76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8503920" y="1371600"/>
            <a:ext cx="3016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Constraints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8503920" y="233172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รองรับแค่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+ - * 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8503920" y="310896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ไม่มีทศนิยม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/ unary minus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8503920" y="3886200"/>
            <a:ext cx="3016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5000"/>
              </a:lnSpc>
              <a:buClr>
                <a:srgbClr val="1F2328"/>
              </a:buClr>
              <a:buFont typeface="Symbol" charset="2"/>
              <a:buChar char=""/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ห้ามหารด้วยศูนย์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548640" y="580644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Edge cases: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นิพจน์ว่าง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·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ตัวเลขตัวเดียว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·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วงเล็บซ้อนหลายชั้น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Algorithm 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48640" y="10515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→ Postfix </a:t>
            </a: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แล้ว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Evaluate </a:t>
            </a: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แยก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548640" y="1600200"/>
            <a:ext cx="5119920" cy="4479840"/>
          </a:xfrm>
          <a:prstGeom prst="roundRect">
            <a:avLst>
              <a:gd name="adj" fmla="val 122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822960" y="182880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แนวคิดหลัก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822960" y="2240280"/>
            <a:ext cx="45712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แปลง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เป็น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ให้เสร็จทั้งหมดก่อน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(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ใช้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operatorStack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เทียบ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priority)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แล้วค่อยนำ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ไปคำนวณผลลัพธ์อีกขั้นตอนหนึ่งแยกกัน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822960" y="3886200"/>
            <a:ext cx="4572000" cy="360"/>
          </a:xfrm>
          <a:prstGeom prst="line">
            <a:avLst/>
          </a:prstGeom>
          <a:ln w="12700">
            <a:solidFill>
              <a:srgbClr val="D8DB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822960" y="402336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ข้อดี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ข้อจำกัด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822960" y="4389120"/>
            <a:ext cx="45712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ข้อดี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แยก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ดูได้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debug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ง่าย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evaluate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ซ้ำได้โดยไม่ต้อง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parse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ใหม่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ข้อจำกัด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ต้องเก็บ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list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เพิ่มอีกก้อนหนึ่ง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5943600" y="1600200"/>
            <a:ext cx="5668560" cy="4479840"/>
          </a:xfrm>
          <a:prstGeom prst="roundRect">
            <a:avLst>
              <a:gd name="adj" fmla="val 1224"/>
            </a:avLst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621792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pc="99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ขั้นตอนหลัก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6217920" y="228600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6355080" y="228600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6858000" y="228600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Tokenize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นิพจน์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6217920" y="313632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6355080" y="313632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6858000" y="313632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แปลง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→ Postfix (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เทียบ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priority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ด้วย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operatorStack)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6217920" y="398664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6355080" y="398664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6858000" y="398664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Evaluate Postfix (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ใช้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operandStack)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6217920" y="483732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6355080" y="483732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6858000" y="483732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คืนผลลัพธ์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แจ้ง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Algorithm 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48640" y="10515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ประเมิน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ตรงๆ ด้วย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2 Stacks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548640" y="1600200"/>
            <a:ext cx="5119920" cy="4479840"/>
          </a:xfrm>
          <a:prstGeom prst="roundRect">
            <a:avLst>
              <a:gd name="adj" fmla="val 122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822960" y="182880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แนวคิดหลัก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822960" y="2240280"/>
            <a:ext cx="45712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ใช้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operandStack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operatorStack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ประเมินค่านิพจน์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พร้อมกันในรอบเดียว โดยไม่ต้องแปลงเป็น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ก่อน — พอ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pop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เครื่องหมายออกมาก็คำนวณทันที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822960" y="3886200"/>
            <a:ext cx="4572000" cy="360"/>
          </a:xfrm>
          <a:prstGeom prst="line">
            <a:avLst/>
          </a:prstGeom>
          <a:ln w="12700">
            <a:solidFill>
              <a:srgbClr val="D8DB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822960" y="402336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ข้อดี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ข้อจำกัด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822960" y="4389120"/>
            <a:ext cx="457128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ข้อดี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ประหยัดหน่วยความจำกว่าเล็กน้อย โค้ดสั้นกว่าเพราะทำรอบเดียวจบ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ข้อจำกัด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ไม่มี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เก็บไว้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debug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ยากกว่า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A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เล็กน้อย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5943600" y="1600200"/>
            <a:ext cx="5668560" cy="4479840"/>
          </a:xfrm>
          <a:prstGeom prst="roundRect">
            <a:avLst>
              <a:gd name="adj" fmla="val 1224"/>
            </a:avLst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6217920" y="182880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pc="99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ขั้นตอนหลัก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6217920" y="228600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6355080" y="228600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6858000" y="228600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Tokenize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นิพจน์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6217920" y="313632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6355080" y="313632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6858000" y="313632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ทีละตัว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เลข →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operandStack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6217920" y="398664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6355080" y="398664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6858000" y="398664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เครื่องหมาย → เทียบ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priority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แล้วคำนวณทันที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(ApplyTopOperator)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6217920" y="4837320"/>
            <a:ext cx="5119920" cy="685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6355080" y="4837320"/>
            <a:ext cx="456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6858000" y="4837320"/>
            <a:ext cx="4342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คืนผลลัพธ์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แจ้ง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ตัวอย่าง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Step-by-step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10972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Algorithm A: 3 + 4 * 2 / (1 - 5)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542520" y="4653000"/>
            <a:ext cx="11116080" cy="67788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hi-IN" sz="1500" b="1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หมายเหตุ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Operator Stack </a:t>
            </a:r>
            <a:r>
              <a:rPr lang="hi-IN" sz="1500" b="1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แสดงจาก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Top → Bottom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แสดงครบทุก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Token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ตั้งแต่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Step 1–12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เพื่อให้ตรวจสอบการทำงานแบบ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Step-by-step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ได้จริง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542520" y="5316480"/>
            <a:ext cx="1111608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hi-IN" sz="1500" b="1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ผลลัพธ์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Postfix: 3 4 2 * 1 5 - / +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คำนวณ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4×2=8, 1−5=−4, 8÷(−4)=−2, 3+(−2)=1  → 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ผลลัพธ์สุดท้าย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=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Table 112"/>
          <p:cNvGraphicFramePr/>
          <p:nvPr/>
        </p:nvGraphicFramePr>
        <p:xfrm>
          <a:off x="320040" y="914400"/>
          <a:ext cx="11283120" cy="4583160"/>
        </p:xfrm>
        <a:graphic>
          <a:graphicData uri="http://schemas.openxmlformats.org/drawingml/2006/table">
            <a:tbl>
              <a:tblPr/>
              <a:tblGrid>
                <a:gridCol w="1000440"/>
                <a:gridCol w="1111320"/>
                <a:gridCol w="3001320"/>
                <a:gridCol w="6170040"/>
              </a:tblGrid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Step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E444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Token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E444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Operator Stack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E444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Postfix </a:t>
                      </a:r>
                      <a:r>
                        <a:rPr lang="hi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สะสม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3E444A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(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ว่าง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*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*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*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/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(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( 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( 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 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- ( 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 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- ( 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 1 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  <a:tr h="35244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11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 1 5 -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53880"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12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(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จบ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(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ว่าง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 lIns="27360" tIns="0" rIns="27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3 4 2 * 1 5 - / +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7360" marR="2736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Correctness Argument (</a:t>
            </a:r>
            <a:r>
              <a:rPr lang="hi-IN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ตรวจสอบความถูกต้อง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10972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Loop Invariant — Algorithm A (InfixToPostfix)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48640" y="1600200"/>
            <a:ext cx="11063520" cy="1188000"/>
          </a:xfrm>
          <a:prstGeom prst="roundRect">
            <a:avLst>
              <a:gd name="adj" fmla="val 4615"/>
            </a:avLst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868680" y="1737360"/>
            <a:ext cx="10423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“ก่อนเริ่มแต่ละรอบ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operator </a:t>
            </a:r>
            <a:r>
              <a:rPr lang="hi-IN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ใน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stack </a:t>
            </a:r>
            <a:r>
              <a:rPr lang="hi-IN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เรียง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priority </a:t>
            </a:r>
            <a:r>
              <a:rPr lang="hi-IN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จากมากไปน้อยเสมอ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(</a:t>
            </a:r>
            <a:r>
              <a:rPr lang="hi-IN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ในวงเล็บเดียวกัน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) </a:t>
            </a:r>
            <a:r>
              <a:rPr lang="hi-IN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600" b="0" i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ที่สะสมไว้แล้วถูกต้องตลอด”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48640" y="3017520"/>
            <a:ext cx="3565440" cy="228528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777240" y="3246120"/>
            <a:ext cx="456480" cy="456480"/>
          </a:xfrm>
          <a:prstGeom prst="ellipse">
            <a:avLst/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32461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822960" y="37947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Initialization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822960" y="420624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stack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list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ว่างเปล่า ไม่มีอะไรขัดแย้งตั้งแต่แรก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4343400" y="3017520"/>
            <a:ext cx="3565440" cy="228528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4572000" y="3246120"/>
            <a:ext cx="456480" cy="456480"/>
          </a:xfrm>
          <a:prstGeom prst="ellipse">
            <a:avLst/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4572000" y="32461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4617720" y="37947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Maintenance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4617720" y="420624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ก่อน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push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เครื่องหมายใหม่ ต้อง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pop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ตัวที่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priority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สูงกว่าหรือเท่ากันออกก่อนเสมอ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8138160" y="3017520"/>
            <a:ext cx="3565440" cy="228528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8366760" y="3246120"/>
            <a:ext cx="456480" cy="456480"/>
          </a:xfrm>
          <a:prstGeom prst="ellipse">
            <a:avLst/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8366760" y="32461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8412480" y="379476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Termination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8412480" y="420624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เครื่องหมายที่เหลือ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pop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ออกครบตามลำดับ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priority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ผลลัพธ์ตรงตามกฎ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548640" y="553212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ข้อมูลไม่สูญหาย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ทุก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ถูกอ่านครั้งเดียว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· Termination: loop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ควบคุมด้วยจำนวน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ที่จำกัด ไม่มี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infinite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Big-O Analysis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548640" y="1188720"/>
            <a:ext cx="11063520" cy="100512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822960" y="1188720"/>
            <a:ext cx="10514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แนวคิดหลัก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ในการแปลง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Infix → Postfix operator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แต่ละตัวถูก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Push/Pop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อย่างมากครั้งเดียว และทุก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Token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ถูกอ่านตามลำดับ จึงมีต้นทุนรวมเป็น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O(n)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Table 0"/>
          <p:cNvGraphicFramePr/>
          <p:nvPr/>
        </p:nvGraphicFramePr>
        <p:xfrm>
          <a:off x="1280160" y="2514600"/>
          <a:ext cx="9600840" cy="1645920"/>
        </p:xfrm>
        <a:graphic>
          <a:graphicData uri="http://schemas.openxmlformats.org/drawingml/2006/table">
            <a:tbl>
              <a:tblPr/>
              <a:tblGrid>
                <a:gridCol w="2468880"/>
                <a:gridCol w="1783080"/>
                <a:gridCol w="1783080"/>
                <a:gridCol w="1783080"/>
                <a:gridCol w="178308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Algorithm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Best Case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Average Case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Worst Case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Auxiliary Space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Algorithm A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Algorithm B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Courier New"/>
                        </a:rPr>
                        <a:t>O(n)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Text 3"/>
          <p:cNvSpPr/>
          <p:nvPr/>
        </p:nvSpPr>
        <p:spPr>
          <a:xfrm>
            <a:off x="548640" y="443484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n =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จำนวน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ทั้งหมด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·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ทุก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ต้องถูกอ่านอย่างน้อย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ครั้งเสมอ จึงไม่มี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best/worst </a:t>
            </a:r>
            <a:r>
              <a:rPr lang="hi-IN" sz="1500" b="0" i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ที่ต่างกันจริง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548640" y="4937760"/>
            <a:ext cx="11063520" cy="1279440"/>
          </a:xfrm>
          <a:prstGeom prst="roundRect">
            <a:avLst>
              <a:gd name="adj" fmla="val 4286"/>
            </a:avLst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822960" y="4937760"/>
            <a:ext cx="105148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ทำไม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nested while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ไม่ทำให้เป็น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O(n²)?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เพราะ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operator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แต่ละตัวถูก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Pop </a:t>
            </a: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ออกได้อย่างมากครั้งเดียวตลอดการแปลง จึงรวมจำนวนการทำงานทั้งหมดได้เป็น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O(n) (Amortized Analysis)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Class Diagram </a:t>
            </a:r>
            <a:r>
              <a:rPr lang="hi-IN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Java Implementation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548640" y="1417320"/>
            <a:ext cx="2102400" cy="35654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 w="19050">
            <a:solidFill>
              <a:srgbClr val="3A3F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548640" y="1417320"/>
            <a:ext cx="2102400" cy="685080"/>
          </a:xfrm>
          <a:prstGeom prst="roundRect">
            <a:avLst>
              <a:gd name="adj" fmla="val 6667"/>
            </a:avLst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548640" y="1737360"/>
            <a:ext cx="2102400" cy="365040"/>
          </a:xfrm>
          <a:prstGeom prst="rect">
            <a:avLst/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640080" y="141732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Tokenizer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640080" y="18561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5F5F5"/>
                </a:solidFill>
                <a:effectLst/>
                <a:uFillTx/>
                <a:latin typeface="TH Sarabun New"/>
                <a:ea typeface="Courier New"/>
              </a:rPr>
              <a:t>utils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685800" y="22860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tokenize()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685800" y="28346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isOperator()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685800" y="33832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priority()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2834640" y="1417320"/>
            <a:ext cx="2102400" cy="35654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 w="19050">
            <a:solidFill>
              <a:srgbClr val="5B6B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2834640" y="1417320"/>
            <a:ext cx="2102400" cy="685080"/>
          </a:xfrm>
          <a:prstGeom prst="roundRect">
            <a:avLst>
              <a:gd name="adj" fmla="val 6667"/>
            </a:avLst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2834640" y="1737360"/>
            <a:ext cx="2102400" cy="365040"/>
          </a:xfrm>
          <a:prstGeom prst="rect">
            <a:avLst/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2926080" y="141732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OperationCounter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2926080" y="18561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5F5F5"/>
                </a:solidFill>
                <a:effectLst/>
                <a:uFillTx/>
                <a:latin typeface="TH Sarabun New"/>
                <a:ea typeface="Courier New"/>
              </a:rPr>
              <a:t>models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2971800" y="22860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incrementPush()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2971800" y="28346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incrementPop()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2971800" y="33832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getCounts()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7"/>
          <p:cNvSpPr/>
          <p:nvPr/>
        </p:nvSpPr>
        <p:spPr>
          <a:xfrm>
            <a:off x="5120640" y="1417320"/>
            <a:ext cx="2102400" cy="35654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 w="19050">
            <a:solidFill>
              <a:srgbClr val="5B6B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5120640" y="1417320"/>
            <a:ext cx="2102400" cy="685080"/>
          </a:xfrm>
          <a:prstGeom prst="roundRect">
            <a:avLst>
              <a:gd name="adj" fmla="val 6667"/>
            </a:avLst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9"/>
          <p:cNvSpPr/>
          <p:nvPr/>
        </p:nvSpPr>
        <p:spPr>
          <a:xfrm>
            <a:off x="5120640" y="1737360"/>
            <a:ext cx="2102400" cy="365040"/>
          </a:xfrm>
          <a:prstGeom prst="rect">
            <a:avLst/>
          </a:prstGeom>
          <a:solidFill>
            <a:srgbClr val="5B6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5212080" y="141732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ExpressionResult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5212080" y="18561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5F5F5"/>
                </a:solidFill>
                <a:effectLst/>
                <a:uFillTx/>
                <a:latin typeface="TH Sarabun New"/>
                <a:ea typeface="Courier New"/>
              </a:rPr>
              <a:t>models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5257800" y="22860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success()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5257800" y="28346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error()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5257800" y="33832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getValue()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5"/>
          <p:cNvSpPr/>
          <p:nvPr/>
        </p:nvSpPr>
        <p:spPr>
          <a:xfrm>
            <a:off x="7406640" y="1417320"/>
            <a:ext cx="2102400" cy="35654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 w="19050">
            <a:solidFill>
              <a:srgbClr val="3A3F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6"/>
          <p:cNvSpPr/>
          <p:nvPr/>
        </p:nvSpPr>
        <p:spPr>
          <a:xfrm>
            <a:off x="7406640" y="1417320"/>
            <a:ext cx="2102400" cy="685080"/>
          </a:xfrm>
          <a:prstGeom prst="roundRect">
            <a:avLst>
              <a:gd name="adj" fmla="val 6667"/>
            </a:avLst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7"/>
          <p:cNvSpPr/>
          <p:nvPr/>
        </p:nvSpPr>
        <p:spPr>
          <a:xfrm>
            <a:off x="7406640" y="1737360"/>
            <a:ext cx="2102400" cy="365040"/>
          </a:xfrm>
          <a:prstGeom prst="rect">
            <a:avLst/>
          </a:prstGeom>
          <a:solidFill>
            <a:srgbClr val="3A3F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8"/>
          <p:cNvSpPr/>
          <p:nvPr/>
        </p:nvSpPr>
        <p:spPr>
          <a:xfrm>
            <a:off x="7498080" y="141732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AlgorithmA / 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9"/>
          <p:cNvSpPr/>
          <p:nvPr/>
        </p:nvSpPr>
        <p:spPr>
          <a:xfrm>
            <a:off x="7498080" y="18561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5F5F5"/>
                </a:solidFill>
                <a:effectLst/>
                <a:uFillTx/>
                <a:latin typeface="TH Sarabun New"/>
                <a:ea typeface="Courier New"/>
              </a:rPr>
              <a:t>algorithms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0"/>
          <p:cNvSpPr/>
          <p:nvPr/>
        </p:nvSpPr>
        <p:spPr>
          <a:xfrm>
            <a:off x="7543800" y="22860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A: evaluate()</a:t>
            </a:r>
            <a:br>
              <a:rPr sz="18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infixToPostfix()</a:t>
            </a:r>
            <a:br>
              <a:rPr sz="18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evaluatePostfix()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1"/>
          <p:cNvSpPr/>
          <p:nvPr/>
        </p:nvSpPr>
        <p:spPr>
          <a:xfrm>
            <a:off x="7543800" y="28346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B: evaluate()</a:t>
            </a:r>
            <a:br>
              <a:rPr sz="18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evaluateInfix()</a:t>
            </a:r>
            <a:br>
              <a:rPr sz="1800"/>
            </a:b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applyTopOperator()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2"/>
          <p:cNvSpPr/>
          <p:nvPr/>
        </p:nvSpPr>
        <p:spPr>
          <a:xfrm>
            <a:off x="7543800" y="338328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ใช้ร่วมกัน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calculate()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3"/>
          <p:cNvSpPr/>
          <p:nvPr/>
        </p:nvSpPr>
        <p:spPr>
          <a:xfrm>
            <a:off x="9692640" y="1417320"/>
            <a:ext cx="2102400" cy="3565440"/>
          </a:xfrm>
          <a:prstGeom prst="roundRect">
            <a:avLst>
              <a:gd name="adj" fmla="val 2174"/>
            </a:avLst>
          </a:prstGeom>
          <a:solidFill>
            <a:srgbClr val="F5F5F5"/>
          </a:solidFill>
          <a:ln w="19050">
            <a:solidFill>
              <a:srgbClr val="6E76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4"/>
          <p:cNvSpPr/>
          <p:nvPr/>
        </p:nvSpPr>
        <p:spPr>
          <a:xfrm>
            <a:off x="9692640" y="1417320"/>
            <a:ext cx="2102400" cy="685080"/>
          </a:xfrm>
          <a:prstGeom prst="roundRect">
            <a:avLst>
              <a:gd name="adj" fmla="val 6667"/>
            </a:avLst>
          </a:prstGeom>
          <a:solidFill>
            <a:srgbClr val="6E76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5"/>
          <p:cNvSpPr/>
          <p:nvPr/>
        </p:nvSpPr>
        <p:spPr>
          <a:xfrm>
            <a:off x="9692640" y="1737360"/>
            <a:ext cx="2102400" cy="365040"/>
          </a:xfrm>
          <a:prstGeom prst="rect">
            <a:avLst/>
          </a:prstGeom>
          <a:solidFill>
            <a:srgbClr val="6E76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6"/>
          <p:cNvSpPr/>
          <p:nvPr/>
        </p:nvSpPr>
        <p:spPr>
          <a:xfrm>
            <a:off x="9784080" y="141732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Main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7"/>
          <p:cNvSpPr/>
          <p:nvPr/>
        </p:nvSpPr>
        <p:spPr>
          <a:xfrm>
            <a:off x="9784080" y="1856160"/>
            <a:ext cx="1919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5F5F5"/>
                </a:solidFill>
                <a:effectLst/>
                <a:uFillTx/>
                <a:latin typeface="TH Sarabun New"/>
                <a:ea typeface="Courier New"/>
              </a:rPr>
              <a:t>(root)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8"/>
          <p:cNvSpPr/>
          <p:nvPr/>
        </p:nvSpPr>
        <p:spPr>
          <a:xfrm>
            <a:off x="9829800" y="228600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printMenu()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9"/>
          <p:cNvSpPr/>
          <p:nvPr/>
        </p:nvSpPr>
        <p:spPr>
          <a:xfrm>
            <a:off x="9829800" y="28346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Courier New"/>
              </a:rPr>
              <a:t>runAlgorithm()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0"/>
          <p:cNvSpPr/>
          <p:nvPr/>
        </p:nvSpPr>
        <p:spPr>
          <a:xfrm>
            <a:off x="548640" y="5257800"/>
            <a:ext cx="11063520" cy="9594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1"/>
          <p:cNvSpPr/>
          <p:nvPr/>
        </p:nvSpPr>
        <p:spPr>
          <a:xfrm>
            <a:off x="822960" y="5257800"/>
            <a:ext cx="10514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Input Validation &amp; Error Handling: 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try-catch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ครอบทุก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evaluate() ·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ตรวจวงเล็บไม่ครบคู่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·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ตรวจหารด้วยศูนย์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· </a:t>
            </a:r>
            <a:r>
              <a:rPr lang="hi-IN" sz="15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ตรวจนิพจน์ว่าง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2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Test Cases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Table 0"/>
          <p:cNvGraphicFramePr/>
          <p:nvPr/>
        </p:nvGraphicFramePr>
        <p:xfrm>
          <a:off x="548640" y="1280160"/>
          <a:ext cx="11063880" cy="429696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2286000"/>
                <a:gridCol w="4114800"/>
              </a:tblGrid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Test ID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Input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hi-I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ประเภท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Expected Result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3A3F44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3 + 4 * 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Normal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11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(3 + 4) * 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Normal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14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((8 + 2) * 5)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Boundary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(3 + 4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Invalid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Error: 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วงเล็บไม่ครบคู่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3 + 4)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Invalid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Error: 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วงเล็บไม่ครบคู่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3 + * 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Invalid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Error: 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นิพจน์ไม่ถูกต้อง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10 / (5 - 5)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Invalid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Error: 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หารด้วยศูนย์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(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ว่าง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Empty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Error: </a:t>
                      </a:r>
                      <a:r>
                        <a:rPr lang="hi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</a:rPr>
                        <a:t>นิพจน์ว่างเปล่า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TC09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Best Case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0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TC10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3 + 4 * 2 / (1 - 5)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Worst Case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H Sarabun New"/>
                          <a:ea typeface="TH Sarabun New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E5E7EB"/>
                      </a:solidFill>
                      <a:prstDash val="solid"/>
                    </a:lnL>
                    <a:lnR w="6480">
                      <a:solidFill>
                        <a:srgbClr val="E5E7EB"/>
                      </a:solidFill>
                      <a:prstDash val="solid"/>
                    </a:lnR>
                    <a:lnT w="6480">
                      <a:solidFill>
                        <a:srgbClr val="E5E7EB"/>
                      </a:solidFill>
                      <a:prstDash val="solid"/>
                    </a:lnT>
                    <a:lnB w="648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Text 1"/>
          <p:cNvSpPr/>
          <p:nvPr/>
        </p:nvSpPr>
        <p:spPr>
          <a:xfrm>
            <a:off x="548640" y="576072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ครบทั้ง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10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กรณี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Normal · Best · Worst · Empty · Invalid · Boundary 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548640" y="36576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Experimental Results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48640" y="10972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เวลาเฉลี่ยเทียบขนาด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Input (µs) — n =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ขนาด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input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ที่ใช้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benchmark;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นิพจน์ที่สร้างมี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n+1 token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Chart 0"/>
          <p:cNvGraphicFramePr/>
          <p:nvPr/>
        </p:nvGraphicFramePr>
        <p:xfrm>
          <a:off x="548640" y="1554480"/>
          <a:ext cx="6674400" cy="420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2" name="Shape 2"/>
          <p:cNvSpPr/>
          <p:nvPr/>
        </p:nvSpPr>
        <p:spPr>
          <a:xfrm>
            <a:off x="7452360" y="1554480"/>
            <a:ext cx="4159800" cy="4205520"/>
          </a:xfrm>
          <a:prstGeom prst="roundRect">
            <a:avLst>
              <a:gd name="adj" fmla="val 1319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7726680" y="17830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การอภิปรายผล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7726680" y="2194560"/>
            <a:ext cx="3656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ผลจากการรันจริง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5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รอบต่อขนาดข้อมูล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Algorithm B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ใช้เวลาเฉลี่ยน้อยกว่า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Algorithm A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ในทุกขนาดที่ทดสอบ และแนวโน้มโดยรวมเพิ่มขึ้นตามขนาด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input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สอดคล้องกับ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O(n)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7726680" y="3337560"/>
            <a:ext cx="3566160" cy="360"/>
          </a:xfrm>
          <a:prstGeom prst="line">
            <a:avLst/>
          </a:prstGeom>
          <a:ln w="12700">
            <a:solidFill>
              <a:srgbClr val="D8DB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7726680" y="3520440"/>
            <a:ext cx="3656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ผลการรันนี้มาจากสภาพแวดล้อมการทดลองครั้งนี้ จึงใช้เพื่ออภิปรายเชิงทดลอง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;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ทั้งสอง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Algorithm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ยังมี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Time Complexity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เป็น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O(n)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7726680" y="52120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ผลจริง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: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ทดลอง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5 </a:t>
            </a:r>
            <a:r>
              <a:rPr lang="hi-IN" sz="18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รอบต่อขนาดข้อมูลแล้ว และใช้ค่าเฉลี่ยของเวลาที่วัดได้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548640" y="5486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30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สรุปและวิธีที่กลุ่มเลือก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548640" y="1554480"/>
            <a:ext cx="502200" cy="502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D8DB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548640" y="15544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1280160" y="1508760"/>
            <a:ext cx="987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Time Complexity </a:t>
            </a:r>
            <a:r>
              <a:rPr lang="hi-IN" sz="18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เท่ากัน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280160" y="1938600"/>
            <a:ext cx="987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ทั้ง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A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B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เป็น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O(n)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เพราะหลักการเดียวกัน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548640" y="2926080"/>
            <a:ext cx="502200" cy="502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D8DB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548640" y="2926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1280160" y="2880360"/>
            <a:ext cx="987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Space </a:t>
            </a:r>
            <a:r>
              <a:rPr lang="hi-IN" sz="18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ต่างกันเล็กน้อย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1280160" y="3310200"/>
            <a:ext cx="987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A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เก็บ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list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เพิ่ม ส่วน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B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คำนวณสดไม่ต้องเก็บ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548640" y="4297680"/>
            <a:ext cx="502200" cy="5022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D8DB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0"/>
          <p:cNvSpPr/>
          <p:nvPr/>
        </p:nvSpPr>
        <p:spPr>
          <a:xfrm>
            <a:off x="548640" y="42976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1280160" y="4251960"/>
            <a:ext cx="9874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กลุ่มเลือก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Algorithm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1280160" y="4681800"/>
            <a:ext cx="987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เพราะประหยัดหน่วยความจำกว่าและโค้ดกระชับกว่า สำหรับงานที่ไม่ต้องใช้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600" b="0" u="none" strike="noStrike">
                <a:solidFill>
                  <a:srgbClr val="000000"/>
                </a:solidFill>
                <a:effectLst/>
                <a:uFillTx/>
                <a:latin typeface="TH Sarabun New"/>
                <a:cs typeface="TH Sarabun New"/>
              </a:rPr>
              <a:t>ซ้ำ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548640" y="5852160"/>
            <a:ext cx="11064240" cy="360"/>
          </a:xfrm>
          <a:prstGeom prst="line">
            <a:avLst/>
          </a:prstGeom>
          <a:ln w="12700">
            <a:solidFill>
              <a:srgbClr val="D8DB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4"/>
          <p:cNvSpPr/>
          <p:nvPr/>
        </p:nvSpPr>
        <p:spPr>
          <a:xfrm>
            <a:off x="548640" y="598932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11475720" y="64465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H Sarabun New"/>
                <a:ea typeface="TH Sarabun New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2026-08-20T02:29:09Z</dcterms:created>
  <dc:creator>PptxGenJS</dc:creator>
  <dc:description/>
  <dc:language>en-US</dc:language>
  <cp:lastModifiedBy/>
  <dcterms:modified xsi:type="dcterms:W3CDTF">2026-08-20T21:44:17Z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