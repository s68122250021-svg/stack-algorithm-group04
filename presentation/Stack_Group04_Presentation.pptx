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3BB3B90-6275-4D66-8C93-66D37603172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CE5CB5-88F3-4DE3-A289-3A1FBDDFFF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10EE7C-EFB8-4A10-8D7F-F8B23B5241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5FC2D8-E767-4329-BBE5-30B0B3491D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9A0DBE-25C1-44FF-93CA-27D8FC4C4D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834AC9-6457-42B3-8EB2-4D8A5B7913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AC46BD-7CE4-4252-9DCC-1E40BEAA4C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FDF782-6A43-4AC0-8BFB-877D982F67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B8CFAF-43E8-483E-B8AF-406BFD0C99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B4804E-EC98-4CD9-99F8-4AC00015A1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E9ED30-0960-4DD5-8F1E-A43BE3EBCF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C2F632-E62E-43D5-A8FE-6E3ABC6146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B09AA1-DDC8-446F-A17F-F9659660DC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2920" y="6473880"/>
            <a:ext cx="11155680" cy="360"/>
          </a:xfrm>
          <a:prstGeom prst="line">
            <a:avLst/>
          </a:prstGeom>
          <a:ln w="1270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6537960"/>
            <a:ext cx="5120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cs typeface="TH Sarabun New"/>
              </a:rPr>
              <a:t>งานปฏิบัติการกลุ่ม </a:t>
            </a:r>
            <a:r>
              <a:rPr lang="en-US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ea typeface="TH Sarabun New"/>
              </a:rPr>
              <a:t>4 • Expression Processor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 3"/>
          <p:cNvSpPr/>
          <p:nvPr/>
        </p:nvSpPr>
        <p:spPr>
          <a:xfrm>
            <a:off x="8549640" y="6537960"/>
            <a:ext cx="2651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ea typeface="TH Sarabun New"/>
              </a:rPr>
              <a:t>Stack / Java / Algorithm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63A718-AFCB-4CE9-A178-2EAD33B945E9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685800" y="9144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GROUP 04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685800" y="914400"/>
            <a:ext cx="1828440" cy="383760"/>
          </a:xfrm>
          <a:prstGeom prst="roundRect">
            <a:avLst>
              <a:gd name="adj" fmla="val 42857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85800" y="1737360"/>
            <a:ext cx="10698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Expression Processor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713160" y="242316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Infix → Postfix  •  Stack  •  Java  •  Algorithm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713160" y="3063240"/>
            <a:ext cx="3520080" cy="150840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" name="Text 5"/>
          <p:cNvSpPr/>
          <p:nvPr/>
        </p:nvSpPr>
        <p:spPr>
          <a:xfrm>
            <a:off x="877680" y="3154680"/>
            <a:ext cx="3191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โจทย์หลัก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77680" y="3483720"/>
            <a:ext cx="3191040" cy="99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รับนิพจน์ทางคณิตศาสตร์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ตรวจสอบความถูกต้อง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แปลง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คำนวณผลลัพธ์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4370760" y="3063240"/>
            <a:ext cx="3520080" cy="1508400"/>
          </a:xfrm>
          <a:prstGeom prst="roundRect">
            <a:avLst>
              <a:gd name="adj" fmla="val 4848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" name="Text 8"/>
          <p:cNvSpPr/>
          <p:nvPr/>
        </p:nvSpPr>
        <p:spPr>
          <a:xfrm>
            <a:off x="4535280" y="3154680"/>
            <a:ext cx="3191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535280" y="3483720"/>
            <a:ext cx="3191040" cy="99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→ 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แล้วประเมิน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ด้วย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8028360" y="3063240"/>
            <a:ext cx="3428640" cy="1508400"/>
          </a:xfrm>
          <a:prstGeom prst="roundRect">
            <a:avLst>
              <a:gd name="adj" fmla="val 4848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8192880" y="3154680"/>
            <a:ext cx="3099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8192880" y="3483720"/>
            <a:ext cx="3099600" cy="99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ประเมิน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โดยตรง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ด้วย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31520" y="548640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สมาชิก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 ธนากร สุธากมลรัตน์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68122250016,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นายศุภณัฐ บุญรักษา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68122250043,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นันทสิทธิ์ ป้องภัย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68122250021,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นายชินวัฒน์ พลจันทร์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68122250061,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มหิทธิกรณ์ สุดมี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68122250074, 68122250087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ทัศนัย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EF700E-5562-48F1-8713-A120F37C7F64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2. Case Story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ระบบต้องรับนิพจน์ ตรวจสอบ แปลง และคำนวณผลลัพธ์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25880"/>
            <a:ext cx="5394600" cy="1919880"/>
          </a:xfrm>
          <a:prstGeom prst="roundRect">
            <a:avLst>
              <a:gd name="adj" fmla="val 381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" name="Text 3"/>
          <p:cNvSpPr/>
          <p:nvPr/>
        </p:nvSpPr>
        <p:spPr>
          <a:xfrm>
            <a:off x="758880" y="141732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Case Story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758880" y="1746360"/>
            <a:ext cx="5065560" cy="14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ระบบ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Expression Processor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รับนิพจน์แบบ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เช่น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 / (1 - 5)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จากนั้นตรวจสอบความถูกต้อง แล้วคำนวณผลลัพธ์อย่างเป็นขั้นตอน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5"/>
          <p:cNvSpPr/>
          <p:nvPr/>
        </p:nvSpPr>
        <p:spPr>
          <a:xfrm>
            <a:off x="6217920" y="1325880"/>
            <a:ext cx="5394600" cy="1919880"/>
          </a:xfrm>
          <a:prstGeom prst="roundRect">
            <a:avLst>
              <a:gd name="adj" fmla="val 381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" name="Text 6"/>
          <p:cNvSpPr/>
          <p:nvPr/>
        </p:nvSpPr>
        <p:spPr>
          <a:xfrm>
            <a:off x="6382440" y="141732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เป้าหมายของงาน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6382440" y="1746360"/>
            <a:ext cx="5065560" cy="14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ออกแบบ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Algorithms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ที่แก้ปัญหาเดียวกัน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อธิบาย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Pseudocode / Step-by-step / Correctness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วิเคราะห์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Big-O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และทดลองบน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Java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8"/>
          <p:cNvSpPr/>
          <p:nvPr/>
        </p:nvSpPr>
        <p:spPr>
          <a:xfrm>
            <a:off x="621720" y="3657600"/>
            <a:ext cx="141696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21720" y="3666600"/>
            <a:ext cx="1416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2176200" y="36576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2176200" y="3666600"/>
            <a:ext cx="1508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ตรวจสอบ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3822120" y="3657600"/>
            <a:ext cx="141696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3822120" y="3666600"/>
            <a:ext cx="1416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A /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4"/>
          <p:cNvSpPr/>
          <p:nvPr/>
        </p:nvSpPr>
        <p:spPr>
          <a:xfrm>
            <a:off x="5394960" y="36576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5394960" y="3666600"/>
            <a:ext cx="1508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คำนวณ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6"/>
          <p:cNvSpPr/>
          <p:nvPr/>
        </p:nvSpPr>
        <p:spPr>
          <a:xfrm>
            <a:off x="7059240" y="3657600"/>
            <a:ext cx="141696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7059240" y="3666600"/>
            <a:ext cx="1416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2039040" y="3812760"/>
            <a:ext cx="1278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9" name="Shape 19"/>
          <p:cNvSpPr/>
          <p:nvPr/>
        </p:nvSpPr>
        <p:spPr>
          <a:xfrm>
            <a:off x="3684960" y="3812760"/>
            <a:ext cx="1188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0" name="Shape 20"/>
          <p:cNvSpPr/>
          <p:nvPr/>
        </p:nvSpPr>
        <p:spPr>
          <a:xfrm>
            <a:off x="5239440" y="3812760"/>
            <a:ext cx="13716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1" name="Shape 21"/>
          <p:cNvSpPr/>
          <p:nvPr/>
        </p:nvSpPr>
        <p:spPr>
          <a:xfrm>
            <a:off x="6903720" y="3812760"/>
            <a:ext cx="13716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2" name="Shape 22"/>
          <p:cNvSpPr/>
          <p:nvPr/>
        </p:nvSpPr>
        <p:spPr>
          <a:xfrm>
            <a:off x="594360" y="4343400"/>
            <a:ext cx="11018160" cy="1298160"/>
          </a:xfrm>
          <a:prstGeom prst="roundRect">
            <a:avLst>
              <a:gd name="adj" fmla="val 5634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758880" y="4434840"/>
            <a:ext cx="10689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สิ่งที่ต้องได้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4"/>
          <p:cNvSpPr/>
          <p:nvPr/>
        </p:nvSpPr>
        <p:spPr>
          <a:xfrm>
            <a:off x="758880" y="4763880"/>
            <a:ext cx="1068912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ผลลัพธ์ของ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Algorithm A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ต้องถูกต้องตรงกัน และโปรแกรมต้องแจ้ง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ที่เหมาะสมเมื่อ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sldNum" idx="6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1570F3-8503-4705-991B-3A504E23C399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3. Input, Output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Constraints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ขอบเขตตามโจทย์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Group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67000" y="1261800"/>
            <a:ext cx="3657240" cy="1828440"/>
          </a:xfrm>
          <a:prstGeom prst="roundRect">
            <a:avLst>
              <a:gd name="adj" fmla="val 40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9" name="Text 3"/>
          <p:cNvSpPr/>
          <p:nvPr/>
        </p:nvSpPr>
        <p:spPr>
          <a:xfrm>
            <a:off x="731520" y="1353240"/>
            <a:ext cx="3328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4"/>
          <p:cNvSpPr/>
          <p:nvPr/>
        </p:nvSpPr>
        <p:spPr>
          <a:xfrm>
            <a:off x="731520" y="1682640"/>
            <a:ext cx="332820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นิพจน์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จำนวนเต็มบวก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จำนวนหลายหลัก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มีช่องว่างระหว่าง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ได้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5"/>
          <p:cNvSpPr/>
          <p:nvPr/>
        </p:nvSpPr>
        <p:spPr>
          <a:xfrm>
            <a:off x="4416480" y="1261800"/>
            <a:ext cx="3428640" cy="1828440"/>
          </a:xfrm>
          <a:prstGeom prst="roundRect">
            <a:avLst>
              <a:gd name="adj" fmla="val 40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2" name="Text 6"/>
          <p:cNvSpPr/>
          <p:nvPr/>
        </p:nvSpPr>
        <p:spPr>
          <a:xfrm>
            <a:off x="4581000" y="1353240"/>
            <a:ext cx="3099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7"/>
          <p:cNvSpPr/>
          <p:nvPr/>
        </p:nvSpPr>
        <p:spPr>
          <a:xfrm>
            <a:off x="4581000" y="1682640"/>
            <a:ext cx="309960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Postfix (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สำหรับ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Algorithm A)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Error message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ผิด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8"/>
          <p:cNvSpPr/>
          <p:nvPr/>
        </p:nvSpPr>
        <p:spPr>
          <a:xfrm>
            <a:off x="8028360" y="1261800"/>
            <a:ext cx="3584160" cy="18284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5" name="Text 9"/>
          <p:cNvSpPr/>
          <p:nvPr/>
        </p:nvSpPr>
        <p:spPr>
          <a:xfrm>
            <a:off x="8192880" y="1353240"/>
            <a:ext cx="3254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รองรับ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8192880" y="1682640"/>
            <a:ext cx="325476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Operators: +  -  *  /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Parentheses: ( 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658440" y="342900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ไม่บังคับรองรับ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658440" y="3840480"/>
            <a:ext cx="1828440" cy="31068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9" name="Text 13"/>
          <p:cNvSpPr/>
          <p:nvPr/>
        </p:nvSpPr>
        <p:spPr>
          <a:xfrm>
            <a:off x="658440" y="3849480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ทศนิยม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4"/>
          <p:cNvSpPr/>
          <p:nvPr/>
        </p:nvSpPr>
        <p:spPr>
          <a:xfrm>
            <a:off x="2715840" y="3840480"/>
            <a:ext cx="1828440" cy="31068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2715840" y="3849480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Unary Minus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6"/>
          <p:cNvSpPr/>
          <p:nvPr/>
        </p:nvSpPr>
        <p:spPr>
          <a:xfrm>
            <a:off x="4773240" y="3840480"/>
            <a:ext cx="1828440" cy="31068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3" name="Text 17"/>
          <p:cNvSpPr/>
          <p:nvPr/>
        </p:nvSpPr>
        <p:spPr>
          <a:xfrm>
            <a:off x="4773240" y="3849480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ตัวแปร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8"/>
          <p:cNvSpPr/>
          <p:nvPr/>
        </p:nvSpPr>
        <p:spPr>
          <a:xfrm>
            <a:off x="658440" y="4343400"/>
            <a:ext cx="1828440" cy="31068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5" name="Text 19"/>
          <p:cNvSpPr/>
          <p:nvPr/>
        </p:nvSpPr>
        <p:spPr>
          <a:xfrm>
            <a:off x="658440" y="4352400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Function </a:t>
            </a: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ทางคณิตศาสตร์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"/>
          <p:cNvSpPr/>
          <p:nvPr/>
        </p:nvSpPr>
        <p:spPr>
          <a:xfrm>
            <a:off x="2715840" y="4343400"/>
            <a:ext cx="1828440" cy="31068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7" name="Text 21"/>
          <p:cNvSpPr/>
          <p:nvPr/>
        </p:nvSpPr>
        <p:spPr>
          <a:xfrm>
            <a:off x="2715840" y="4352400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[] </a:t>
            </a: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{}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2"/>
          <p:cNvSpPr/>
          <p:nvPr/>
        </p:nvSpPr>
        <p:spPr>
          <a:xfrm>
            <a:off x="6537960" y="3611880"/>
            <a:ext cx="5074560" cy="141696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9" name="Text 23"/>
          <p:cNvSpPr/>
          <p:nvPr/>
        </p:nvSpPr>
        <p:spPr>
          <a:xfrm>
            <a:off x="6702480" y="3703320"/>
            <a:ext cx="4745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Edge Cases </a:t>
            </a: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สำคัญ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4"/>
          <p:cNvSpPr/>
          <p:nvPr/>
        </p:nvSpPr>
        <p:spPr>
          <a:xfrm>
            <a:off x="6702480" y="4032360"/>
            <a:ext cx="4745520" cy="9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วงเล็บไม่สมดุล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Operator/Operand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ผิดตำแหน่ง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หารด้วยศูนย์ • นิพจน์ว่าง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7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891B7C-4956-43A7-9CC6-3136B3FCC83D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4. Algorithm 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แยก “การจัดลำดับ” ออกจาก “การคำนวณ”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594360" y="1243440"/>
            <a:ext cx="1572480" cy="31068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5" name="Text 3"/>
          <p:cNvSpPr/>
          <p:nvPr/>
        </p:nvSpPr>
        <p:spPr>
          <a:xfrm>
            <a:off x="594360" y="1252800"/>
            <a:ext cx="1572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2267640" y="1243440"/>
            <a:ext cx="9326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ซ้ายไปขวา → ใช้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จัด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Priority/Parentheses →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สร้าง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→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ประเมินด้วย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5"/>
          <p:cNvSpPr/>
          <p:nvPr/>
        </p:nvSpPr>
        <p:spPr>
          <a:xfrm>
            <a:off x="594360" y="1828800"/>
            <a:ext cx="3382920" cy="1828440"/>
          </a:xfrm>
          <a:prstGeom prst="roundRect">
            <a:avLst>
              <a:gd name="adj" fmla="val 40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8" name="Text 6"/>
          <p:cNvSpPr/>
          <p:nvPr/>
        </p:nvSpPr>
        <p:spPr>
          <a:xfrm>
            <a:off x="758880" y="19202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758880" y="2249280"/>
            <a:ext cx="305388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expression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เช่น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4005000" y="2743200"/>
            <a:ext cx="31068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4407480" y="1828800"/>
            <a:ext cx="3382920" cy="1828440"/>
          </a:xfrm>
          <a:prstGeom prst="roundRect">
            <a:avLst>
              <a:gd name="adj" fmla="val 40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4572000" y="19202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PROCESS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4572000" y="2249280"/>
            <a:ext cx="305388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1) Infix → 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2) Postfix →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2"/>
          <p:cNvSpPr/>
          <p:nvPr/>
        </p:nvSpPr>
        <p:spPr>
          <a:xfrm>
            <a:off x="7818120" y="2743200"/>
            <a:ext cx="31068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5" name="Shape 13"/>
          <p:cNvSpPr/>
          <p:nvPr/>
        </p:nvSpPr>
        <p:spPr>
          <a:xfrm>
            <a:off x="8211240" y="1828800"/>
            <a:ext cx="3382920" cy="18284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375760" y="19202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8375760" y="2249280"/>
            <a:ext cx="3053880" cy="13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Postfix: 3 4 2 *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Result: 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594360" y="4069080"/>
            <a:ext cx="5348880" cy="132552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758880" y="4160520"/>
            <a:ext cx="501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ข้อดี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8"/>
          <p:cNvSpPr/>
          <p:nvPr/>
        </p:nvSpPr>
        <p:spPr>
          <a:xfrm>
            <a:off x="758880" y="4489560"/>
            <a:ext cx="501984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แบ่งขั้นตอนชัดเจน • ตรวจสอบ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/Debug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ง่าย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ใช้ซ้ำได้ในขั้นคำนวณ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9"/>
          <p:cNvSpPr/>
          <p:nvPr/>
        </p:nvSpPr>
        <p:spPr>
          <a:xfrm>
            <a:off x="6172200" y="4069080"/>
            <a:ext cx="5421960" cy="132552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6336720" y="416052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ข้อจำกัด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1"/>
          <p:cNvSpPr/>
          <p:nvPr/>
        </p:nvSpPr>
        <p:spPr>
          <a:xfrm>
            <a:off x="6336720" y="4489560"/>
            <a:ext cx="5092920" cy="8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เพิ่ม • มี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Phase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ใช้พื้นที่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ในภาพรวม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sldNum" idx="8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069C14-17C0-4428-8EA4-1311F124DB51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5. Algorithm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คำนวณตรงจาก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โดยไม่สร้าง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เป็นผลลัพธ์กลาง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594360" y="1371600"/>
            <a:ext cx="3382920" cy="2971440"/>
          </a:xfrm>
          <a:prstGeom prst="roundRect">
            <a:avLst>
              <a:gd name="adj" fmla="val 246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758880" y="14630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โครงสร้าง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758880" y="1792080"/>
            <a:ext cx="3053880" cy="24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เก็บค่าตัวเลข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ผลลัพธ์ย่อย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และวงเล็บ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4407480" y="1371600"/>
            <a:ext cx="3382920" cy="2971440"/>
          </a:xfrm>
          <a:prstGeom prst="roundRect">
            <a:avLst>
              <a:gd name="adj" fmla="val 2462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0" y="14630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การทำงาน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4572000" y="1792080"/>
            <a:ext cx="3053880" cy="24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→ push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→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เปรียบเทียบ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Priority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และลดรูป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ที่รออยู่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“(” → push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8"/>
          <p:cNvSpPr/>
          <p:nvPr/>
        </p:nvSpPr>
        <p:spPr>
          <a:xfrm>
            <a:off x="8220600" y="1371600"/>
            <a:ext cx="3382920" cy="2971440"/>
          </a:xfrm>
          <a:prstGeom prst="roundRect">
            <a:avLst>
              <a:gd name="adj" fmla="val 2462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8385120" y="1463040"/>
            <a:ext cx="305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8385120" y="1792080"/>
            <a:ext cx="3053880" cy="24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Result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โดยตรง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→ 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ไม่ต้องเก็บ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เป็น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output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แยก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1"/>
          <p:cNvSpPr/>
          <p:nvPr/>
        </p:nvSpPr>
        <p:spPr>
          <a:xfrm>
            <a:off x="594360" y="4663440"/>
            <a:ext cx="5394600" cy="105120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758880" y="47548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ข้อดี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758880" y="5083920"/>
            <a:ext cx="5065560" cy="5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คำนวณจบในรอบเดียว • ไม่ต้องสร้าง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output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6172200" y="4663440"/>
            <a:ext cx="5421960" cy="105120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6336720" y="475488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ข้อจำกัด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6336720" y="5083920"/>
            <a:ext cx="5092920" cy="5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Logic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ซับซ้อนกว่า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Debug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ยากกว่า • ต้องจัดการ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พร้อมกัน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sldNum" idx="9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9EC6A0-942F-49CC-AF0D-3817DDDB5BD5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6.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ตัวอย่าง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Step-by-step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 A •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นิพจน์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3 + 4 * 2 —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แสดง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Stack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หลังอ่านแต่ละ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Token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548640" y="1243440"/>
            <a:ext cx="68544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21720" y="1261800"/>
            <a:ext cx="539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#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1234440" y="1243440"/>
            <a:ext cx="150840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1307520" y="1261800"/>
            <a:ext cx="1362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Token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2743200" y="1243440"/>
            <a:ext cx="475452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2816280" y="1261800"/>
            <a:ext cx="4608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8"/>
          <p:cNvSpPr/>
          <p:nvPr/>
        </p:nvSpPr>
        <p:spPr>
          <a:xfrm>
            <a:off x="7498080" y="1243440"/>
            <a:ext cx="182844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7571160" y="1261800"/>
            <a:ext cx="1682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สถานะ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9326880" y="1243440"/>
            <a:ext cx="315432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4" name="Text 11"/>
          <p:cNvSpPr/>
          <p:nvPr/>
        </p:nvSpPr>
        <p:spPr>
          <a:xfrm>
            <a:off x="9399960" y="1261800"/>
            <a:ext cx="30081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2"/>
          <p:cNvSpPr/>
          <p:nvPr/>
        </p:nvSpPr>
        <p:spPr>
          <a:xfrm>
            <a:off x="548640" y="1682640"/>
            <a:ext cx="685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6" name="Text 13"/>
          <p:cNvSpPr/>
          <p:nvPr/>
        </p:nvSpPr>
        <p:spPr>
          <a:xfrm>
            <a:off x="612720" y="170064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4"/>
          <p:cNvSpPr/>
          <p:nvPr/>
        </p:nvSpPr>
        <p:spPr>
          <a:xfrm>
            <a:off x="1234440" y="1682640"/>
            <a:ext cx="150840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8" name="Text 15"/>
          <p:cNvSpPr/>
          <p:nvPr/>
        </p:nvSpPr>
        <p:spPr>
          <a:xfrm>
            <a:off x="1298520" y="170064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6"/>
          <p:cNvSpPr/>
          <p:nvPr/>
        </p:nvSpPr>
        <p:spPr>
          <a:xfrm>
            <a:off x="2743200" y="1682640"/>
            <a:ext cx="47545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0" name="Text 17"/>
          <p:cNvSpPr/>
          <p:nvPr/>
        </p:nvSpPr>
        <p:spPr>
          <a:xfrm>
            <a:off x="2807280" y="170064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∅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8"/>
          <p:cNvSpPr/>
          <p:nvPr/>
        </p:nvSpPr>
        <p:spPr>
          <a:xfrm>
            <a:off x="7498080" y="1682640"/>
            <a:ext cx="1828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2" name="Text 19"/>
          <p:cNvSpPr/>
          <p:nvPr/>
        </p:nvSpPr>
        <p:spPr>
          <a:xfrm>
            <a:off x="7562160" y="170064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0"/>
          <p:cNvSpPr/>
          <p:nvPr/>
        </p:nvSpPr>
        <p:spPr>
          <a:xfrm>
            <a:off x="9326880" y="1682640"/>
            <a:ext cx="31543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4" name="Text 21"/>
          <p:cNvSpPr/>
          <p:nvPr/>
        </p:nvSpPr>
        <p:spPr>
          <a:xfrm>
            <a:off x="9390960" y="170064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2"/>
          <p:cNvSpPr/>
          <p:nvPr/>
        </p:nvSpPr>
        <p:spPr>
          <a:xfrm>
            <a:off x="548640" y="2167200"/>
            <a:ext cx="685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6" name="Text 23"/>
          <p:cNvSpPr/>
          <p:nvPr/>
        </p:nvSpPr>
        <p:spPr>
          <a:xfrm>
            <a:off x="612720" y="218556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4"/>
          <p:cNvSpPr/>
          <p:nvPr/>
        </p:nvSpPr>
        <p:spPr>
          <a:xfrm>
            <a:off x="1234440" y="2167200"/>
            <a:ext cx="150840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8" name="Text 25"/>
          <p:cNvSpPr/>
          <p:nvPr/>
        </p:nvSpPr>
        <p:spPr>
          <a:xfrm>
            <a:off x="1298520" y="218556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6"/>
          <p:cNvSpPr/>
          <p:nvPr/>
        </p:nvSpPr>
        <p:spPr>
          <a:xfrm>
            <a:off x="2743200" y="2167200"/>
            <a:ext cx="47545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0" name="Text 27"/>
          <p:cNvSpPr/>
          <p:nvPr/>
        </p:nvSpPr>
        <p:spPr>
          <a:xfrm>
            <a:off x="2807280" y="218556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8"/>
          <p:cNvSpPr/>
          <p:nvPr/>
        </p:nvSpPr>
        <p:spPr>
          <a:xfrm>
            <a:off x="7498080" y="2167200"/>
            <a:ext cx="1828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2" name="Text 29"/>
          <p:cNvSpPr/>
          <p:nvPr/>
        </p:nvSpPr>
        <p:spPr>
          <a:xfrm>
            <a:off x="7562160" y="218556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0"/>
          <p:cNvSpPr/>
          <p:nvPr/>
        </p:nvSpPr>
        <p:spPr>
          <a:xfrm>
            <a:off x="9326880" y="2167200"/>
            <a:ext cx="31543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4" name="Text 31"/>
          <p:cNvSpPr/>
          <p:nvPr/>
        </p:nvSpPr>
        <p:spPr>
          <a:xfrm>
            <a:off x="9390960" y="218556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32"/>
          <p:cNvSpPr/>
          <p:nvPr/>
        </p:nvSpPr>
        <p:spPr>
          <a:xfrm>
            <a:off x="548640" y="2651760"/>
            <a:ext cx="685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6" name="Text 33"/>
          <p:cNvSpPr/>
          <p:nvPr/>
        </p:nvSpPr>
        <p:spPr>
          <a:xfrm>
            <a:off x="612720" y="267012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4"/>
          <p:cNvSpPr/>
          <p:nvPr/>
        </p:nvSpPr>
        <p:spPr>
          <a:xfrm>
            <a:off x="1234440" y="2651760"/>
            <a:ext cx="150840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8" name="Text 35"/>
          <p:cNvSpPr/>
          <p:nvPr/>
        </p:nvSpPr>
        <p:spPr>
          <a:xfrm>
            <a:off x="1298520" y="267012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6"/>
          <p:cNvSpPr/>
          <p:nvPr/>
        </p:nvSpPr>
        <p:spPr>
          <a:xfrm>
            <a:off x="2743200" y="2651760"/>
            <a:ext cx="47545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0" name="Text 37"/>
          <p:cNvSpPr/>
          <p:nvPr/>
        </p:nvSpPr>
        <p:spPr>
          <a:xfrm>
            <a:off x="2807280" y="267012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8"/>
          <p:cNvSpPr/>
          <p:nvPr/>
        </p:nvSpPr>
        <p:spPr>
          <a:xfrm>
            <a:off x="7498080" y="2651760"/>
            <a:ext cx="1828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2" name="Text 39"/>
          <p:cNvSpPr/>
          <p:nvPr/>
        </p:nvSpPr>
        <p:spPr>
          <a:xfrm>
            <a:off x="7562160" y="267012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40"/>
          <p:cNvSpPr/>
          <p:nvPr/>
        </p:nvSpPr>
        <p:spPr>
          <a:xfrm>
            <a:off x="9326880" y="2651760"/>
            <a:ext cx="31543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4" name="Text 41"/>
          <p:cNvSpPr/>
          <p:nvPr/>
        </p:nvSpPr>
        <p:spPr>
          <a:xfrm>
            <a:off x="9390960" y="267012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2"/>
          <p:cNvSpPr/>
          <p:nvPr/>
        </p:nvSpPr>
        <p:spPr>
          <a:xfrm>
            <a:off x="548640" y="3136320"/>
            <a:ext cx="685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6" name="Text 43"/>
          <p:cNvSpPr/>
          <p:nvPr/>
        </p:nvSpPr>
        <p:spPr>
          <a:xfrm>
            <a:off x="612720" y="315468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44"/>
          <p:cNvSpPr/>
          <p:nvPr/>
        </p:nvSpPr>
        <p:spPr>
          <a:xfrm>
            <a:off x="1234440" y="3136320"/>
            <a:ext cx="150840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8" name="Text 45"/>
          <p:cNvSpPr/>
          <p:nvPr/>
        </p:nvSpPr>
        <p:spPr>
          <a:xfrm>
            <a:off x="1298520" y="315468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46"/>
          <p:cNvSpPr/>
          <p:nvPr/>
        </p:nvSpPr>
        <p:spPr>
          <a:xfrm>
            <a:off x="2743200" y="3136320"/>
            <a:ext cx="47545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0" name="Text 47"/>
          <p:cNvSpPr/>
          <p:nvPr/>
        </p:nvSpPr>
        <p:spPr>
          <a:xfrm>
            <a:off x="2807280" y="315468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8"/>
          <p:cNvSpPr/>
          <p:nvPr/>
        </p:nvSpPr>
        <p:spPr>
          <a:xfrm>
            <a:off x="7498080" y="3136320"/>
            <a:ext cx="1828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2" name="Text 49"/>
          <p:cNvSpPr/>
          <p:nvPr/>
        </p:nvSpPr>
        <p:spPr>
          <a:xfrm>
            <a:off x="7562160" y="315468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สูงกว่า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50"/>
          <p:cNvSpPr/>
          <p:nvPr/>
        </p:nvSpPr>
        <p:spPr>
          <a:xfrm>
            <a:off x="9326880" y="3136320"/>
            <a:ext cx="31543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4" name="Text 51"/>
          <p:cNvSpPr/>
          <p:nvPr/>
        </p:nvSpPr>
        <p:spPr>
          <a:xfrm>
            <a:off x="9390960" y="315468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2"/>
          <p:cNvSpPr/>
          <p:nvPr/>
        </p:nvSpPr>
        <p:spPr>
          <a:xfrm>
            <a:off x="548640" y="3620880"/>
            <a:ext cx="685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6" name="Text 53"/>
          <p:cNvSpPr/>
          <p:nvPr/>
        </p:nvSpPr>
        <p:spPr>
          <a:xfrm>
            <a:off x="612720" y="363924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4"/>
          <p:cNvSpPr/>
          <p:nvPr/>
        </p:nvSpPr>
        <p:spPr>
          <a:xfrm>
            <a:off x="1234440" y="3620880"/>
            <a:ext cx="150840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8" name="Text 55"/>
          <p:cNvSpPr/>
          <p:nvPr/>
        </p:nvSpPr>
        <p:spPr>
          <a:xfrm>
            <a:off x="1298520" y="363924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6"/>
          <p:cNvSpPr/>
          <p:nvPr/>
        </p:nvSpPr>
        <p:spPr>
          <a:xfrm>
            <a:off x="2743200" y="3620880"/>
            <a:ext cx="47545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0" name="Text 57"/>
          <p:cNvSpPr/>
          <p:nvPr/>
        </p:nvSpPr>
        <p:spPr>
          <a:xfrm>
            <a:off x="2807280" y="363924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58"/>
          <p:cNvSpPr/>
          <p:nvPr/>
        </p:nvSpPr>
        <p:spPr>
          <a:xfrm>
            <a:off x="7498080" y="3620880"/>
            <a:ext cx="182844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2" name="Text 59"/>
          <p:cNvSpPr/>
          <p:nvPr/>
        </p:nvSpPr>
        <p:spPr>
          <a:xfrm>
            <a:off x="7562160" y="363924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60"/>
          <p:cNvSpPr/>
          <p:nvPr/>
        </p:nvSpPr>
        <p:spPr>
          <a:xfrm>
            <a:off x="9326880" y="3620880"/>
            <a:ext cx="3154320" cy="484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4" name="Text 61"/>
          <p:cNvSpPr/>
          <p:nvPr/>
        </p:nvSpPr>
        <p:spPr>
          <a:xfrm>
            <a:off x="9390960" y="363924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62"/>
          <p:cNvSpPr/>
          <p:nvPr/>
        </p:nvSpPr>
        <p:spPr>
          <a:xfrm>
            <a:off x="548640" y="4105800"/>
            <a:ext cx="685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6" name="Text 63"/>
          <p:cNvSpPr/>
          <p:nvPr/>
        </p:nvSpPr>
        <p:spPr>
          <a:xfrm>
            <a:off x="612720" y="4123800"/>
            <a:ext cx="557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6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64"/>
          <p:cNvSpPr/>
          <p:nvPr/>
        </p:nvSpPr>
        <p:spPr>
          <a:xfrm>
            <a:off x="1234440" y="4105800"/>
            <a:ext cx="150840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8" name="Text 65"/>
          <p:cNvSpPr/>
          <p:nvPr/>
        </p:nvSpPr>
        <p:spPr>
          <a:xfrm>
            <a:off x="1298520" y="4123800"/>
            <a:ext cx="138024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66"/>
          <p:cNvSpPr/>
          <p:nvPr/>
        </p:nvSpPr>
        <p:spPr>
          <a:xfrm>
            <a:off x="2743200" y="4105800"/>
            <a:ext cx="47545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0" name="Text 67"/>
          <p:cNvSpPr/>
          <p:nvPr/>
        </p:nvSpPr>
        <p:spPr>
          <a:xfrm>
            <a:off x="2807280" y="4123800"/>
            <a:ext cx="46263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∅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68"/>
          <p:cNvSpPr/>
          <p:nvPr/>
        </p:nvSpPr>
        <p:spPr>
          <a:xfrm>
            <a:off x="7498080" y="4105800"/>
            <a:ext cx="182844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2" name="Text 69"/>
          <p:cNvSpPr/>
          <p:nvPr/>
        </p:nvSpPr>
        <p:spPr>
          <a:xfrm>
            <a:off x="7562160" y="4123800"/>
            <a:ext cx="17002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พร้อม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0"/>
          <p:cNvSpPr/>
          <p:nvPr/>
        </p:nvSpPr>
        <p:spPr>
          <a:xfrm>
            <a:off x="9326880" y="4105800"/>
            <a:ext cx="3154320" cy="484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4" name="Text 71"/>
          <p:cNvSpPr/>
          <p:nvPr/>
        </p:nvSpPr>
        <p:spPr>
          <a:xfrm>
            <a:off x="9390960" y="4123800"/>
            <a:ext cx="30261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 * 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72"/>
          <p:cNvSpPr/>
          <p:nvPr/>
        </p:nvSpPr>
        <p:spPr>
          <a:xfrm>
            <a:off x="567000" y="5074920"/>
            <a:ext cx="3657240" cy="804240"/>
          </a:xfrm>
          <a:prstGeom prst="roundRect">
            <a:avLst>
              <a:gd name="adj" fmla="val 9091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6" name="Text 73"/>
          <p:cNvSpPr/>
          <p:nvPr/>
        </p:nvSpPr>
        <p:spPr>
          <a:xfrm>
            <a:off x="731520" y="5166360"/>
            <a:ext cx="3328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74"/>
          <p:cNvSpPr/>
          <p:nvPr/>
        </p:nvSpPr>
        <p:spPr>
          <a:xfrm>
            <a:off x="731520" y="5495400"/>
            <a:ext cx="33282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 *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5"/>
          <p:cNvSpPr/>
          <p:nvPr/>
        </p:nvSpPr>
        <p:spPr>
          <a:xfrm>
            <a:off x="4407480" y="5074920"/>
            <a:ext cx="2925720" cy="804240"/>
          </a:xfrm>
          <a:prstGeom prst="roundRect">
            <a:avLst>
              <a:gd name="adj" fmla="val 9091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9" name="Text 76"/>
          <p:cNvSpPr/>
          <p:nvPr/>
        </p:nvSpPr>
        <p:spPr>
          <a:xfrm>
            <a:off x="4572000" y="5166360"/>
            <a:ext cx="2596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7"/>
          <p:cNvSpPr/>
          <p:nvPr/>
        </p:nvSpPr>
        <p:spPr>
          <a:xfrm>
            <a:off x="4572000" y="5495400"/>
            <a:ext cx="2596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78"/>
          <p:cNvSpPr/>
          <p:nvPr/>
        </p:nvSpPr>
        <p:spPr>
          <a:xfrm>
            <a:off x="7498080" y="5074920"/>
            <a:ext cx="4068720" cy="804240"/>
          </a:xfrm>
          <a:prstGeom prst="roundRect">
            <a:avLst>
              <a:gd name="adj" fmla="val 9091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2" name="Text 79"/>
          <p:cNvSpPr/>
          <p:nvPr/>
        </p:nvSpPr>
        <p:spPr>
          <a:xfrm>
            <a:off x="7662600" y="5166360"/>
            <a:ext cx="3739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ประเด็นสำคัญ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80"/>
          <p:cNvSpPr/>
          <p:nvPr/>
        </p:nvSpPr>
        <p:spPr>
          <a:xfrm>
            <a:off x="7662600" y="5495400"/>
            <a:ext cx="3739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ถูกประมวลผลก่อน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sldNum" idx="10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39BBD6-4435-4473-B67B-BF314946F1E1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7. Correctness Argument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Precondition • Invariant • Postcondition • Termination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"/>
          <p:cNvSpPr/>
          <p:nvPr/>
        </p:nvSpPr>
        <p:spPr>
          <a:xfrm>
            <a:off x="567000" y="1234440"/>
            <a:ext cx="5394600" cy="1142640"/>
          </a:xfrm>
          <a:prstGeom prst="roundRect">
            <a:avLst>
              <a:gd name="adj" fmla="val 64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731520" y="13258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Precondition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731520" y="1654920"/>
            <a:ext cx="50655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Tokenize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แล้ว และตรวจรูปแบบ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วงเล็บเบื้องต้นผ่าน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6199560" y="1234440"/>
            <a:ext cx="5394600" cy="1142640"/>
          </a:xfrm>
          <a:prstGeom prst="roundRect">
            <a:avLst>
              <a:gd name="adj" fmla="val 64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6364080" y="13258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Invariant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6364080" y="1654920"/>
            <a:ext cx="50655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ที่อ่านแล้วถูกเก็บใน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Output/Stack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โดยไม่ทำให้ลำดับความหมายของนิพจน์เสีย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8"/>
          <p:cNvSpPr/>
          <p:nvPr/>
        </p:nvSpPr>
        <p:spPr>
          <a:xfrm>
            <a:off x="567000" y="2697480"/>
            <a:ext cx="5394600" cy="1142640"/>
          </a:xfrm>
          <a:prstGeom prst="roundRect">
            <a:avLst>
              <a:gd name="adj" fmla="val 64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4" name="Text 9"/>
          <p:cNvSpPr/>
          <p:nvPr/>
        </p:nvSpPr>
        <p:spPr>
          <a:xfrm>
            <a:off x="731520" y="278892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Postcondition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0"/>
          <p:cNvSpPr/>
          <p:nvPr/>
        </p:nvSpPr>
        <p:spPr>
          <a:xfrm>
            <a:off x="731520" y="3117960"/>
            <a:ext cx="50655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ที่เหลือถูกประมวลผลครบ →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Postfix/Result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ถูกต้องตาม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เดิม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1"/>
          <p:cNvSpPr/>
          <p:nvPr/>
        </p:nvSpPr>
        <p:spPr>
          <a:xfrm>
            <a:off x="6199560" y="2697480"/>
            <a:ext cx="5394600" cy="1142640"/>
          </a:xfrm>
          <a:prstGeom prst="roundRect">
            <a:avLst>
              <a:gd name="adj" fmla="val 6400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6364080" y="278892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Termination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6364080" y="3117960"/>
            <a:ext cx="50655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ทุก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ถูกอ่านครั้งเดียว 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ถูกเคลียร์จนจบ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4"/>
          <p:cNvSpPr/>
          <p:nvPr/>
        </p:nvSpPr>
        <p:spPr>
          <a:xfrm>
            <a:off x="594360" y="416052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9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ทำไมถูกต้อง</a:t>
            </a:r>
            <a:r>
              <a:rPr lang="en-US" sz="19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5"/>
          <p:cNvSpPr/>
          <p:nvPr/>
        </p:nvSpPr>
        <p:spPr>
          <a:xfrm>
            <a:off x="567000" y="4572000"/>
            <a:ext cx="2605680" cy="107856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1" name="Text 16"/>
          <p:cNvSpPr/>
          <p:nvPr/>
        </p:nvSpPr>
        <p:spPr>
          <a:xfrm>
            <a:off x="731520" y="4663440"/>
            <a:ext cx="227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1. Priority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731520" y="4992480"/>
            <a:ext cx="227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มาก่อน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-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8"/>
          <p:cNvSpPr/>
          <p:nvPr/>
        </p:nvSpPr>
        <p:spPr>
          <a:xfrm>
            <a:off x="3337560" y="4572000"/>
            <a:ext cx="2605680" cy="107856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3502080" y="4663440"/>
            <a:ext cx="227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2. Parentheses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0"/>
          <p:cNvSpPr/>
          <p:nvPr/>
        </p:nvSpPr>
        <p:spPr>
          <a:xfrm>
            <a:off x="3502080" y="4992480"/>
            <a:ext cx="227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บังคับลำดับก่อนหลัง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1"/>
          <p:cNvSpPr/>
          <p:nvPr/>
        </p:nvSpPr>
        <p:spPr>
          <a:xfrm>
            <a:off x="6099120" y="4572000"/>
            <a:ext cx="2605680" cy="107856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6263640" y="4663440"/>
            <a:ext cx="227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3. 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6263640" y="4992480"/>
            <a:ext cx="227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ไม่มีความกำกวมของลำดับ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4"/>
          <p:cNvSpPr/>
          <p:nvPr/>
        </p:nvSpPr>
        <p:spPr>
          <a:xfrm>
            <a:off x="8851320" y="4572000"/>
            <a:ext cx="2605680" cy="107856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0" name="Text 25"/>
          <p:cNvSpPr/>
          <p:nvPr/>
        </p:nvSpPr>
        <p:spPr>
          <a:xfrm>
            <a:off x="9015840" y="4663440"/>
            <a:ext cx="227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4. Operand Stack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6"/>
          <p:cNvSpPr/>
          <p:nvPr/>
        </p:nvSpPr>
        <p:spPr>
          <a:xfrm>
            <a:off x="9015840" y="4992480"/>
            <a:ext cx="227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เก็บผลลัพธ์ย่อยเพื่อประกอบคำตอบ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1"/>
          <p:cNvSpPr>
            <a:spLocks noGrp="1"/>
          </p:cNvSpPr>
          <p:nvPr>
            <p:ph type="sldNum" idx="11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6B354E-300C-4DE6-8191-5C74DE1D348A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8. Big-O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ตอบคำถามวิเคราะห์ด้าน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Complexity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"/>
          <p:cNvSpPr/>
          <p:nvPr/>
        </p:nvSpPr>
        <p:spPr>
          <a:xfrm>
            <a:off x="567000" y="1234440"/>
            <a:ext cx="5394600" cy="1481040"/>
          </a:xfrm>
          <a:prstGeom prst="roundRect">
            <a:avLst>
              <a:gd name="adj" fmla="val 4938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731520" y="13258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Balanced Parentheses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731520" y="1654920"/>
            <a:ext cx="5065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1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ครั้ง →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เมื่อเจอ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'(' → pop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เมื่อเจอ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')'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ดังนั้น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Time = O(n), Space = 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6199560" y="1234440"/>
            <a:ext cx="5394600" cy="1481040"/>
          </a:xfrm>
          <a:prstGeom prst="roundRect">
            <a:avLst>
              <a:gd name="adj" fmla="val 4938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6364080" y="13258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Infix → 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6364080" y="1654920"/>
            <a:ext cx="5065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แต่ละ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push/pop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จาก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จำนวนจำกัด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จึงรวมเป็น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567000" y="2999160"/>
            <a:ext cx="5394600" cy="1481040"/>
          </a:xfrm>
          <a:prstGeom prst="roundRect">
            <a:avLst>
              <a:gd name="adj" fmla="val 4938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731520" y="309060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ทำไม 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Push/Pop </a:t>
            </a: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จำกัด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731520" y="3420000"/>
            <a:ext cx="5065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ในแต่ละ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Phase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การทำงาน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Token/Operator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หนึ่งตัวถูกนำเข้าและนำออกจาก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จำนวนจำกัด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;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จึงรวมได้เป็นสัดส่วน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รวมการเคลื่อนที่จึงไม่เกินสัดส่วน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6199560" y="2999160"/>
            <a:ext cx="5394600" cy="1481040"/>
          </a:xfrm>
          <a:prstGeom prst="roundRect">
            <a:avLst>
              <a:gd name="adj" fmla="val 4938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6364080" y="309060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ภาพรวมระบบ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6364080" y="3420000"/>
            <a:ext cx="506556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Tokenize + Validation + Algorithm + Evaluation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เมื่อทำงานบนข้อมูลขนาด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 →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เวลาโดยรวม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567000" y="4507920"/>
            <a:ext cx="255996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640080" y="4526280"/>
            <a:ext cx="24138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กรณี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6"/>
          <p:cNvSpPr/>
          <p:nvPr/>
        </p:nvSpPr>
        <p:spPr>
          <a:xfrm>
            <a:off x="3127320" y="4507920"/>
            <a:ext cx="255996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3200400" y="4526280"/>
            <a:ext cx="24138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8"/>
          <p:cNvSpPr/>
          <p:nvPr/>
        </p:nvSpPr>
        <p:spPr>
          <a:xfrm>
            <a:off x="5687640" y="4507920"/>
            <a:ext cx="255996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2" name="Text 19"/>
          <p:cNvSpPr/>
          <p:nvPr/>
        </p:nvSpPr>
        <p:spPr>
          <a:xfrm>
            <a:off x="5760720" y="4526280"/>
            <a:ext cx="24138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8247960" y="4507920"/>
            <a:ext cx="2925720" cy="43848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4" name="Text 21"/>
          <p:cNvSpPr/>
          <p:nvPr/>
        </p:nvSpPr>
        <p:spPr>
          <a:xfrm>
            <a:off x="8321040" y="4526280"/>
            <a:ext cx="2779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เหตุผล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2"/>
          <p:cNvSpPr/>
          <p:nvPr/>
        </p:nvSpPr>
        <p:spPr>
          <a:xfrm>
            <a:off x="567000" y="494676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6" name="Text 23"/>
          <p:cNvSpPr/>
          <p:nvPr/>
        </p:nvSpPr>
        <p:spPr>
          <a:xfrm>
            <a:off x="631080" y="496512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Best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4"/>
          <p:cNvSpPr/>
          <p:nvPr/>
        </p:nvSpPr>
        <p:spPr>
          <a:xfrm>
            <a:off x="3127320" y="494676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8" name="Text 25"/>
          <p:cNvSpPr/>
          <p:nvPr/>
        </p:nvSpPr>
        <p:spPr>
          <a:xfrm>
            <a:off x="3191400" y="496512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6"/>
          <p:cNvSpPr/>
          <p:nvPr/>
        </p:nvSpPr>
        <p:spPr>
          <a:xfrm>
            <a:off x="5687640" y="494676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0" name="Text 27"/>
          <p:cNvSpPr/>
          <p:nvPr/>
        </p:nvSpPr>
        <p:spPr>
          <a:xfrm>
            <a:off x="5751720" y="496512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8"/>
          <p:cNvSpPr/>
          <p:nvPr/>
        </p:nvSpPr>
        <p:spPr>
          <a:xfrm>
            <a:off x="8247960" y="4946760"/>
            <a:ext cx="292572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2" name="Text 29"/>
          <p:cNvSpPr/>
          <p:nvPr/>
        </p:nvSpPr>
        <p:spPr>
          <a:xfrm>
            <a:off x="8312040" y="4965120"/>
            <a:ext cx="2797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ต้องอ่าน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/</a:t>
            </a: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ตรวจ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0"/>
          <p:cNvSpPr/>
          <p:nvPr/>
        </p:nvSpPr>
        <p:spPr>
          <a:xfrm>
            <a:off x="567000" y="5440680"/>
            <a:ext cx="2559960" cy="4935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4" name="Text 31"/>
          <p:cNvSpPr/>
          <p:nvPr/>
        </p:nvSpPr>
        <p:spPr>
          <a:xfrm>
            <a:off x="631080" y="545904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Average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2"/>
          <p:cNvSpPr/>
          <p:nvPr/>
        </p:nvSpPr>
        <p:spPr>
          <a:xfrm>
            <a:off x="3127320" y="5440680"/>
            <a:ext cx="2559960" cy="4935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6" name="Text 33"/>
          <p:cNvSpPr/>
          <p:nvPr/>
        </p:nvSpPr>
        <p:spPr>
          <a:xfrm>
            <a:off x="3191400" y="545904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4"/>
          <p:cNvSpPr/>
          <p:nvPr/>
        </p:nvSpPr>
        <p:spPr>
          <a:xfrm>
            <a:off x="5687640" y="5440680"/>
            <a:ext cx="2559960" cy="4935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8" name="Text 35"/>
          <p:cNvSpPr/>
          <p:nvPr/>
        </p:nvSpPr>
        <p:spPr>
          <a:xfrm>
            <a:off x="5751720" y="545904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6"/>
          <p:cNvSpPr/>
          <p:nvPr/>
        </p:nvSpPr>
        <p:spPr>
          <a:xfrm>
            <a:off x="8247960" y="5440680"/>
            <a:ext cx="2925720" cy="4935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0" name="Text 37"/>
          <p:cNvSpPr/>
          <p:nvPr/>
        </p:nvSpPr>
        <p:spPr>
          <a:xfrm>
            <a:off x="8312040" y="5459040"/>
            <a:ext cx="2797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ตาม </a:t>
            </a: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38"/>
          <p:cNvSpPr/>
          <p:nvPr/>
        </p:nvSpPr>
        <p:spPr>
          <a:xfrm>
            <a:off x="567000" y="593460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2" name="Text 39"/>
          <p:cNvSpPr/>
          <p:nvPr/>
        </p:nvSpPr>
        <p:spPr>
          <a:xfrm>
            <a:off x="631080" y="595260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Worst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0"/>
          <p:cNvSpPr/>
          <p:nvPr/>
        </p:nvSpPr>
        <p:spPr>
          <a:xfrm>
            <a:off x="3127320" y="593460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4" name="Text 41"/>
          <p:cNvSpPr/>
          <p:nvPr/>
        </p:nvSpPr>
        <p:spPr>
          <a:xfrm>
            <a:off x="3191400" y="595260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2"/>
          <p:cNvSpPr/>
          <p:nvPr/>
        </p:nvSpPr>
        <p:spPr>
          <a:xfrm>
            <a:off x="5687640" y="5934600"/>
            <a:ext cx="255996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6" name="Text 43"/>
          <p:cNvSpPr/>
          <p:nvPr/>
        </p:nvSpPr>
        <p:spPr>
          <a:xfrm>
            <a:off x="5751720" y="5952600"/>
            <a:ext cx="243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4"/>
          <p:cNvSpPr/>
          <p:nvPr/>
        </p:nvSpPr>
        <p:spPr>
          <a:xfrm>
            <a:off x="8247960" y="5934600"/>
            <a:ext cx="2925720" cy="493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8" name="Text 45"/>
          <p:cNvSpPr/>
          <p:nvPr/>
        </p:nvSpPr>
        <p:spPr>
          <a:xfrm>
            <a:off x="8312040" y="5952600"/>
            <a:ext cx="2797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สแกนและจัดการ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Stack </a:t>
            </a: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ตาม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sldNum" idx="12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76CD39-DCD2-426A-864E-AC8B8729489E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9. Class Diagram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Java Implementation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โครงสร้างขั้นต่ำตามโจทย์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94360" y="1417320"/>
            <a:ext cx="2057040" cy="187416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758880" y="1508760"/>
            <a:ext cx="172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Main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758880" y="1837800"/>
            <a:ext cx="172800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main()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menu()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เลือก </a:t>
            </a: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 /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5"/>
          <p:cNvSpPr/>
          <p:nvPr/>
        </p:nvSpPr>
        <p:spPr>
          <a:xfrm>
            <a:off x="2880360" y="1417320"/>
            <a:ext cx="2057040" cy="187416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3044880" y="1508760"/>
            <a:ext cx="172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ExpressionResult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044880" y="1837800"/>
            <a:ext cx="172800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postfix / time / counter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5166360" y="1417320"/>
            <a:ext cx="2057040" cy="1874160"/>
          </a:xfrm>
          <a:prstGeom prst="roundRect">
            <a:avLst>
              <a:gd name="adj" fmla="val 3902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5330880" y="1508760"/>
            <a:ext cx="172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AlgorithmA / AlgorithmB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5330880" y="1837800"/>
            <a:ext cx="172800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evaluate()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(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ตามวิธีของแต่ละ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1"/>
          <p:cNvSpPr/>
          <p:nvPr/>
        </p:nvSpPr>
        <p:spPr>
          <a:xfrm>
            <a:off x="7452360" y="1417320"/>
            <a:ext cx="2057040" cy="187416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7616880" y="1508760"/>
            <a:ext cx="172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OperationCounter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7616880" y="1837800"/>
            <a:ext cx="172800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/ pop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comparisons / loops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9738360" y="1417320"/>
            <a:ext cx="2057040" cy="1874160"/>
          </a:xfrm>
          <a:prstGeom prst="roundRect">
            <a:avLst>
              <a:gd name="adj" fmla="val 3902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9902880" y="1508760"/>
            <a:ext cx="172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BenchmarkExperiment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9902880" y="1837800"/>
            <a:ext cx="172800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nanoTime()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run 5 rounds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average()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2651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4937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7223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0" name="Shape 20"/>
          <p:cNvSpPr/>
          <p:nvPr/>
        </p:nvSpPr>
        <p:spPr>
          <a:xfrm>
            <a:off x="9509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1" name="Shape 21"/>
          <p:cNvSpPr/>
          <p:nvPr/>
        </p:nvSpPr>
        <p:spPr>
          <a:xfrm>
            <a:off x="594360" y="3886200"/>
            <a:ext cx="5321520" cy="135288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2" name="Text 22"/>
          <p:cNvSpPr/>
          <p:nvPr/>
        </p:nvSpPr>
        <p:spPr>
          <a:xfrm>
            <a:off x="758880" y="3977640"/>
            <a:ext cx="499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Java requirements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758880" y="4306680"/>
            <a:ext cx="49921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Main Class • AlgorithmA / AlgorithmB • ExpressionResult • OperationCounter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Tokenizer (tokenize / validateTokens) • Menu • Empty Stack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4"/>
          <p:cNvSpPr/>
          <p:nvPr/>
        </p:nvSpPr>
        <p:spPr>
          <a:xfrm>
            <a:off x="6144840" y="3886200"/>
            <a:ext cx="5440320" cy="135288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6309360" y="3977640"/>
            <a:ext cx="5111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ต้องมีในการ 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Demo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6309360" y="4306680"/>
            <a:ext cx="51112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แสดง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State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เลือก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A/B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นับ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Operation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วัดเวลา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Deque&lt;T&gt; stack = new ArrayDeque&lt;&gt;();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ในการทำงานแบบ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sldNum" idx="13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F6F582-216F-4408-8EBF-46D91EC882AB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10. Test Cases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ต้องครอบคลุมทั้งกรณีถูกต้องและ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"/>
          <p:cNvSpPr/>
          <p:nvPr/>
        </p:nvSpPr>
        <p:spPr>
          <a:xfrm>
            <a:off x="438840" y="1188720"/>
            <a:ext cx="502560" cy="420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511920" y="1207080"/>
            <a:ext cx="356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#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941760" y="1188720"/>
            <a:ext cx="2925720" cy="420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1014840" y="1207080"/>
            <a:ext cx="2779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3867840" y="1188720"/>
            <a:ext cx="1919880" cy="420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3940920" y="1207080"/>
            <a:ext cx="1773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ประเภท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8"/>
          <p:cNvSpPr/>
          <p:nvPr/>
        </p:nvSpPr>
        <p:spPr>
          <a:xfrm>
            <a:off x="5788080" y="1188720"/>
            <a:ext cx="4525920" cy="420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5861160" y="1207080"/>
            <a:ext cx="437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เหตุผล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10314360" y="1188720"/>
            <a:ext cx="1828440" cy="420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9" name="Text 11"/>
          <p:cNvSpPr/>
          <p:nvPr/>
        </p:nvSpPr>
        <p:spPr>
          <a:xfrm>
            <a:off x="10387440" y="1207080"/>
            <a:ext cx="1682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Expected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2"/>
          <p:cNvSpPr/>
          <p:nvPr/>
        </p:nvSpPr>
        <p:spPr>
          <a:xfrm>
            <a:off x="438840" y="1609200"/>
            <a:ext cx="50256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1" name="Text 13"/>
          <p:cNvSpPr/>
          <p:nvPr/>
        </p:nvSpPr>
        <p:spPr>
          <a:xfrm>
            <a:off x="502920" y="162756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4"/>
          <p:cNvSpPr/>
          <p:nvPr/>
        </p:nvSpPr>
        <p:spPr>
          <a:xfrm>
            <a:off x="941760" y="1609200"/>
            <a:ext cx="29257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3" name="Text 15"/>
          <p:cNvSpPr/>
          <p:nvPr/>
        </p:nvSpPr>
        <p:spPr>
          <a:xfrm>
            <a:off x="1005840" y="162756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6"/>
          <p:cNvSpPr/>
          <p:nvPr/>
        </p:nvSpPr>
        <p:spPr>
          <a:xfrm>
            <a:off x="3867840" y="1609200"/>
            <a:ext cx="191988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3931920" y="162756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8"/>
          <p:cNvSpPr/>
          <p:nvPr/>
        </p:nvSpPr>
        <p:spPr>
          <a:xfrm>
            <a:off x="5788080" y="1609200"/>
            <a:ext cx="45259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7" name="Text 19"/>
          <p:cNvSpPr/>
          <p:nvPr/>
        </p:nvSpPr>
        <p:spPr>
          <a:xfrm>
            <a:off x="5852160" y="162756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ก่อน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20"/>
          <p:cNvSpPr/>
          <p:nvPr/>
        </p:nvSpPr>
        <p:spPr>
          <a:xfrm>
            <a:off x="10314360" y="1609200"/>
            <a:ext cx="182844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9" name="Text 21"/>
          <p:cNvSpPr/>
          <p:nvPr/>
        </p:nvSpPr>
        <p:spPr>
          <a:xfrm>
            <a:off x="10378440" y="162756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11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2"/>
          <p:cNvSpPr/>
          <p:nvPr/>
        </p:nvSpPr>
        <p:spPr>
          <a:xfrm>
            <a:off x="438840" y="2020680"/>
            <a:ext cx="50256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1" name="Text 23"/>
          <p:cNvSpPr/>
          <p:nvPr/>
        </p:nvSpPr>
        <p:spPr>
          <a:xfrm>
            <a:off x="502920" y="203904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4"/>
          <p:cNvSpPr/>
          <p:nvPr/>
        </p:nvSpPr>
        <p:spPr>
          <a:xfrm>
            <a:off x="941760" y="2020680"/>
            <a:ext cx="29257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3" name="Text 25"/>
          <p:cNvSpPr/>
          <p:nvPr/>
        </p:nvSpPr>
        <p:spPr>
          <a:xfrm>
            <a:off x="1005840" y="203904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(3 + 4) * 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6"/>
          <p:cNvSpPr/>
          <p:nvPr/>
        </p:nvSpPr>
        <p:spPr>
          <a:xfrm>
            <a:off x="3867840" y="2020680"/>
            <a:ext cx="191988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5" name="Text 27"/>
          <p:cNvSpPr/>
          <p:nvPr/>
        </p:nvSpPr>
        <p:spPr>
          <a:xfrm>
            <a:off x="3931920" y="203904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8"/>
          <p:cNvSpPr/>
          <p:nvPr/>
        </p:nvSpPr>
        <p:spPr>
          <a:xfrm>
            <a:off x="5788080" y="2020680"/>
            <a:ext cx="45259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7" name="Text 29"/>
          <p:cNvSpPr/>
          <p:nvPr/>
        </p:nvSpPr>
        <p:spPr>
          <a:xfrm>
            <a:off x="5852160" y="203904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วงเล็บเปลี่ยนลำดับ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0"/>
          <p:cNvSpPr/>
          <p:nvPr/>
        </p:nvSpPr>
        <p:spPr>
          <a:xfrm>
            <a:off x="10314360" y="2020680"/>
            <a:ext cx="182844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9" name="Text 31"/>
          <p:cNvSpPr/>
          <p:nvPr/>
        </p:nvSpPr>
        <p:spPr>
          <a:xfrm>
            <a:off x="10378440" y="203904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2"/>
          <p:cNvSpPr/>
          <p:nvPr/>
        </p:nvSpPr>
        <p:spPr>
          <a:xfrm>
            <a:off x="438840" y="2432160"/>
            <a:ext cx="50256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1" name="Text 33"/>
          <p:cNvSpPr/>
          <p:nvPr/>
        </p:nvSpPr>
        <p:spPr>
          <a:xfrm>
            <a:off x="502920" y="245052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4"/>
          <p:cNvSpPr/>
          <p:nvPr/>
        </p:nvSpPr>
        <p:spPr>
          <a:xfrm>
            <a:off x="941760" y="2432160"/>
            <a:ext cx="29257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3" name="Text 35"/>
          <p:cNvSpPr/>
          <p:nvPr/>
        </p:nvSpPr>
        <p:spPr>
          <a:xfrm>
            <a:off x="1005840" y="245052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((8 + 2) * 5)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36"/>
          <p:cNvSpPr/>
          <p:nvPr/>
        </p:nvSpPr>
        <p:spPr>
          <a:xfrm>
            <a:off x="3867840" y="2432160"/>
            <a:ext cx="191988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5" name="Text 37"/>
          <p:cNvSpPr/>
          <p:nvPr/>
        </p:nvSpPr>
        <p:spPr>
          <a:xfrm>
            <a:off x="3931920" y="245052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38"/>
          <p:cNvSpPr/>
          <p:nvPr/>
        </p:nvSpPr>
        <p:spPr>
          <a:xfrm>
            <a:off x="5788080" y="2432160"/>
            <a:ext cx="45259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7" name="Text 39"/>
          <p:cNvSpPr/>
          <p:nvPr/>
        </p:nvSpPr>
        <p:spPr>
          <a:xfrm>
            <a:off x="5852160" y="245052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วงเล็บซ้อน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0"/>
          <p:cNvSpPr/>
          <p:nvPr/>
        </p:nvSpPr>
        <p:spPr>
          <a:xfrm>
            <a:off x="10314360" y="2432160"/>
            <a:ext cx="182844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9" name="Text 41"/>
          <p:cNvSpPr/>
          <p:nvPr/>
        </p:nvSpPr>
        <p:spPr>
          <a:xfrm>
            <a:off x="10378440" y="245052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50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2"/>
          <p:cNvSpPr/>
          <p:nvPr/>
        </p:nvSpPr>
        <p:spPr>
          <a:xfrm>
            <a:off x="438840" y="2843640"/>
            <a:ext cx="50256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1" name="Text 43"/>
          <p:cNvSpPr/>
          <p:nvPr/>
        </p:nvSpPr>
        <p:spPr>
          <a:xfrm>
            <a:off x="502920" y="286200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4"/>
          <p:cNvSpPr/>
          <p:nvPr/>
        </p:nvSpPr>
        <p:spPr>
          <a:xfrm>
            <a:off x="941760" y="2843640"/>
            <a:ext cx="29257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3" name="Text 45"/>
          <p:cNvSpPr/>
          <p:nvPr/>
        </p:nvSpPr>
        <p:spPr>
          <a:xfrm>
            <a:off x="1005840" y="286200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(3 + 4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6"/>
          <p:cNvSpPr/>
          <p:nvPr/>
        </p:nvSpPr>
        <p:spPr>
          <a:xfrm>
            <a:off x="3867840" y="2843640"/>
            <a:ext cx="191988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5" name="Text 47"/>
          <p:cNvSpPr/>
          <p:nvPr/>
        </p:nvSpPr>
        <p:spPr>
          <a:xfrm>
            <a:off x="3931920" y="286200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8"/>
          <p:cNvSpPr/>
          <p:nvPr/>
        </p:nvSpPr>
        <p:spPr>
          <a:xfrm>
            <a:off x="5788080" y="2843640"/>
            <a:ext cx="45259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7" name="Text 49"/>
          <p:cNvSpPr/>
          <p:nvPr/>
        </p:nvSpPr>
        <p:spPr>
          <a:xfrm>
            <a:off x="5852160" y="286200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ปิดวงเล็บไม่ครบ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50"/>
          <p:cNvSpPr/>
          <p:nvPr/>
        </p:nvSpPr>
        <p:spPr>
          <a:xfrm>
            <a:off x="10314360" y="2843640"/>
            <a:ext cx="182844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9" name="Text 51"/>
          <p:cNvSpPr/>
          <p:nvPr/>
        </p:nvSpPr>
        <p:spPr>
          <a:xfrm>
            <a:off x="10378440" y="286200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Unbalanced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2"/>
          <p:cNvSpPr/>
          <p:nvPr/>
        </p:nvSpPr>
        <p:spPr>
          <a:xfrm>
            <a:off x="438840" y="3255120"/>
            <a:ext cx="50256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1" name="Text 53"/>
          <p:cNvSpPr/>
          <p:nvPr/>
        </p:nvSpPr>
        <p:spPr>
          <a:xfrm>
            <a:off x="502920" y="327348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4"/>
          <p:cNvSpPr/>
          <p:nvPr/>
        </p:nvSpPr>
        <p:spPr>
          <a:xfrm>
            <a:off x="941760" y="3255120"/>
            <a:ext cx="29257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3" name="Text 55"/>
          <p:cNvSpPr/>
          <p:nvPr/>
        </p:nvSpPr>
        <p:spPr>
          <a:xfrm>
            <a:off x="1005840" y="327348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6"/>
          <p:cNvSpPr/>
          <p:nvPr/>
        </p:nvSpPr>
        <p:spPr>
          <a:xfrm>
            <a:off x="3867840" y="3255120"/>
            <a:ext cx="191988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5" name="Text 57"/>
          <p:cNvSpPr/>
          <p:nvPr/>
        </p:nvSpPr>
        <p:spPr>
          <a:xfrm>
            <a:off x="3931920" y="327348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8"/>
          <p:cNvSpPr/>
          <p:nvPr/>
        </p:nvSpPr>
        <p:spPr>
          <a:xfrm>
            <a:off x="5788080" y="3255120"/>
            <a:ext cx="45259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7" name="Text 59"/>
          <p:cNvSpPr/>
          <p:nvPr/>
        </p:nvSpPr>
        <p:spPr>
          <a:xfrm>
            <a:off x="5852160" y="327348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มี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)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เกิน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0"/>
          <p:cNvSpPr/>
          <p:nvPr/>
        </p:nvSpPr>
        <p:spPr>
          <a:xfrm>
            <a:off x="10314360" y="3255120"/>
            <a:ext cx="182844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9" name="Text 61"/>
          <p:cNvSpPr/>
          <p:nvPr/>
        </p:nvSpPr>
        <p:spPr>
          <a:xfrm>
            <a:off x="10378440" y="327348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Unbalanced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62"/>
          <p:cNvSpPr/>
          <p:nvPr/>
        </p:nvSpPr>
        <p:spPr>
          <a:xfrm>
            <a:off x="438840" y="3666600"/>
            <a:ext cx="50256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1" name="Text 63"/>
          <p:cNvSpPr/>
          <p:nvPr/>
        </p:nvSpPr>
        <p:spPr>
          <a:xfrm>
            <a:off x="502920" y="368496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6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64"/>
          <p:cNvSpPr/>
          <p:nvPr/>
        </p:nvSpPr>
        <p:spPr>
          <a:xfrm>
            <a:off x="941760" y="3666600"/>
            <a:ext cx="29257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3" name="Text 65"/>
          <p:cNvSpPr/>
          <p:nvPr/>
        </p:nvSpPr>
        <p:spPr>
          <a:xfrm>
            <a:off x="1005840" y="368496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* 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66"/>
          <p:cNvSpPr/>
          <p:nvPr/>
        </p:nvSpPr>
        <p:spPr>
          <a:xfrm>
            <a:off x="3867840" y="3666600"/>
            <a:ext cx="191988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5" name="Text 67"/>
          <p:cNvSpPr/>
          <p:nvPr/>
        </p:nvSpPr>
        <p:spPr>
          <a:xfrm>
            <a:off x="3931920" y="368496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68"/>
          <p:cNvSpPr/>
          <p:nvPr/>
        </p:nvSpPr>
        <p:spPr>
          <a:xfrm>
            <a:off x="5788080" y="3666600"/>
            <a:ext cx="45259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7" name="Text 69"/>
          <p:cNvSpPr/>
          <p:nvPr/>
        </p:nvSpPr>
        <p:spPr>
          <a:xfrm>
            <a:off x="5852160" y="368496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ติดกัน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70"/>
          <p:cNvSpPr/>
          <p:nvPr/>
        </p:nvSpPr>
        <p:spPr>
          <a:xfrm>
            <a:off x="10314360" y="3666600"/>
            <a:ext cx="182844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9" name="Text 71"/>
          <p:cNvSpPr/>
          <p:nvPr/>
        </p:nvSpPr>
        <p:spPr>
          <a:xfrm>
            <a:off x="10378440" y="368496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Invalid pattern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72"/>
          <p:cNvSpPr/>
          <p:nvPr/>
        </p:nvSpPr>
        <p:spPr>
          <a:xfrm>
            <a:off x="438840" y="4078080"/>
            <a:ext cx="50256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1" name="Text 73"/>
          <p:cNvSpPr/>
          <p:nvPr/>
        </p:nvSpPr>
        <p:spPr>
          <a:xfrm>
            <a:off x="502920" y="409644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7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74"/>
          <p:cNvSpPr/>
          <p:nvPr/>
        </p:nvSpPr>
        <p:spPr>
          <a:xfrm>
            <a:off x="941760" y="4078080"/>
            <a:ext cx="29257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3" name="Text 75"/>
          <p:cNvSpPr/>
          <p:nvPr/>
        </p:nvSpPr>
        <p:spPr>
          <a:xfrm>
            <a:off x="1005840" y="409644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10 / (5 - 5)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76"/>
          <p:cNvSpPr/>
          <p:nvPr/>
        </p:nvSpPr>
        <p:spPr>
          <a:xfrm>
            <a:off x="3867840" y="4078080"/>
            <a:ext cx="191988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5" name="Text 77"/>
          <p:cNvSpPr/>
          <p:nvPr/>
        </p:nvSpPr>
        <p:spPr>
          <a:xfrm>
            <a:off x="3931920" y="409644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78"/>
          <p:cNvSpPr/>
          <p:nvPr/>
        </p:nvSpPr>
        <p:spPr>
          <a:xfrm>
            <a:off x="5788080" y="4078080"/>
            <a:ext cx="452592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7" name="Text 79"/>
          <p:cNvSpPr/>
          <p:nvPr/>
        </p:nvSpPr>
        <p:spPr>
          <a:xfrm>
            <a:off x="5852160" y="409644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ตัวหาร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= 0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0"/>
          <p:cNvSpPr/>
          <p:nvPr/>
        </p:nvSpPr>
        <p:spPr>
          <a:xfrm>
            <a:off x="10314360" y="4078080"/>
            <a:ext cx="1828440" cy="411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9" name="Text 81"/>
          <p:cNvSpPr/>
          <p:nvPr/>
        </p:nvSpPr>
        <p:spPr>
          <a:xfrm>
            <a:off x="10378440" y="409644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Division by zero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82"/>
          <p:cNvSpPr/>
          <p:nvPr/>
        </p:nvSpPr>
        <p:spPr>
          <a:xfrm>
            <a:off x="438840" y="4489560"/>
            <a:ext cx="50256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1" name="Text 83"/>
          <p:cNvSpPr/>
          <p:nvPr/>
        </p:nvSpPr>
        <p:spPr>
          <a:xfrm>
            <a:off x="502920" y="4507920"/>
            <a:ext cx="3744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8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84"/>
          <p:cNvSpPr/>
          <p:nvPr/>
        </p:nvSpPr>
        <p:spPr>
          <a:xfrm>
            <a:off x="941760" y="4489560"/>
            <a:ext cx="29257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3" name="Text 85"/>
          <p:cNvSpPr/>
          <p:nvPr/>
        </p:nvSpPr>
        <p:spPr>
          <a:xfrm>
            <a:off x="1005840" y="4507920"/>
            <a:ext cx="27975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(empty)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86"/>
          <p:cNvSpPr/>
          <p:nvPr/>
        </p:nvSpPr>
        <p:spPr>
          <a:xfrm>
            <a:off x="3867840" y="4489560"/>
            <a:ext cx="191988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5" name="Text 87"/>
          <p:cNvSpPr/>
          <p:nvPr/>
        </p:nvSpPr>
        <p:spPr>
          <a:xfrm>
            <a:off x="3931920" y="4507920"/>
            <a:ext cx="17917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88"/>
          <p:cNvSpPr/>
          <p:nvPr/>
        </p:nvSpPr>
        <p:spPr>
          <a:xfrm>
            <a:off x="5788080" y="4489560"/>
            <a:ext cx="452592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7" name="Text 89"/>
          <p:cNvSpPr/>
          <p:nvPr/>
        </p:nvSpPr>
        <p:spPr>
          <a:xfrm>
            <a:off x="5852160" y="4507920"/>
            <a:ext cx="439776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ไม่มี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90"/>
          <p:cNvSpPr/>
          <p:nvPr/>
        </p:nvSpPr>
        <p:spPr>
          <a:xfrm>
            <a:off x="10314360" y="4489560"/>
            <a:ext cx="1828440" cy="41112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9" name="Text 91"/>
          <p:cNvSpPr/>
          <p:nvPr/>
        </p:nvSpPr>
        <p:spPr>
          <a:xfrm>
            <a:off x="10378440" y="4507920"/>
            <a:ext cx="17002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Empty expression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92"/>
          <p:cNvSpPr/>
          <p:nvPr/>
        </p:nvSpPr>
        <p:spPr>
          <a:xfrm>
            <a:off x="475560" y="4892040"/>
            <a:ext cx="5394600" cy="959760"/>
          </a:xfrm>
          <a:prstGeom prst="roundRect">
            <a:avLst>
              <a:gd name="adj" fmla="val 7619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01" name="Text 93"/>
          <p:cNvSpPr/>
          <p:nvPr/>
        </p:nvSpPr>
        <p:spPr>
          <a:xfrm>
            <a:off x="640080" y="4983480"/>
            <a:ext cx="506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ตัวอย่างบังคับ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4"/>
          <p:cNvSpPr/>
          <p:nvPr/>
        </p:nvSpPr>
        <p:spPr>
          <a:xfrm>
            <a:off x="640080" y="5312520"/>
            <a:ext cx="506556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 / (1 - 5)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Postfix: 3 4 2 * 1 5 - / +   Result: 1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95"/>
          <p:cNvSpPr/>
          <p:nvPr/>
        </p:nvSpPr>
        <p:spPr>
          <a:xfrm>
            <a:off x="6108120" y="4892040"/>
            <a:ext cx="5486040" cy="959760"/>
          </a:xfrm>
          <a:prstGeom prst="roundRect">
            <a:avLst>
              <a:gd name="adj" fmla="val 7619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04" name="Text 96"/>
          <p:cNvSpPr/>
          <p:nvPr/>
        </p:nvSpPr>
        <p:spPr>
          <a:xfrm>
            <a:off x="6272640" y="4983480"/>
            <a:ext cx="515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ต้องแสดงใน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Demo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และตรวจว่า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 / B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ให้ผลตรงกัน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97"/>
          <p:cNvSpPr/>
          <p:nvPr/>
        </p:nvSpPr>
        <p:spPr>
          <a:xfrm>
            <a:off x="6272640" y="5312520"/>
            <a:ext cx="51570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state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หลังอ่าน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อย่างน้อย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นิพจน์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และผลลัพธ์ของ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 / B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ต้องตรงกัน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sldNum" idx="14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EEFE47-B92C-4201-AB5D-B7B36396593B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 0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11. Experimental Results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sldNum" idx="15"/>
          </p:nvPr>
        </p:nvSpPr>
        <p:spPr>
          <a:xfrm>
            <a:off x="11475720" y="6510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16884B-9A00-4962-AB7E-1B4348F3C78B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09" name="Table 25"/>
          <p:cNvGraphicFramePr/>
          <p:nvPr/>
        </p:nvGraphicFramePr>
        <p:xfrm>
          <a:off x="502920" y="1051560"/>
          <a:ext cx="11109600" cy="2468880"/>
        </p:xfrm>
        <a:graphic>
          <a:graphicData uri="http://schemas.openxmlformats.org/drawingml/2006/table">
            <a:tbl>
              <a:tblPr/>
              <a:tblGrid>
                <a:gridCol w="1586880"/>
                <a:gridCol w="1586880"/>
                <a:gridCol w="1586880"/>
                <a:gridCol w="1586880"/>
                <a:gridCol w="1586880"/>
                <a:gridCol w="1586880"/>
                <a:gridCol w="158688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n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Alg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Actual tokens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Avg Time (µs)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Push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Pop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Comparisons / Loops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993.810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70 / 202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267.671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71 / 101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1,778.052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767 / 2002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770.611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769 / 1001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10,384.459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7539 / 20002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3,818.614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7540 / 10001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50,000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50001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12,889.745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37527 / 100002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50,000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50001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5,744.386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75001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H Sarabun New"/>
                        </a:rPr>
                        <a:t>37528 / 50001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410" name="TextBox 26"/>
          <p:cNvSpPr/>
          <p:nvPr/>
        </p:nvSpPr>
        <p:spPr>
          <a:xfrm>
            <a:off x="594360" y="3703320"/>
            <a:ext cx="384012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วิธีทดลอง 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/ </a:t>
            </a:r>
            <a:r>
              <a:rPr lang="hi-IN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ผลสรุป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n = 100, 1,000, 10,000, 50,000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และเฉลี่ยผล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5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รอบ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เก็บ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Push / Pop / Comparisons / Loop Iterations /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Algorithm B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เร็วกว่าทุกขนาดในชุดข้อมูลนี้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แนวโน้มเวลาเพิ่มตามขนาดข้อมูล สอดคล้องกับ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ในเชิง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Asymptotic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Picture 27" descr="performance_graph_final.png"/>
          <p:cNvPicPr/>
          <p:nvPr/>
        </p:nvPicPr>
        <p:blipFill>
          <a:blip r:embed="rId1"/>
          <a:stretch/>
        </p:blipFill>
        <p:spPr>
          <a:xfrm>
            <a:off x="4434840" y="3703320"/>
            <a:ext cx="7131960" cy="300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TextBox 28"/>
          <p:cNvSpPr/>
          <p:nvPr/>
        </p:nvSpPr>
        <p:spPr>
          <a:xfrm>
            <a:off x="594360" y="6144840"/>
            <a:ext cx="10881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แหล่งข้อมูล</a:t>
            </a:r>
            <a:r>
              <a:rPr lang="en-US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: Stack_Group04_Performance_Results.csv (</a:t>
            </a:r>
            <a:r>
              <a:rPr lang="hi-IN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ค่าจริงจากการทดลอง</a:t>
            </a:r>
            <a:r>
              <a:rPr lang="en-US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Box 1"/>
          <p:cNvSpPr/>
          <p:nvPr/>
        </p:nvSpPr>
        <p:spPr>
          <a:xfrm>
            <a:off x="530280" y="329040"/>
            <a:ext cx="1097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600" b="0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12. </a:t>
            </a:r>
            <a:r>
              <a:rPr lang="hi-IN" sz="2600" b="0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สรุปและวิธีที่กลุ่มเลือก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2"/>
          <p:cNvSpPr/>
          <p:nvPr/>
        </p:nvSpPr>
        <p:spPr>
          <a:xfrm>
            <a:off x="548640" y="841320"/>
            <a:ext cx="10972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1700" b="0" u="none" strike="noStrike">
                <a:solidFill>
                  <a:srgbClr val="464646"/>
                </a:solidFill>
                <a:effectLst/>
                <a:uFillTx/>
                <a:latin typeface="TH Sarabun New"/>
              </a:rPr>
              <a:t>ข้อสรุปจากการออกแบบและเปรียบเทียบ </a:t>
            </a:r>
            <a:r>
              <a:rPr lang="en-US" sz="1700" b="0" u="none" strike="noStrike">
                <a:solidFill>
                  <a:srgbClr val="464646"/>
                </a:solidFill>
                <a:effectLst/>
                <a:uFillTx/>
                <a:latin typeface="TH Sarabun New"/>
              </a:rPr>
              <a:t>2 Algorithm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3"/>
          <p:cNvSpPr/>
          <p:nvPr/>
        </p:nvSpPr>
        <p:spPr>
          <a:xfrm>
            <a:off x="685800" y="1371600"/>
            <a:ext cx="52574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09800" tIns="73080" rIns="1098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2100" b="1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สรุปงาน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รับและตรวจสอบนิพจน์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Infix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ตามข้อจำกัดของ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Group 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ออกแบบ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Algorithm 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Algorithm B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บนพื้นฐาน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ทดสอบกรณีปกติ กรณีขอบเขต และกรณี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Error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วิเคราะห์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Time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Space Complexity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พัฒนาเป็นโปรแกรม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Java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และทดลองประสิทธิภาพ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4"/>
          <p:cNvSpPr/>
          <p:nvPr/>
        </p:nvSpPr>
        <p:spPr>
          <a:xfrm>
            <a:off x="6355080" y="1371600"/>
            <a:ext cx="52574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09800" tIns="73080" rIns="1098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2100" b="1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วิธีที่กลุ่มเลือก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Algorithm 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เหมาะเมื่อเน้นความชัดเจนและตรวจสอบขั้นตอนง่าย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Algorithm B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คำนวณ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Infix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โดยตรงและไม่ต้องสร้าง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Postfix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เป็นผลลัพธ์กลาง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ทั้งสองวิธีมี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Time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โดยรวม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Space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โดยรวม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การเลือกใช้ขึ้นอยู่กับเป้าหมายของระบบและความง่ายในการตรวจสอบ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H Sarabun New" pitchFamily="0" charset="1"/>
        <a:ea typeface=""/>
        <a:cs typeface=""/>
      </a:majorFont>
      <a:minorFont>
        <a:latin typeface="TH Sarabun New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LibreOffice/26.2.5.2$Windows_X86_64 LibreOffice_project/cd7284b4cbbfeb507e630c1aac019f4157393acb</Application>
  <AppVersion>15.0000</AppVersion>
  <Words>0</Words>
  <Paragraphs>0</Paragraphs>
  <Company>Suan Sunandha Rajabhat University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2026-09-07T05:31:29Z</dcterms:created>
  <dc:creator>OpenAI</dc:creator>
  <dc:description/>
  <dc:language>en-US</dc:language>
  <cp:lastModifiedBy/>
  <dcterms:modified xsi:type="dcterms:W3CDTF">2026-09-09T20:11:59Z</dcterms:modified>
  <cp:revision>3</cp:revision>
  <dc:subject>Group 4 Expression Processor</dc:subject>
  <dc:title>Group 4 — Expression Processor: Infix &amp; Postfix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