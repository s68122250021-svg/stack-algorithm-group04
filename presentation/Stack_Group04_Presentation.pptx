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8" r:id="rId17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<Relationship Id="rId17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2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3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4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70CBD16-C690-4C81-BB07-96B5B5680CC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923757D-3DCA-4F57-97D5-6AFDEB8ACC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B77DAF-6552-45B2-8666-3DADE8CBCF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1B4E3A-6A20-4988-B72A-55FB26C857B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136449C-B93F-487E-B797-0E7EC5AEB2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7F64250-E216-4F1C-BCB1-E402C845A5F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CC3B595-63D4-4394-A3E7-40374AB29DC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CA86F77-97C4-48E0-8F53-188752C7EDD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426FA71-D941-49FE-B6DE-CDF2A10140C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DA60531-8859-4A93-963B-5E6CBDA4149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7915554-14CC-4844-9DAB-C33E25D017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AD763FD-9E99-481D-ADE1-A8A38F14CE1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C17DF68-D0C8-4AFD-81D3-EACDEA1AC5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040" cy="163800"/>
          </a:xfrm>
          <a:prstGeom prst="rect">
            <a:avLst/>
          </a:prstGeom>
          <a:solidFill>
            <a:srgbClr val="2C4670"/>
          </a:solidFill>
          <a:ln w="12700">
            <a:solidFill>
              <a:srgbClr val="2C46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2920" y="6473880"/>
            <a:ext cx="11155680" cy="360"/>
          </a:xfrm>
          <a:prstGeom prst="line">
            <a:avLst/>
          </a:prstGeom>
          <a:ln w="12700">
            <a:solidFill>
              <a:srgbClr val="D7DDE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6537960"/>
            <a:ext cx="511992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00" b="0" u="none" strike="noStrike">
                <a:solidFill>
                  <a:srgbClr val="7A8492"/>
                </a:solidFill>
                <a:effectLst/>
                <a:uFillTx/>
                <a:latin typeface="TH Sarabun New"/>
                <a:cs typeface="TH Sarabun New"/>
              </a:rPr>
              <a:t>งานปฏิบัติการกลุ่ม </a:t>
            </a:r>
            <a:r>
              <a:rPr lang="en-US" sz="1200" b="0" u="none" strike="noStrike">
                <a:solidFill>
                  <a:srgbClr val="7A8492"/>
                </a:solidFill>
                <a:effectLst/>
                <a:uFillTx/>
                <a:latin typeface="TH Sarabun New"/>
                <a:ea typeface="TH Sarabun New"/>
              </a:rPr>
              <a:t>4 • Expression Processor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49640" y="6537960"/>
            <a:ext cx="265104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A8492"/>
                </a:solidFill>
                <a:effectLst/>
                <a:uFillTx/>
                <a:latin typeface="TH Sarabun New"/>
                <a:ea typeface="TH Sarabun New"/>
              </a:rPr>
              <a:t>Stack / Java / Algorithm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11475720" y="651060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C8EF5CA-93FC-42AD-971D-CDB741035FCE}" type="slidenum">
              <a: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TH Sarabun New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TH Sarabun New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H Sarabun New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H Sarabun New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H Sarabun New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H Sarabun New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TH Sarabun New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0"/>
          <p:cNvSpPr/>
          <p:nvPr/>
        </p:nvSpPr>
        <p:spPr>
          <a:xfrm>
            <a:off x="685800" y="914400"/>
            <a:ext cx="1828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GROUP 04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1"/>
          <p:cNvSpPr/>
          <p:nvPr/>
        </p:nvSpPr>
        <p:spPr>
          <a:xfrm>
            <a:off x="685800" y="914400"/>
            <a:ext cx="1828080" cy="383400"/>
          </a:xfrm>
          <a:prstGeom prst="roundRect">
            <a:avLst>
              <a:gd name="adj" fmla="val 42857"/>
            </a:avLst>
          </a:prstGeom>
          <a:solidFill>
            <a:srgbClr val="2C4670"/>
          </a:solidFill>
          <a:ln w="12700">
            <a:solidFill>
              <a:srgbClr val="2C46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7" name="Text 2"/>
          <p:cNvSpPr/>
          <p:nvPr/>
        </p:nvSpPr>
        <p:spPr>
          <a:xfrm>
            <a:off x="685800" y="1737360"/>
            <a:ext cx="106977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Expression Processor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713160" y="2423160"/>
            <a:ext cx="103320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6C7480"/>
                </a:solidFill>
                <a:effectLst/>
                <a:uFillTx/>
                <a:latin typeface="TH Sarabun New"/>
                <a:ea typeface="TH Sarabun New"/>
              </a:rPr>
              <a:t>Infix → Postfix  •  Stack  •  Java  •  Algorithm Analysis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4"/>
          <p:cNvSpPr/>
          <p:nvPr/>
        </p:nvSpPr>
        <p:spPr>
          <a:xfrm>
            <a:off x="713160" y="3063240"/>
            <a:ext cx="3519720" cy="1508040"/>
          </a:xfrm>
          <a:prstGeom prst="roundRect">
            <a:avLst>
              <a:gd name="adj" fmla="val 4848"/>
            </a:avLst>
          </a:prstGeom>
          <a:solidFill>
            <a:srgbClr val="EAF0F8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0" name="Text 5"/>
          <p:cNvSpPr/>
          <p:nvPr/>
        </p:nvSpPr>
        <p:spPr>
          <a:xfrm>
            <a:off x="877680" y="3154680"/>
            <a:ext cx="319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โจทย์หลัก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6"/>
          <p:cNvSpPr/>
          <p:nvPr/>
        </p:nvSpPr>
        <p:spPr>
          <a:xfrm>
            <a:off x="877680" y="3483720"/>
            <a:ext cx="3190680" cy="9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รับนิพจน์ทางคณิตศาสตร์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ตรวจสอบความถูกต้อง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แปลง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/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คำนวณผลลัพธ์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Shape 7"/>
          <p:cNvSpPr/>
          <p:nvPr/>
        </p:nvSpPr>
        <p:spPr>
          <a:xfrm>
            <a:off x="4370760" y="3063240"/>
            <a:ext cx="3519720" cy="1508040"/>
          </a:xfrm>
          <a:prstGeom prst="roundRect">
            <a:avLst>
              <a:gd name="adj" fmla="val 4848"/>
            </a:avLst>
          </a:prstGeom>
          <a:solidFill>
            <a:srgbClr val="E6F5F0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3" name="Text 8"/>
          <p:cNvSpPr/>
          <p:nvPr/>
        </p:nvSpPr>
        <p:spPr>
          <a:xfrm>
            <a:off x="4535280" y="3154680"/>
            <a:ext cx="3190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Algorithm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9"/>
          <p:cNvSpPr/>
          <p:nvPr/>
        </p:nvSpPr>
        <p:spPr>
          <a:xfrm>
            <a:off x="4535280" y="3483720"/>
            <a:ext cx="3190680" cy="9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Infix → Postfix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แล้วประเมิน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Postfix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ด้วย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Operand Stack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0"/>
          <p:cNvSpPr/>
          <p:nvPr/>
        </p:nvSpPr>
        <p:spPr>
          <a:xfrm>
            <a:off x="8028360" y="3063240"/>
            <a:ext cx="3428280" cy="1508040"/>
          </a:xfrm>
          <a:prstGeom prst="roundRect">
            <a:avLst>
              <a:gd name="adj" fmla="val 4848"/>
            </a:avLst>
          </a:prstGeom>
          <a:solidFill>
            <a:srgbClr val="FFF1DE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6" name="Text 11"/>
          <p:cNvSpPr/>
          <p:nvPr/>
        </p:nvSpPr>
        <p:spPr>
          <a:xfrm>
            <a:off x="8192880" y="3154680"/>
            <a:ext cx="3099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Algorithm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2"/>
          <p:cNvSpPr/>
          <p:nvPr/>
        </p:nvSpPr>
        <p:spPr>
          <a:xfrm>
            <a:off x="8192880" y="3483720"/>
            <a:ext cx="3099240" cy="99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ประเมิน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Infix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โดยตรง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ด้วย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Operand Stack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และ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Operator Stack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3"/>
          <p:cNvSpPr/>
          <p:nvPr/>
        </p:nvSpPr>
        <p:spPr>
          <a:xfrm>
            <a:off x="731520" y="5486400"/>
            <a:ext cx="10697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7500" lnSpcReduction="19999"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hi-IN" sz="16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สมาชิก</a:t>
            </a:r>
            <a:r>
              <a:rPr lang="en-US" sz="1600" b="0" u="none" strike="noStrike">
                <a:solidFill>
                  <a:srgbClr val="6C7480"/>
                </a:solidFill>
                <a:effectLst/>
                <a:uFillTx/>
                <a:latin typeface="TH Sarabun New"/>
                <a:ea typeface="TH Sarabun New"/>
              </a:rPr>
              <a:t>: </a:t>
            </a:r>
            <a:r>
              <a:rPr lang="hi-IN" sz="16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นาย ธนากร สุธากมลรัตน์ </a:t>
            </a:r>
            <a:r>
              <a:rPr lang="en-US" sz="1600" b="0" u="none" strike="noStrike">
                <a:solidFill>
                  <a:srgbClr val="6C7480"/>
                </a:solidFill>
                <a:effectLst/>
                <a:uFillTx/>
                <a:latin typeface="TH Sarabun New"/>
                <a:ea typeface="TH Sarabun New"/>
              </a:rPr>
              <a:t>68122250016, </a:t>
            </a:r>
            <a:r>
              <a:rPr lang="hi-IN" sz="16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นายศุภณัฐ บุญรักษา </a:t>
            </a:r>
            <a:r>
              <a:rPr lang="en-US" sz="1600" b="0" u="none" strike="noStrike">
                <a:solidFill>
                  <a:srgbClr val="6C7480"/>
                </a:solidFill>
                <a:effectLst/>
                <a:uFillTx/>
                <a:latin typeface="TH Sarabun New"/>
                <a:ea typeface="TH Sarabun New"/>
              </a:rPr>
              <a:t>68122250043, </a:t>
            </a:r>
            <a:r>
              <a:rPr lang="hi-IN" sz="16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นาย นันทสิทธิ์ ป้องภัย </a:t>
            </a:r>
            <a:r>
              <a:rPr lang="en-US" sz="1600" b="0" u="none" strike="noStrike">
                <a:solidFill>
                  <a:srgbClr val="6C7480"/>
                </a:solidFill>
                <a:effectLst/>
                <a:uFillTx/>
                <a:latin typeface="TH Sarabun New"/>
                <a:ea typeface="TH Sarabun New"/>
              </a:rPr>
              <a:t>68122250021, </a:t>
            </a:r>
            <a:r>
              <a:rPr lang="hi-IN" sz="16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นายชินวัฒน์ พลจันทร์ </a:t>
            </a:r>
            <a:r>
              <a:rPr lang="en-US" sz="1600" b="0" u="none" strike="noStrike">
                <a:solidFill>
                  <a:srgbClr val="6C7480"/>
                </a:solidFill>
                <a:effectLst/>
                <a:uFillTx/>
                <a:latin typeface="TH Sarabun New"/>
                <a:ea typeface="TH Sarabun New"/>
              </a:rPr>
              <a:t>68122250061, </a:t>
            </a:r>
            <a:r>
              <a:rPr lang="hi-IN" sz="16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นาย มหิทธิกรณ์ สุดมี </a:t>
            </a:r>
            <a:r>
              <a:rPr lang="en-US" sz="1600" b="0" u="none" strike="noStrike">
                <a:solidFill>
                  <a:srgbClr val="6C7480"/>
                </a:solidFill>
                <a:effectLst/>
                <a:uFillTx/>
                <a:latin typeface="TH Sarabun New"/>
                <a:ea typeface="TH Sarabun New"/>
              </a:rPr>
              <a:t>68122250074, 68122250087 </a:t>
            </a:r>
            <a:r>
              <a:rPr lang="hi-IN" sz="16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นาย ทัศนัย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sldNum" idx="5"/>
          </p:nvPr>
        </p:nvSpPr>
        <p:spPr>
          <a:xfrm>
            <a:off x="11475720" y="651060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05BABF5D-7980-4EAD-933B-86BCBF495184}" type="slidenum">
              <a: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0"/>
          <p:cNvSpPr/>
          <p:nvPr/>
        </p:nvSpPr>
        <p:spPr>
          <a:xfrm>
            <a:off x="530280" y="329040"/>
            <a:ext cx="109720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2. Case Story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"/>
          <p:cNvSpPr/>
          <p:nvPr/>
        </p:nvSpPr>
        <p:spPr>
          <a:xfrm>
            <a:off x="548640" y="841320"/>
            <a:ext cx="10972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ระบบต้องรับนิพจน์ ตรวจสอบ แปลง และคำนวณผลลัพธ์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2"/>
          <p:cNvSpPr/>
          <p:nvPr/>
        </p:nvSpPr>
        <p:spPr>
          <a:xfrm>
            <a:off x="594360" y="1325880"/>
            <a:ext cx="5394240" cy="1919520"/>
          </a:xfrm>
          <a:prstGeom prst="roundRect">
            <a:avLst>
              <a:gd name="adj" fmla="val 3810"/>
            </a:avLst>
          </a:prstGeom>
          <a:solidFill>
            <a:srgbClr val="EAF0F8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3" name="Text 3"/>
          <p:cNvSpPr/>
          <p:nvPr/>
        </p:nvSpPr>
        <p:spPr>
          <a:xfrm>
            <a:off x="758880" y="1417320"/>
            <a:ext cx="506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Case Story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4"/>
          <p:cNvSpPr/>
          <p:nvPr/>
        </p:nvSpPr>
        <p:spPr>
          <a:xfrm>
            <a:off x="758880" y="1746360"/>
            <a:ext cx="5065200" cy="14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ระบบ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Expression Processor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รับนิพจน์แบบ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Infix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เช่น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 + 4 * 2 / (1 - 5)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จากนั้นตรวจสอบความถูกต้อง แล้วคำนวณผลลัพธ์อย่างเป็นขั้นตอน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5"/>
          <p:cNvSpPr/>
          <p:nvPr/>
        </p:nvSpPr>
        <p:spPr>
          <a:xfrm>
            <a:off x="6217920" y="1325880"/>
            <a:ext cx="5394240" cy="1919520"/>
          </a:xfrm>
          <a:prstGeom prst="roundRect">
            <a:avLst>
              <a:gd name="adj" fmla="val 3810"/>
            </a:avLst>
          </a:prstGeom>
          <a:solidFill>
            <a:srgbClr val="E6F5F0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6" name="Text 6"/>
          <p:cNvSpPr/>
          <p:nvPr/>
        </p:nvSpPr>
        <p:spPr>
          <a:xfrm>
            <a:off x="6382440" y="1417320"/>
            <a:ext cx="506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เป้าหมายของงาน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7"/>
          <p:cNvSpPr/>
          <p:nvPr/>
        </p:nvSpPr>
        <p:spPr>
          <a:xfrm>
            <a:off x="6382440" y="1746360"/>
            <a:ext cx="5065200" cy="14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1)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ออกแบบ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2 Algorithms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ที่แก้ปัญหาเดียวกัน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2)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อธิบาย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Pseudocode / Step-by-step / Correctness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3)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วิเคราะห์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Big-O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และทดลองบน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Java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8"/>
          <p:cNvSpPr/>
          <p:nvPr/>
        </p:nvSpPr>
        <p:spPr>
          <a:xfrm>
            <a:off x="621720" y="3657600"/>
            <a:ext cx="1416600" cy="310320"/>
          </a:xfrm>
          <a:prstGeom prst="roundRect">
            <a:avLst>
              <a:gd name="adj" fmla="val 50000"/>
            </a:avLst>
          </a:prstGeom>
          <a:solidFill>
            <a:srgbClr val="2C4670"/>
          </a:solidFill>
          <a:ln w="12700">
            <a:solidFill>
              <a:srgbClr val="2C46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9" name="Text 9"/>
          <p:cNvSpPr/>
          <p:nvPr/>
        </p:nvSpPr>
        <p:spPr>
          <a:xfrm>
            <a:off x="621720" y="3666600"/>
            <a:ext cx="14166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Input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0"/>
          <p:cNvSpPr/>
          <p:nvPr/>
        </p:nvSpPr>
        <p:spPr>
          <a:xfrm>
            <a:off x="2176200" y="3657600"/>
            <a:ext cx="1508040" cy="310320"/>
          </a:xfrm>
          <a:prstGeom prst="roundRect">
            <a:avLst>
              <a:gd name="adj" fmla="val 50000"/>
            </a:avLst>
          </a:prstGeom>
          <a:solidFill>
            <a:srgbClr val="2C4670"/>
          </a:solidFill>
          <a:ln w="12700">
            <a:solidFill>
              <a:srgbClr val="2C46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41" name="Text 11"/>
          <p:cNvSpPr/>
          <p:nvPr/>
        </p:nvSpPr>
        <p:spPr>
          <a:xfrm>
            <a:off x="2176200" y="3666600"/>
            <a:ext cx="15080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H Sarabun New"/>
                <a:cs typeface="TH Sarabun New"/>
              </a:rPr>
              <a:t>ตรวจสอบ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2"/>
          <p:cNvSpPr/>
          <p:nvPr/>
        </p:nvSpPr>
        <p:spPr>
          <a:xfrm>
            <a:off x="3822120" y="3657600"/>
            <a:ext cx="1416600" cy="310320"/>
          </a:xfrm>
          <a:prstGeom prst="roundRect">
            <a:avLst>
              <a:gd name="adj" fmla="val 50000"/>
            </a:avLst>
          </a:prstGeom>
          <a:solidFill>
            <a:srgbClr val="2C4670"/>
          </a:solidFill>
          <a:ln w="12700">
            <a:solidFill>
              <a:srgbClr val="2C46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43" name="Text 13"/>
          <p:cNvSpPr/>
          <p:nvPr/>
        </p:nvSpPr>
        <p:spPr>
          <a:xfrm>
            <a:off x="3822120" y="3666600"/>
            <a:ext cx="14166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A / B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14"/>
          <p:cNvSpPr/>
          <p:nvPr/>
        </p:nvSpPr>
        <p:spPr>
          <a:xfrm>
            <a:off x="5394960" y="3657600"/>
            <a:ext cx="1508040" cy="310320"/>
          </a:xfrm>
          <a:prstGeom prst="roundRect">
            <a:avLst>
              <a:gd name="adj" fmla="val 50000"/>
            </a:avLst>
          </a:prstGeom>
          <a:solidFill>
            <a:srgbClr val="2C4670"/>
          </a:solidFill>
          <a:ln w="12700">
            <a:solidFill>
              <a:srgbClr val="2C46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45" name="Text 15"/>
          <p:cNvSpPr/>
          <p:nvPr/>
        </p:nvSpPr>
        <p:spPr>
          <a:xfrm>
            <a:off x="5394960" y="3666600"/>
            <a:ext cx="150804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H Sarabun New"/>
                <a:cs typeface="TH Sarabun New"/>
              </a:rPr>
              <a:t>คำนวณ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16"/>
          <p:cNvSpPr/>
          <p:nvPr/>
        </p:nvSpPr>
        <p:spPr>
          <a:xfrm>
            <a:off x="7059240" y="3657600"/>
            <a:ext cx="1416600" cy="310320"/>
          </a:xfrm>
          <a:prstGeom prst="roundRect">
            <a:avLst>
              <a:gd name="adj" fmla="val 50000"/>
            </a:avLst>
          </a:prstGeom>
          <a:solidFill>
            <a:srgbClr val="2C4670"/>
          </a:solidFill>
          <a:ln w="12700">
            <a:solidFill>
              <a:srgbClr val="2C46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47" name="Text 17"/>
          <p:cNvSpPr/>
          <p:nvPr/>
        </p:nvSpPr>
        <p:spPr>
          <a:xfrm>
            <a:off x="7059240" y="3666600"/>
            <a:ext cx="14166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Output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8"/>
          <p:cNvSpPr/>
          <p:nvPr/>
        </p:nvSpPr>
        <p:spPr>
          <a:xfrm>
            <a:off x="2039040" y="3812760"/>
            <a:ext cx="127800" cy="360"/>
          </a:xfrm>
          <a:prstGeom prst="line">
            <a:avLst/>
          </a:prstGeom>
          <a:ln w="25400">
            <a:solidFill>
              <a:srgbClr val="2C467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63720" tIns="-44640" rIns="6372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49" name="Shape 19"/>
          <p:cNvSpPr/>
          <p:nvPr/>
        </p:nvSpPr>
        <p:spPr>
          <a:xfrm>
            <a:off x="3684960" y="3812760"/>
            <a:ext cx="118800" cy="360"/>
          </a:xfrm>
          <a:prstGeom prst="line">
            <a:avLst/>
          </a:prstGeom>
          <a:ln w="25400">
            <a:solidFill>
              <a:srgbClr val="2C467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59400" tIns="-44640" rIns="594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50" name="Shape 20"/>
          <p:cNvSpPr/>
          <p:nvPr/>
        </p:nvSpPr>
        <p:spPr>
          <a:xfrm>
            <a:off x="5239440" y="3812760"/>
            <a:ext cx="137160" cy="360"/>
          </a:xfrm>
          <a:prstGeom prst="line">
            <a:avLst/>
          </a:prstGeom>
          <a:ln w="25400">
            <a:solidFill>
              <a:srgbClr val="2C467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68400" tIns="-44640" rIns="684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51" name="Shape 21"/>
          <p:cNvSpPr/>
          <p:nvPr/>
        </p:nvSpPr>
        <p:spPr>
          <a:xfrm>
            <a:off x="6903720" y="3812760"/>
            <a:ext cx="137160" cy="360"/>
          </a:xfrm>
          <a:prstGeom prst="line">
            <a:avLst/>
          </a:prstGeom>
          <a:ln w="25400">
            <a:solidFill>
              <a:srgbClr val="2C467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68400" tIns="-44640" rIns="684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52" name="Shape 22"/>
          <p:cNvSpPr/>
          <p:nvPr/>
        </p:nvSpPr>
        <p:spPr>
          <a:xfrm>
            <a:off x="594360" y="4343400"/>
            <a:ext cx="11017800" cy="1297800"/>
          </a:xfrm>
          <a:prstGeom prst="roundRect">
            <a:avLst>
              <a:gd name="adj" fmla="val 5634"/>
            </a:avLst>
          </a:prstGeom>
          <a:solidFill>
            <a:srgbClr val="FFF1DE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53" name="Text 23"/>
          <p:cNvSpPr/>
          <p:nvPr/>
        </p:nvSpPr>
        <p:spPr>
          <a:xfrm>
            <a:off x="758880" y="4434840"/>
            <a:ext cx="10688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สิ่งที่ต้องได้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24"/>
          <p:cNvSpPr/>
          <p:nvPr/>
        </p:nvSpPr>
        <p:spPr>
          <a:xfrm>
            <a:off x="758880" y="4763880"/>
            <a:ext cx="10688760" cy="78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ผลลัพธ์ของ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Algorithm A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และ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B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ต้องถูกต้องตรงกัน และโปรแกรมต้องแจ้ง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Error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ที่เหมาะสมเมื่อ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Input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ไม่ถูกต้อง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sldNum" idx="6"/>
          </p:nvPr>
        </p:nvSpPr>
        <p:spPr>
          <a:xfrm>
            <a:off x="11475720" y="651060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1B455245-DF1A-4002-9A3D-6F818271DAA6}" type="slidenum">
              <a: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rPr>
              <a:t>2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0"/>
          <p:cNvSpPr/>
          <p:nvPr/>
        </p:nvSpPr>
        <p:spPr>
          <a:xfrm>
            <a:off x="530280" y="329040"/>
            <a:ext cx="109720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3. Input, Output </a:t>
            </a:r>
            <a:r>
              <a:rPr lang="hi-IN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และ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Constraints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"/>
          <p:cNvSpPr/>
          <p:nvPr/>
        </p:nvSpPr>
        <p:spPr>
          <a:xfrm>
            <a:off x="548640" y="841320"/>
            <a:ext cx="10972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ขอบเขตตามโจทย์ </a:t>
            </a:r>
            <a:r>
              <a:rPr lang="en-US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ea typeface="TH Sarabun New"/>
              </a:rPr>
              <a:t>Group 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2"/>
          <p:cNvSpPr/>
          <p:nvPr/>
        </p:nvSpPr>
        <p:spPr>
          <a:xfrm>
            <a:off x="567000" y="1261800"/>
            <a:ext cx="3656880" cy="1828080"/>
          </a:xfrm>
          <a:prstGeom prst="roundRect">
            <a:avLst>
              <a:gd name="adj" fmla="val 4000"/>
            </a:avLst>
          </a:prstGeom>
          <a:solidFill>
            <a:srgbClr val="EAF0F8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59" name="Text 3"/>
          <p:cNvSpPr/>
          <p:nvPr/>
        </p:nvSpPr>
        <p:spPr>
          <a:xfrm>
            <a:off x="731520" y="1353240"/>
            <a:ext cx="3327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4"/>
          <p:cNvSpPr/>
          <p:nvPr/>
        </p:nvSpPr>
        <p:spPr>
          <a:xfrm>
            <a:off x="731520" y="1682640"/>
            <a:ext cx="332784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นิพจน์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Infix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• จำนวนเต็มบวก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• จำนวนหลายหลัก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• มีช่องว่างระหว่าง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Token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ได้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5"/>
          <p:cNvSpPr/>
          <p:nvPr/>
        </p:nvSpPr>
        <p:spPr>
          <a:xfrm>
            <a:off x="4416480" y="1261800"/>
            <a:ext cx="3428280" cy="1828080"/>
          </a:xfrm>
          <a:prstGeom prst="roundRect">
            <a:avLst>
              <a:gd name="adj" fmla="val 4000"/>
            </a:avLst>
          </a:prstGeom>
          <a:solidFill>
            <a:srgbClr val="E6F5F0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62" name="Text 6"/>
          <p:cNvSpPr/>
          <p:nvPr/>
        </p:nvSpPr>
        <p:spPr>
          <a:xfrm>
            <a:off x="4581000" y="1353240"/>
            <a:ext cx="30992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7"/>
          <p:cNvSpPr/>
          <p:nvPr/>
        </p:nvSpPr>
        <p:spPr>
          <a:xfrm>
            <a:off x="4581000" y="1682640"/>
            <a:ext cx="309924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• Postfix (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สำหรับ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Algorithm A)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• Result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• Error message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เมื่อ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Input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ผิด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Shape 8"/>
          <p:cNvSpPr/>
          <p:nvPr/>
        </p:nvSpPr>
        <p:spPr>
          <a:xfrm>
            <a:off x="8028360" y="1261800"/>
            <a:ext cx="3583800" cy="182808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65" name="Text 9"/>
          <p:cNvSpPr/>
          <p:nvPr/>
        </p:nvSpPr>
        <p:spPr>
          <a:xfrm>
            <a:off x="8192880" y="1353240"/>
            <a:ext cx="3254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รองรับ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0"/>
          <p:cNvSpPr/>
          <p:nvPr/>
        </p:nvSpPr>
        <p:spPr>
          <a:xfrm>
            <a:off x="8192880" y="1682640"/>
            <a:ext cx="325440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Operators: +  -  *  /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Parentheses: ( 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1"/>
          <p:cNvSpPr/>
          <p:nvPr/>
        </p:nvSpPr>
        <p:spPr>
          <a:xfrm>
            <a:off x="658440" y="3429000"/>
            <a:ext cx="2193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ไม่บังคับรองรับ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2"/>
          <p:cNvSpPr/>
          <p:nvPr/>
        </p:nvSpPr>
        <p:spPr>
          <a:xfrm>
            <a:off x="658440" y="3840480"/>
            <a:ext cx="1828080" cy="310320"/>
          </a:xfrm>
          <a:prstGeom prst="roundRect">
            <a:avLst>
              <a:gd name="adj" fmla="val 50000"/>
            </a:avLst>
          </a:prstGeom>
          <a:solidFill>
            <a:srgbClr val="7287A5"/>
          </a:solidFill>
          <a:ln w="12700">
            <a:solidFill>
              <a:srgbClr val="728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69" name="Text 13"/>
          <p:cNvSpPr/>
          <p:nvPr/>
        </p:nvSpPr>
        <p:spPr>
          <a:xfrm>
            <a:off x="658440" y="3849480"/>
            <a:ext cx="1828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H Sarabun New"/>
                <a:cs typeface="TH Sarabun New"/>
              </a:rPr>
              <a:t>ทศนิยม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4"/>
          <p:cNvSpPr/>
          <p:nvPr/>
        </p:nvSpPr>
        <p:spPr>
          <a:xfrm>
            <a:off x="2715840" y="3840480"/>
            <a:ext cx="1828080" cy="310320"/>
          </a:xfrm>
          <a:prstGeom prst="roundRect">
            <a:avLst>
              <a:gd name="adj" fmla="val 50000"/>
            </a:avLst>
          </a:prstGeom>
          <a:solidFill>
            <a:srgbClr val="7287A5"/>
          </a:solidFill>
          <a:ln w="12700">
            <a:solidFill>
              <a:srgbClr val="728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71" name="Text 15"/>
          <p:cNvSpPr/>
          <p:nvPr/>
        </p:nvSpPr>
        <p:spPr>
          <a:xfrm>
            <a:off x="2715840" y="3849480"/>
            <a:ext cx="1828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Unary Minus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16"/>
          <p:cNvSpPr/>
          <p:nvPr/>
        </p:nvSpPr>
        <p:spPr>
          <a:xfrm>
            <a:off x="4773240" y="3840480"/>
            <a:ext cx="1828080" cy="310320"/>
          </a:xfrm>
          <a:prstGeom prst="roundRect">
            <a:avLst>
              <a:gd name="adj" fmla="val 50000"/>
            </a:avLst>
          </a:prstGeom>
          <a:solidFill>
            <a:srgbClr val="7287A5"/>
          </a:solidFill>
          <a:ln w="12700">
            <a:solidFill>
              <a:srgbClr val="728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73" name="Text 17"/>
          <p:cNvSpPr/>
          <p:nvPr/>
        </p:nvSpPr>
        <p:spPr>
          <a:xfrm>
            <a:off x="4773240" y="3849480"/>
            <a:ext cx="1828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H Sarabun New"/>
                <a:cs typeface="TH Sarabun New"/>
              </a:rPr>
              <a:t>ตัวแปร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18"/>
          <p:cNvSpPr/>
          <p:nvPr/>
        </p:nvSpPr>
        <p:spPr>
          <a:xfrm>
            <a:off x="658440" y="4343400"/>
            <a:ext cx="1828080" cy="310320"/>
          </a:xfrm>
          <a:prstGeom prst="roundRect">
            <a:avLst>
              <a:gd name="adj" fmla="val 50000"/>
            </a:avLst>
          </a:prstGeom>
          <a:solidFill>
            <a:srgbClr val="7287A5"/>
          </a:solidFill>
          <a:ln w="12700">
            <a:solidFill>
              <a:srgbClr val="728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75" name="Text 19"/>
          <p:cNvSpPr/>
          <p:nvPr/>
        </p:nvSpPr>
        <p:spPr>
          <a:xfrm>
            <a:off x="658440" y="4352400"/>
            <a:ext cx="1828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Function </a:t>
            </a: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H Sarabun New"/>
                <a:cs typeface="TH Sarabun New"/>
              </a:rPr>
              <a:t>ทางคณิตศาสตร์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20"/>
          <p:cNvSpPr/>
          <p:nvPr/>
        </p:nvSpPr>
        <p:spPr>
          <a:xfrm>
            <a:off x="2715840" y="4343400"/>
            <a:ext cx="1828080" cy="310320"/>
          </a:xfrm>
          <a:prstGeom prst="roundRect">
            <a:avLst>
              <a:gd name="adj" fmla="val 50000"/>
            </a:avLst>
          </a:prstGeom>
          <a:solidFill>
            <a:srgbClr val="7287A5"/>
          </a:solidFill>
          <a:ln w="12700">
            <a:solidFill>
              <a:srgbClr val="7287A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77" name="Text 21"/>
          <p:cNvSpPr/>
          <p:nvPr/>
        </p:nvSpPr>
        <p:spPr>
          <a:xfrm>
            <a:off x="2715840" y="4352400"/>
            <a:ext cx="18280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[] </a:t>
            </a: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H Sarabun New"/>
                <a:cs typeface="TH Sarabun New"/>
              </a:rPr>
              <a:t>และ </a:t>
            </a: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TH Sarabun New"/>
                <a:ea typeface="TH Sarabun New"/>
              </a:rPr>
              <a:t>{}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22"/>
          <p:cNvSpPr/>
          <p:nvPr/>
        </p:nvSpPr>
        <p:spPr>
          <a:xfrm>
            <a:off x="6537960" y="3611880"/>
            <a:ext cx="5074200" cy="141660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79" name="Text 23"/>
          <p:cNvSpPr/>
          <p:nvPr/>
        </p:nvSpPr>
        <p:spPr>
          <a:xfrm>
            <a:off x="6702480" y="3703320"/>
            <a:ext cx="4745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Edge Cases </a:t>
            </a: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สำคัญ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4"/>
          <p:cNvSpPr/>
          <p:nvPr/>
        </p:nvSpPr>
        <p:spPr>
          <a:xfrm>
            <a:off x="6702480" y="4032360"/>
            <a:ext cx="4745160" cy="90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วงเล็บไม่สมดุล •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Operator/Operand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ผิดตำแหน่ง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หารด้วยศูนย์ • นิพจน์ว่าง •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Token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ไม่ถูกต้อง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sldNum" idx="7"/>
          </p:nvPr>
        </p:nvSpPr>
        <p:spPr>
          <a:xfrm>
            <a:off x="11475720" y="651060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45717656-62DA-44E9-8586-4199275249EF}" type="slidenum">
              <a: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rPr>
              <a:t>3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530280" y="329040"/>
            <a:ext cx="109720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4. Algorithm A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548640" y="841320"/>
            <a:ext cx="10972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แนวคิดหลัก</a:t>
            </a:r>
            <a:r>
              <a:rPr lang="en-US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ea typeface="TH Sarabun New"/>
              </a:rPr>
              <a:t>: </a:t>
            </a:r>
            <a:r>
              <a:rPr lang="hi-IN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แยก “การจัดลำดับ” ออกจาก “การคำนวณ”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Shape 2"/>
          <p:cNvSpPr/>
          <p:nvPr/>
        </p:nvSpPr>
        <p:spPr>
          <a:xfrm>
            <a:off x="594360" y="1243440"/>
            <a:ext cx="1572120" cy="310320"/>
          </a:xfrm>
          <a:prstGeom prst="roundRect">
            <a:avLst>
              <a:gd name="adj" fmla="val 50000"/>
            </a:avLst>
          </a:prstGeom>
          <a:solidFill>
            <a:srgbClr val="2C4670"/>
          </a:solidFill>
          <a:ln w="12700">
            <a:solidFill>
              <a:srgbClr val="2C467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85" name="Text 3"/>
          <p:cNvSpPr/>
          <p:nvPr/>
        </p:nvSpPr>
        <p:spPr>
          <a:xfrm>
            <a:off x="594360" y="1252800"/>
            <a:ext cx="157212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300" b="1" u="none" strike="noStrike">
                <a:solidFill>
                  <a:srgbClr val="FFFFFF"/>
                </a:solidFill>
                <a:effectLst/>
                <a:uFillTx/>
                <a:latin typeface="TH Sarabun New"/>
                <a:cs typeface="TH Sarabun New"/>
              </a:rPr>
              <a:t>แนวคิดหลัก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4"/>
          <p:cNvSpPr/>
          <p:nvPr/>
        </p:nvSpPr>
        <p:spPr>
          <a:xfrm>
            <a:off x="2267640" y="1243440"/>
            <a:ext cx="93261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อ่าน </a:t>
            </a:r>
            <a:r>
              <a:rPr lang="en-US" sz="1800" b="1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Token </a:t>
            </a:r>
            <a:r>
              <a:rPr lang="hi-IN" sz="1800" b="1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ซ้ายไปขวา → ใช้ </a:t>
            </a:r>
            <a:r>
              <a:rPr lang="en-US" sz="1800" b="1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Operator Stack </a:t>
            </a:r>
            <a:r>
              <a:rPr lang="hi-IN" sz="1800" b="1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จัด </a:t>
            </a:r>
            <a:r>
              <a:rPr lang="en-US" sz="1800" b="1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Priority/Parentheses → </a:t>
            </a:r>
            <a:r>
              <a:rPr lang="hi-IN" sz="1800" b="1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สร้าง </a:t>
            </a:r>
            <a:r>
              <a:rPr lang="en-US" sz="1800" b="1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Postfix → </a:t>
            </a:r>
            <a:r>
              <a:rPr lang="hi-IN" sz="1800" b="1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ประเมินด้วย </a:t>
            </a:r>
            <a:r>
              <a:rPr lang="en-US" sz="1800" b="1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Operand Stack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5"/>
          <p:cNvSpPr/>
          <p:nvPr/>
        </p:nvSpPr>
        <p:spPr>
          <a:xfrm>
            <a:off x="594360" y="1828800"/>
            <a:ext cx="3382560" cy="1828080"/>
          </a:xfrm>
          <a:prstGeom prst="roundRect">
            <a:avLst>
              <a:gd name="adj" fmla="val 4000"/>
            </a:avLst>
          </a:prstGeom>
          <a:solidFill>
            <a:srgbClr val="EAF0F8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88" name="Text 6"/>
          <p:cNvSpPr/>
          <p:nvPr/>
        </p:nvSpPr>
        <p:spPr>
          <a:xfrm>
            <a:off x="758880" y="1920240"/>
            <a:ext cx="305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INPUT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7"/>
          <p:cNvSpPr/>
          <p:nvPr/>
        </p:nvSpPr>
        <p:spPr>
          <a:xfrm>
            <a:off x="758880" y="2249280"/>
            <a:ext cx="305352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Infix expression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เช่น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 + 4 * 2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8"/>
          <p:cNvSpPr/>
          <p:nvPr/>
        </p:nvSpPr>
        <p:spPr>
          <a:xfrm>
            <a:off x="4005000" y="2743200"/>
            <a:ext cx="310680" cy="360"/>
          </a:xfrm>
          <a:prstGeom prst="line">
            <a:avLst/>
          </a:prstGeom>
          <a:ln w="25400">
            <a:solidFill>
              <a:srgbClr val="2C467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91" name="Shape 9"/>
          <p:cNvSpPr/>
          <p:nvPr/>
        </p:nvSpPr>
        <p:spPr>
          <a:xfrm>
            <a:off x="4407480" y="1828800"/>
            <a:ext cx="3382560" cy="1828080"/>
          </a:xfrm>
          <a:prstGeom prst="roundRect">
            <a:avLst>
              <a:gd name="adj" fmla="val 4000"/>
            </a:avLst>
          </a:prstGeom>
          <a:solidFill>
            <a:srgbClr val="E6F5F0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4572000" y="1920240"/>
            <a:ext cx="305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PROCESS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1"/>
          <p:cNvSpPr/>
          <p:nvPr/>
        </p:nvSpPr>
        <p:spPr>
          <a:xfrm>
            <a:off x="4572000" y="2249280"/>
            <a:ext cx="305352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1) Infix → Postfix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2) Postfix → Result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12"/>
          <p:cNvSpPr/>
          <p:nvPr/>
        </p:nvSpPr>
        <p:spPr>
          <a:xfrm>
            <a:off x="7818120" y="2743200"/>
            <a:ext cx="310680" cy="360"/>
          </a:xfrm>
          <a:prstGeom prst="line">
            <a:avLst/>
          </a:prstGeom>
          <a:ln w="25400">
            <a:solidFill>
              <a:srgbClr val="2C467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95" name="Shape 13"/>
          <p:cNvSpPr/>
          <p:nvPr/>
        </p:nvSpPr>
        <p:spPr>
          <a:xfrm>
            <a:off x="8211240" y="1828800"/>
            <a:ext cx="3382560" cy="1828080"/>
          </a:xfrm>
          <a:prstGeom prst="roundRect">
            <a:avLst>
              <a:gd name="adj" fmla="val 4000"/>
            </a:avLst>
          </a:prstGeom>
          <a:solidFill>
            <a:srgbClr val="FFF1DE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96" name="Text 14"/>
          <p:cNvSpPr/>
          <p:nvPr/>
        </p:nvSpPr>
        <p:spPr>
          <a:xfrm>
            <a:off x="8375760" y="1920240"/>
            <a:ext cx="305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5"/>
          <p:cNvSpPr/>
          <p:nvPr/>
        </p:nvSpPr>
        <p:spPr>
          <a:xfrm>
            <a:off x="8375760" y="2249280"/>
            <a:ext cx="3053520" cy="131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Postfix: 3 4 2 * +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Result: 11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16"/>
          <p:cNvSpPr/>
          <p:nvPr/>
        </p:nvSpPr>
        <p:spPr>
          <a:xfrm>
            <a:off x="594360" y="4069080"/>
            <a:ext cx="5348520" cy="132516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99" name="Text 17"/>
          <p:cNvSpPr/>
          <p:nvPr/>
        </p:nvSpPr>
        <p:spPr>
          <a:xfrm>
            <a:off x="758880" y="4160520"/>
            <a:ext cx="5019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ข้อดี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8"/>
          <p:cNvSpPr/>
          <p:nvPr/>
        </p:nvSpPr>
        <p:spPr>
          <a:xfrm>
            <a:off x="758880" y="4489560"/>
            <a:ext cx="501948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แบ่งขั้นตอนชัดเจน • ตรวจสอบ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/Debug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ง่าย •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Postfix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ใช้ซ้ำได้ในขั้นคำนวณ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Shape 19"/>
          <p:cNvSpPr/>
          <p:nvPr/>
        </p:nvSpPr>
        <p:spPr>
          <a:xfrm>
            <a:off x="6172200" y="4069080"/>
            <a:ext cx="5421600" cy="1325160"/>
          </a:xfrm>
          <a:prstGeom prst="roundRect">
            <a:avLst>
              <a:gd name="adj" fmla="val 5517"/>
            </a:avLst>
          </a:prstGeom>
          <a:solidFill>
            <a:srgbClr val="F8FAFC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02" name="Text 20"/>
          <p:cNvSpPr/>
          <p:nvPr/>
        </p:nvSpPr>
        <p:spPr>
          <a:xfrm>
            <a:off x="6336720" y="4160520"/>
            <a:ext cx="5092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ข้อจำกัด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1"/>
          <p:cNvSpPr/>
          <p:nvPr/>
        </p:nvSpPr>
        <p:spPr>
          <a:xfrm>
            <a:off x="6336720" y="4489560"/>
            <a:ext cx="5092560" cy="81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ต้องเก็บ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Postfix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เพิ่ม • มี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2 Phase •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ใช้พื้นที่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O(n)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ในภาพรวม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1"/>
          <p:cNvSpPr>
            <a:spLocks noGrp="1"/>
          </p:cNvSpPr>
          <p:nvPr>
            <p:ph type="sldNum" idx="8"/>
          </p:nvPr>
        </p:nvSpPr>
        <p:spPr>
          <a:xfrm>
            <a:off x="11475720" y="651060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FEDA806-5160-4B30-961E-432A72AABC95}" type="slidenum">
              <a: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rPr>
              <a:t>4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 0"/>
          <p:cNvSpPr/>
          <p:nvPr/>
        </p:nvSpPr>
        <p:spPr>
          <a:xfrm>
            <a:off x="530280" y="329040"/>
            <a:ext cx="109720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5. Algorithm B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548640" y="841320"/>
            <a:ext cx="10972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แนวคิดหลัก</a:t>
            </a:r>
            <a:r>
              <a:rPr lang="en-US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ea typeface="TH Sarabun New"/>
              </a:rPr>
              <a:t>: </a:t>
            </a:r>
            <a:r>
              <a:rPr lang="hi-IN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คำนวณตรงจาก </a:t>
            </a:r>
            <a:r>
              <a:rPr lang="en-US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ea typeface="TH Sarabun New"/>
              </a:rPr>
              <a:t>Infix </a:t>
            </a:r>
            <a:r>
              <a:rPr lang="hi-IN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โดยไม่สร้าง </a:t>
            </a:r>
            <a:r>
              <a:rPr lang="en-US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ea typeface="TH Sarabun New"/>
              </a:rPr>
              <a:t>Postfix </a:t>
            </a:r>
            <a:r>
              <a:rPr lang="hi-IN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เป็นผลลัพธ์กลาง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2"/>
          <p:cNvSpPr/>
          <p:nvPr/>
        </p:nvSpPr>
        <p:spPr>
          <a:xfrm>
            <a:off x="594360" y="1371600"/>
            <a:ext cx="3382560" cy="2971080"/>
          </a:xfrm>
          <a:prstGeom prst="roundRect">
            <a:avLst>
              <a:gd name="adj" fmla="val 2462"/>
            </a:avLst>
          </a:prstGeom>
          <a:solidFill>
            <a:srgbClr val="EAF0F8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758880" y="1463040"/>
            <a:ext cx="305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โครงสร้าง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4"/>
          <p:cNvSpPr/>
          <p:nvPr/>
        </p:nvSpPr>
        <p:spPr>
          <a:xfrm>
            <a:off x="758880" y="1792080"/>
            <a:ext cx="3053520" cy="245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Operand Stack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เก็บค่าตัวเลข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/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ผลลัพธ์ย่อย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Operator Stack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เก็บ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operator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และวงเล็บ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5"/>
          <p:cNvSpPr/>
          <p:nvPr/>
        </p:nvSpPr>
        <p:spPr>
          <a:xfrm>
            <a:off x="4407480" y="1371600"/>
            <a:ext cx="3382560" cy="2971080"/>
          </a:xfrm>
          <a:prstGeom prst="roundRect">
            <a:avLst>
              <a:gd name="adj" fmla="val 2462"/>
            </a:avLst>
          </a:prstGeom>
          <a:solidFill>
            <a:srgbClr val="E6F5F0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4572000" y="1463040"/>
            <a:ext cx="305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การทำงาน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7"/>
          <p:cNvSpPr/>
          <p:nvPr/>
        </p:nvSpPr>
        <p:spPr>
          <a:xfrm>
            <a:off x="4572000" y="1792080"/>
            <a:ext cx="3053520" cy="245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Operand → push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Operator →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เปรียบเทียบ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Priority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และลดรูป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operator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ที่รออยู่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“(” → push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8"/>
          <p:cNvSpPr/>
          <p:nvPr/>
        </p:nvSpPr>
        <p:spPr>
          <a:xfrm>
            <a:off x="8220600" y="1371600"/>
            <a:ext cx="3382560" cy="2971080"/>
          </a:xfrm>
          <a:prstGeom prst="roundRect">
            <a:avLst>
              <a:gd name="adj" fmla="val 2462"/>
            </a:avLst>
          </a:prstGeom>
          <a:solidFill>
            <a:srgbClr val="FFF1DE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14" name="Text 9"/>
          <p:cNvSpPr/>
          <p:nvPr/>
        </p:nvSpPr>
        <p:spPr>
          <a:xfrm>
            <a:off x="8385120" y="1463040"/>
            <a:ext cx="30535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OUTPUT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10"/>
          <p:cNvSpPr/>
          <p:nvPr/>
        </p:nvSpPr>
        <p:spPr>
          <a:xfrm>
            <a:off x="8385120" y="1792080"/>
            <a:ext cx="3053520" cy="245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Result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โดยตรง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 + 4 * 2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→ 11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ไม่ต้องเก็บ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Postfix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เป็น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output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แยก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1"/>
          <p:cNvSpPr/>
          <p:nvPr/>
        </p:nvSpPr>
        <p:spPr>
          <a:xfrm>
            <a:off x="594360" y="4663440"/>
            <a:ext cx="5394240" cy="105084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758880" y="4754880"/>
            <a:ext cx="506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ข้อดี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3"/>
          <p:cNvSpPr/>
          <p:nvPr/>
        </p:nvSpPr>
        <p:spPr>
          <a:xfrm>
            <a:off x="758880" y="5083920"/>
            <a:ext cx="5065200" cy="5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คำนวณจบในรอบเดียว • ไม่ต้องสร้าง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Postfix output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4"/>
          <p:cNvSpPr/>
          <p:nvPr/>
        </p:nvSpPr>
        <p:spPr>
          <a:xfrm>
            <a:off x="6172200" y="4663440"/>
            <a:ext cx="5421600" cy="105084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20" name="Text 15"/>
          <p:cNvSpPr/>
          <p:nvPr/>
        </p:nvSpPr>
        <p:spPr>
          <a:xfrm>
            <a:off x="6336720" y="4754880"/>
            <a:ext cx="5092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ข้อจำกัด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6"/>
          <p:cNvSpPr/>
          <p:nvPr/>
        </p:nvSpPr>
        <p:spPr>
          <a:xfrm>
            <a:off x="6336720" y="5083920"/>
            <a:ext cx="5092560" cy="5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Logic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ซับซ้อนกว่า •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Debug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ยากกว่า • ต้องจัดการ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2 Stack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พร้อมกัน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sldNum" idx="9"/>
          </p:nvPr>
        </p:nvSpPr>
        <p:spPr>
          <a:xfrm>
            <a:off x="11475720" y="651060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E5F5A3B4-2EC3-4532-A706-727667DFEA6C}" type="slidenum">
              <a: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rPr>
              <a:t>5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 0"/>
          <p:cNvSpPr/>
          <p:nvPr/>
        </p:nvSpPr>
        <p:spPr>
          <a:xfrm>
            <a:off x="530280" y="329040"/>
            <a:ext cx="109720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6. </a:t>
            </a:r>
            <a:r>
              <a:rPr lang="hi-IN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ตัวอย่าง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Step-by-step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"/>
          <p:cNvSpPr/>
          <p:nvPr/>
        </p:nvSpPr>
        <p:spPr>
          <a:xfrm>
            <a:off x="548640" y="841320"/>
            <a:ext cx="10972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Algorithm A • </a:t>
            </a:r>
            <a:r>
              <a:rPr lang="hi-IN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นิพจน์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3 + 4 * 2 — </a:t>
            </a:r>
            <a:r>
              <a:rPr lang="hi-IN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แสดง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Stack </a:t>
            </a:r>
            <a:r>
              <a:rPr lang="hi-IN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หลังอ่านแต่ละ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Token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2"/>
          <p:cNvSpPr/>
          <p:nvPr/>
        </p:nvSpPr>
        <p:spPr>
          <a:xfrm>
            <a:off x="548640" y="1243440"/>
            <a:ext cx="685080" cy="438120"/>
          </a:xfrm>
          <a:prstGeom prst="rect">
            <a:avLst/>
          </a:prstGeom>
          <a:solidFill>
            <a:srgbClr val="EAF0F8"/>
          </a:solidFill>
          <a:ln w="1270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26" name="Text 3"/>
          <p:cNvSpPr/>
          <p:nvPr/>
        </p:nvSpPr>
        <p:spPr>
          <a:xfrm>
            <a:off x="621720" y="1261800"/>
            <a:ext cx="5389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#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4"/>
          <p:cNvSpPr/>
          <p:nvPr/>
        </p:nvSpPr>
        <p:spPr>
          <a:xfrm>
            <a:off x="1234440" y="1243440"/>
            <a:ext cx="1508040" cy="438120"/>
          </a:xfrm>
          <a:prstGeom prst="rect">
            <a:avLst/>
          </a:prstGeom>
          <a:solidFill>
            <a:srgbClr val="EAF0F8"/>
          </a:solidFill>
          <a:ln w="1270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28" name="Text 5"/>
          <p:cNvSpPr/>
          <p:nvPr/>
        </p:nvSpPr>
        <p:spPr>
          <a:xfrm>
            <a:off x="1307520" y="1261800"/>
            <a:ext cx="136188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Token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6"/>
          <p:cNvSpPr/>
          <p:nvPr/>
        </p:nvSpPr>
        <p:spPr>
          <a:xfrm>
            <a:off x="2743200" y="1243440"/>
            <a:ext cx="4754160" cy="438120"/>
          </a:xfrm>
          <a:prstGeom prst="rect">
            <a:avLst/>
          </a:prstGeom>
          <a:solidFill>
            <a:srgbClr val="EAF0F8"/>
          </a:solidFill>
          <a:ln w="1270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30" name="Text 7"/>
          <p:cNvSpPr/>
          <p:nvPr/>
        </p:nvSpPr>
        <p:spPr>
          <a:xfrm>
            <a:off x="2816280" y="1261800"/>
            <a:ext cx="46080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Operator Stack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8"/>
          <p:cNvSpPr/>
          <p:nvPr/>
        </p:nvSpPr>
        <p:spPr>
          <a:xfrm>
            <a:off x="7498080" y="1243440"/>
            <a:ext cx="1828080" cy="438120"/>
          </a:xfrm>
          <a:prstGeom prst="rect">
            <a:avLst/>
          </a:prstGeom>
          <a:solidFill>
            <a:srgbClr val="EAF0F8"/>
          </a:solidFill>
          <a:ln w="1270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32" name="Text 9"/>
          <p:cNvSpPr/>
          <p:nvPr/>
        </p:nvSpPr>
        <p:spPr>
          <a:xfrm>
            <a:off x="7571160" y="1261800"/>
            <a:ext cx="168192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7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สถานะ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0"/>
          <p:cNvSpPr/>
          <p:nvPr/>
        </p:nvSpPr>
        <p:spPr>
          <a:xfrm>
            <a:off x="9326880" y="1243440"/>
            <a:ext cx="3153960" cy="438120"/>
          </a:xfrm>
          <a:prstGeom prst="rect">
            <a:avLst/>
          </a:prstGeom>
          <a:solidFill>
            <a:srgbClr val="EAF0F8"/>
          </a:solidFill>
          <a:ln w="1270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34" name="Text 11"/>
          <p:cNvSpPr/>
          <p:nvPr/>
        </p:nvSpPr>
        <p:spPr>
          <a:xfrm>
            <a:off x="9399960" y="1261800"/>
            <a:ext cx="30078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Output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12"/>
          <p:cNvSpPr/>
          <p:nvPr/>
        </p:nvSpPr>
        <p:spPr>
          <a:xfrm>
            <a:off x="548640" y="1682640"/>
            <a:ext cx="685080" cy="483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36" name="Text 13"/>
          <p:cNvSpPr/>
          <p:nvPr/>
        </p:nvSpPr>
        <p:spPr>
          <a:xfrm>
            <a:off x="612720" y="1700640"/>
            <a:ext cx="5569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1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4"/>
          <p:cNvSpPr/>
          <p:nvPr/>
        </p:nvSpPr>
        <p:spPr>
          <a:xfrm>
            <a:off x="1234440" y="1682640"/>
            <a:ext cx="1508040" cy="483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38" name="Text 15"/>
          <p:cNvSpPr/>
          <p:nvPr/>
        </p:nvSpPr>
        <p:spPr>
          <a:xfrm>
            <a:off x="1298520" y="1700640"/>
            <a:ext cx="13798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6"/>
          <p:cNvSpPr/>
          <p:nvPr/>
        </p:nvSpPr>
        <p:spPr>
          <a:xfrm>
            <a:off x="2743200" y="1682640"/>
            <a:ext cx="4754160" cy="483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40" name="Text 17"/>
          <p:cNvSpPr/>
          <p:nvPr/>
        </p:nvSpPr>
        <p:spPr>
          <a:xfrm>
            <a:off x="2807280" y="1700640"/>
            <a:ext cx="46260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∅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18"/>
          <p:cNvSpPr/>
          <p:nvPr/>
        </p:nvSpPr>
        <p:spPr>
          <a:xfrm>
            <a:off x="7498080" y="1682640"/>
            <a:ext cx="1828080" cy="483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42" name="Text 19"/>
          <p:cNvSpPr/>
          <p:nvPr/>
        </p:nvSpPr>
        <p:spPr>
          <a:xfrm>
            <a:off x="7562160" y="1700640"/>
            <a:ext cx="16999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อ่าน </a:t>
            </a: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Operand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0"/>
          <p:cNvSpPr/>
          <p:nvPr/>
        </p:nvSpPr>
        <p:spPr>
          <a:xfrm>
            <a:off x="9326880" y="1682640"/>
            <a:ext cx="3153960" cy="483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44" name="Text 21"/>
          <p:cNvSpPr/>
          <p:nvPr/>
        </p:nvSpPr>
        <p:spPr>
          <a:xfrm>
            <a:off x="9390960" y="1700640"/>
            <a:ext cx="30258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22"/>
          <p:cNvSpPr/>
          <p:nvPr/>
        </p:nvSpPr>
        <p:spPr>
          <a:xfrm>
            <a:off x="548640" y="2167200"/>
            <a:ext cx="685080" cy="48384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46" name="Text 23"/>
          <p:cNvSpPr/>
          <p:nvPr/>
        </p:nvSpPr>
        <p:spPr>
          <a:xfrm>
            <a:off x="612720" y="2185560"/>
            <a:ext cx="5569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2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4"/>
          <p:cNvSpPr/>
          <p:nvPr/>
        </p:nvSpPr>
        <p:spPr>
          <a:xfrm>
            <a:off x="1234440" y="2167200"/>
            <a:ext cx="1508040" cy="48384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48" name="Text 25"/>
          <p:cNvSpPr/>
          <p:nvPr/>
        </p:nvSpPr>
        <p:spPr>
          <a:xfrm>
            <a:off x="1298520" y="2185560"/>
            <a:ext cx="13798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+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6"/>
          <p:cNvSpPr/>
          <p:nvPr/>
        </p:nvSpPr>
        <p:spPr>
          <a:xfrm>
            <a:off x="2743200" y="2167200"/>
            <a:ext cx="4754160" cy="48384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50" name="Text 27"/>
          <p:cNvSpPr/>
          <p:nvPr/>
        </p:nvSpPr>
        <p:spPr>
          <a:xfrm>
            <a:off x="2807280" y="2185560"/>
            <a:ext cx="46260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+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28"/>
          <p:cNvSpPr/>
          <p:nvPr/>
        </p:nvSpPr>
        <p:spPr>
          <a:xfrm>
            <a:off x="7498080" y="2167200"/>
            <a:ext cx="1828080" cy="48384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52" name="Text 29"/>
          <p:cNvSpPr/>
          <p:nvPr/>
        </p:nvSpPr>
        <p:spPr>
          <a:xfrm>
            <a:off x="7562160" y="2185560"/>
            <a:ext cx="16999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push +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30"/>
          <p:cNvSpPr/>
          <p:nvPr/>
        </p:nvSpPr>
        <p:spPr>
          <a:xfrm>
            <a:off x="9326880" y="2167200"/>
            <a:ext cx="3153960" cy="48384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54" name="Text 31"/>
          <p:cNvSpPr/>
          <p:nvPr/>
        </p:nvSpPr>
        <p:spPr>
          <a:xfrm>
            <a:off x="9390960" y="2185560"/>
            <a:ext cx="30258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32"/>
          <p:cNvSpPr/>
          <p:nvPr/>
        </p:nvSpPr>
        <p:spPr>
          <a:xfrm>
            <a:off x="548640" y="2651760"/>
            <a:ext cx="685080" cy="483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56" name="Text 33"/>
          <p:cNvSpPr/>
          <p:nvPr/>
        </p:nvSpPr>
        <p:spPr>
          <a:xfrm>
            <a:off x="612720" y="2670120"/>
            <a:ext cx="5569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4"/>
          <p:cNvSpPr/>
          <p:nvPr/>
        </p:nvSpPr>
        <p:spPr>
          <a:xfrm>
            <a:off x="1234440" y="2651760"/>
            <a:ext cx="1508040" cy="483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58" name="Text 35"/>
          <p:cNvSpPr/>
          <p:nvPr/>
        </p:nvSpPr>
        <p:spPr>
          <a:xfrm>
            <a:off x="1298520" y="2670120"/>
            <a:ext cx="13798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4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6"/>
          <p:cNvSpPr/>
          <p:nvPr/>
        </p:nvSpPr>
        <p:spPr>
          <a:xfrm>
            <a:off x="2743200" y="2651760"/>
            <a:ext cx="4754160" cy="483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60" name="Text 37"/>
          <p:cNvSpPr/>
          <p:nvPr/>
        </p:nvSpPr>
        <p:spPr>
          <a:xfrm>
            <a:off x="2807280" y="2670120"/>
            <a:ext cx="46260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+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Shape 38"/>
          <p:cNvSpPr/>
          <p:nvPr/>
        </p:nvSpPr>
        <p:spPr>
          <a:xfrm>
            <a:off x="7498080" y="2651760"/>
            <a:ext cx="1828080" cy="483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62" name="Text 39"/>
          <p:cNvSpPr/>
          <p:nvPr/>
        </p:nvSpPr>
        <p:spPr>
          <a:xfrm>
            <a:off x="7562160" y="2670120"/>
            <a:ext cx="16999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อ่าน </a:t>
            </a: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Operand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40"/>
          <p:cNvSpPr/>
          <p:nvPr/>
        </p:nvSpPr>
        <p:spPr>
          <a:xfrm>
            <a:off x="9326880" y="2651760"/>
            <a:ext cx="3153960" cy="483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64" name="Text 41"/>
          <p:cNvSpPr/>
          <p:nvPr/>
        </p:nvSpPr>
        <p:spPr>
          <a:xfrm>
            <a:off x="9390960" y="2670120"/>
            <a:ext cx="30258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3 4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42"/>
          <p:cNvSpPr/>
          <p:nvPr/>
        </p:nvSpPr>
        <p:spPr>
          <a:xfrm>
            <a:off x="548640" y="3136320"/>
            <a:ext cx="685080" cy="48384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66" name="Text 43"/>
          <p:cNvSpPr/>
          <p:nvPr/>
        </p:nvSpPr>
        <p:spPr>
          <a:xfrm>
            <a:off x="612720" y="3154680"/>
            <a:ext cx="5569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4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44"/>
          <p:cNvSpPr/>
          <p:nvPr/>
        </p:nvSpPr>
        <p:spPr>
          <a:xfrm>
            <a:off x="1234440" y="3136320"/>
            <a:ext cx="1508040" cy="48384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68" name="Text 45"/>
          <p:cNvSpPr/>
          <p:nvPr/>
        </p:nvSpPr>
        <p:spPr>
          <a:xfrm>
            <a:off x="1298520" y="3154680"/>
            <a:ext cx="13798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*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46"/>
          <p:cNvSpPr/>
          <p:nvPr/>
        </p:nvSpPr>
        <p:spPr>
          <a:xfrm>
            <a:off x="2743200" y="3136320"/>
            <a:ext cx="4754160" cy="48384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70" name="Text 47"/>
          <p:cNvSpPr/>
          <p:nvPr/>
        </p:nvSpPr>
        <p:spPr>
          <a:xfrm>
            <a:off x="2807280" y="3154680"/>
            <a:ext cx="46260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+ *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Shape 48"/>
          <p:cNvSpPr/>
          <p:nvPr/>
        </p:nvSpPr>
        <p:spPr>
          <a:xfrm>
            <a:off x="7498080" y="3136320"/>
            <a:ext cx="1828080" cy="48384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72" name="Text 49"/>
          <p:cNvSpPr/>
          <p:nvPr/>
        </p:nvSpPr>
        <p:spPr>
          <a:xfrm>
            <a:off x="7562160" y="3154680"/>
            <a:ext cx="16999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* </a:t>
            </a:r>
            <a:r>
              <a:rPr lang="hi-IN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สูงกว่า </a:t>
            </a: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+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50"/>
          <p:cNvSpPr/>
          <p:nvPr/>
        </p:nvSpPr>
        <p:spPr>
          <a:xfrm>
            <a:off x="9326880" y="3136320"/>
            <a:ext cx="3153960" cy="48384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74" name="Text 51"/>
          <p:cNvSpPr/>
          <p:nvPr/>
        </p:nvSpPr>
        <p:spPr>
          <a:xfrm>
            <a:off x="9390960" y="3154680"/>
            <a:ext cx="30258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3 4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52"/>
          <p:cNvSpPr/>
          <p:nvPr/>
        </p:nvSpPr>
        <p:spPr>
          <a:xfrm>
            <a:off x="548640" y="3620880"/>
            <a:ext cx="685080" cy="483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76" name="Text 53"/>
          <p:cNvSpPr/>
          <p:nvPr/>
        </p:nvSpPr>
        <p:spPr>
          <a:xfrm>
            <a:off x="612720" y="3639240"/>
            <a:ext cx="5569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5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4"/>
          <p:cNvSpPr/>
          <p:nvPr/>
        </p:nvSpPr>
        <p:spPr>
          <a:xfrm>
            <a:off x="1234440" y="3620880"/>
            <a:ext cx="1508040" cy="483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78" name="Text 55"/>
          <p:cNvSpPr/>
          <p:nvPr/>
        </p:nvSpPr>
        <p:spPr>
          <a:xfrm>
            <a:off x="1298520" y="3639240"/>
            <a:ext cx="13798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2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56"/>
          <p:cNvSpPr/>
          <p:nvPr/>
        </p:nvSpPr>
        <p:spPr>
          <a:xfrm>
            <a:off x="2743200" y="3620880"/>
            <a:ext cx="4754160" cy="483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80" name="Text 57"/>
          <p:cNvSpPr/>
          <p:nvPr/>
        </p:nvSpPr>
        <p:spPr>
          <a:xfrm>
            <a:off x="2807280" y="3639240"/>
            <a:ext cx="46260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+ *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58"/>
          <p:cNvSpPr/>
          <p:nvPr/>
        </p:nvSpPr>
        <p:spPr>
          <a:xfrm>
            <a:off x="7498080" y="3620880"/>
            <a:ext cx="1828080" cy="483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82" name="Text 59"/>
          <p:cNvSpPr/>
          <p:nvPr/>
        </p:nvSpPr>
        <p:spPr>
          <a:xfrm>
            <a:off x="7562160" y="3639240"/>
            <a:ext cx="16999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อ่าน </a:t>
            </a: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Operand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60"/>
          <p:cNvSpPr/>
          <p:nvPr/>
        </p:nvSpPr>
        <p:spPr>
          <a:xfrm>
            <a:off x="9326880" y="3620880"/>
            <a:ext cx="3153960" cy="48384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84" name="Text 61"/>
          <p:cNvSpPr/>
          <p:nvPr/>
        </p:nvSpPr>
        <p:spPr>
          <a:xfrm>
            <a:off x="9390960" y="3639240"/>
            <a:ext cx="30258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3 4 2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62"/>
          <p:cNvSpPr/>
          <p:nvPr/>
        </p:nvSpPr>
        <p:spPr>
          <a:xfrm>
            <a:off x="548640" y="4105800"/>
            <a:ext cx="685080" cy="48384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86" name="Text 63"/>
          <p:cNvSpPr/>
          <p:nvPr/>
        </p:nvSpPr>
        <p:spPr>
          <a:xfrm>
            <a:off x="612720" y="4123800"/>
            <a:ext cx="5569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6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64"/>
          <p:cNvSpPr/>
          <p:nvPr/>
        </p:nvSpPr>
        <p:spPr>
          <a:xfrm>
            <a:off x="1234440" y="4105800"/>
            <a:ext cx="1508040" cy="48384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88" name="Text 65"/>
          <p:cNvSpPr/>
          <p:nvPr/>
        </p:nvSpPr>
        <p:spPr>
          <a:xfrm>
            <a:off x="1298520" y="4123800"/>
            <a:ext cx="137988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END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66"/>
          <p:cNvSpPr/>
          <p:nvPr/>
        </p:nvSpPr>
        <p:spPr>
          <a:xfrm>
            <a:off x="2743200" y="4105800"/>
            <a:ext cx="4754160" cy="48384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90" name="Text 67"/>
          <p:cNvSpPr/>
          <p:nvPr/>
        </p:nvSpPr>
        <p:spPr>
          <a:xfrm>
            <a:off x="2807280" y="4123800"/>
            <a:ext cx="46260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∅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68"/>
          <p:cNvSpPr/>
          <p:nvPr/>
        </p:nvSpPr>
        <p:spPr>
          <a:xfrm>
            <a:off x="7498080" y="4105800"/>
            <a:ext cx="1828080" cy="48384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92" name="Text 69"/>
          <p:cNvSpPr/>
          <p:nvPr/>
        </p:nvSpPr>
        <p:spPr>
          <a:xfrm>
            <a:off x="7562160" y="4123800"/>
            <a:ext cx="169992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Postfix </a:t>
            </a:r>
            <a:r>
              <a:rPr lang="hi-IN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พร้อม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70"/>
          <p:cNvSpPr/>
          <p:nvPr/>
        </p:nvSpPr>
        <p:spPr>
          <a:xfrm>
            <a:off x="9326880" y="4105800"/>
            <a:ext cx="3153960" cy="48384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94" name="Text 71"/>
          <p:cNvSpPr/>
          <p:nvPr/>
        </p:nvSpPr>
        <p:spPr>
          <a:xfrm>
            <a:off x="9390960" y="4123800"/>
            <a:ext cx="30258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7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 4 2 * +</a:t>
            </a:r>
            <a:endParaRPr lang="en-US" sz="12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72"/>
          <p:cNvSpPr/>
          <p:nvPr/>
        </p:nvSpPr>
        <p:spPr>
          <a:xfrm>
            <a:off x="567000" y="5074920"/>
            <a:ext cx="3656880" cy="803880"/>
          </a:xfrm>
          <a:prstGeom prst="roundRect">
            <a:avLst>
              <a:gd name="adj" fmla="val 9091"/>
            </a:avLst>
          </a:prstGeom>
          <a:solidFill>
            <a:srgbClr val="E6F5F0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96" name="Text 73"/>
          <p:cNvSpPr/>
          <p:nvPr/>
        </p:nvSpPr>
        <p:spPr>
          <a:xfrm>
            <a:off x="731520" y="5166360"/>
            <a:ext cx="3327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Postfix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74"/>
          <p:cNvSpPr/>
          <p:nvPr/>
        </p:nvSpPr>
        <p:spPr>
          <a:xfrm>
            <a:off x="731520" y="5495400"/>
            <a:ext cx="3327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 4 2 * +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75"/>
          <p:cNvSpPr/>
          <p:nvPr/>
        </p:nvSpPr>
        <p:spPr>
          <a:xfrm>
            <a:off x="4407480" y="5074920"/>
            <a:ext cx="2925360" cy="803880"/>
          </a:xfrm>
          <a:prstGeom prst="roundRect">
            <a:avLst>
              <a:gd name="adj" fmla="val 9091"/>
            </a:avLst>
          </a:prstGeom>
          <a:solidFill>
            <a:srgbClr val="EAF0F8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199" name="Text 76"/>
          <p:cNvSpPr/>
          <p:nvPr/>
        </p:nvSpPr>
        <p:spPr>
          <a:xfrm>
            <a:off x="4572000" y="5166360"/>
            <a:ext cx="2596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Result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77"/>
          <p:cNvSpPr/>
          <p:nvPr/>
        </p:nvSpPr>
        <p:spPr>
          <a:xfrm>
            <a:off x="4572000" y="5495400"/>
            <a:ext cx="25963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11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78"/>
          <p:cNvSpPr/>
          <p:nvPr/>
        </p:nvSpPr>
        <p:spPr>
          <a:xfrm>
            <a:off x="7498080" y="5074920"/>
            <a:ext cx="4068360" cy="803880"/>
          </a:xfrm>
          <a:prstGeom prst="roundRect">
            <a:avLst>
              <a:gd name="adj" fmla="val 9091"/>
            </a:avLst>
          </a:prstGeom>
          <a:solidFill>
            <a:srgbClr val="FFF1DE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02" name="Text 79"/>
          <p:cNvSpPr/>
          <p:nvPr/>
        </p:nvSpPr>
        <p:spPr>
          <a:xfrm>
            <a:off x="7662600" y="5166360"/>
            <a:ext cx="37393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ประเด็นสำคัญ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80"/>
          <p:cNvSpPr/>
          <p:nvPr/>
        </p:nvSpPr>
        <p:spPr>
          <a:xfrm>
            <a:off x="7662600" y="5495400"/>
            <a:ext cx="37393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*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ถูกประมวลผลก่อน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+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1"/>
          <p:cNvSpPr>
            <a:spLocks noGrp="1"/>
          </p:cNvSpPr>
          <p:nvPr>
            <p:ph type="sldNum" idx="10"/>
          </p:nvPr>
        </p:nvSpPr>
        <p:spPr>
          <a:xfrm>
            <a:off x="11475720" y="651060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fld id="{5E6692EB-BB5D-458B-B73D-72F99AE8C8FF}" type="slidenum">
              <a: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rPr>
              <a:t>6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Text 0"/>
          <p:cNvSpPr/>
          <p:nvPr/>
        </p:nvSpPr>
        <p:spPr>
          <a:xfrm>
            <a:off x="530280" y="329040"/>
            <a:ext cx="109720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7. Correctness Argument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548640" y="841320"/>
            <a:ext cx="10972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ea typeface="TH Sarabun New"/>
              </a:rPr>
              <a:t>Precondition • Invariant • Postcondition • Termination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2"/>
          <p:cNvSpPr/>
          <p:nvPr/>
        </p:nvSpPr>
        <p:spPr>
          <a:xfrm>
            <a:off x="567000" y="1234440"/>
            <a:ext cx="5394240" cy="1142280"/>
          </a:xfrm>
          <a:prstGeom prst="roundRect">
            <a:avLst>
              <a:gd name="adj" fmla="val 6400"/>
            </a:avLst>
          </a:prstGeom>
          <a:solidFill>
            <a:srgbClr val="EAF0F8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08" name="Text 3"/>
          <p:cNvSpPr/>
          <p:nvPr/>
        </p:nvSpPr>
        <p:spPr>
          <a:xfrm>
            <a:off x="731520" y="1325880"/>
            <a:ext cx="506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Precondition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4"/>
          <p:cNvSpPr/>
          <p:nvPr/>
        </p:nvSpPr>
        <p:spPr>
          <a:xfrm>
            <a:off x="731520" y="1654920"/>
            <a:ext cx="506520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Input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ถูก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Tokenize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แล้ว และตรวจรูปแบบ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/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วงเล็บเบื้องต้นผ่าน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Shape 5"/>
          <p:cNvSpPr/>
          <p:nvPr/>
        </p:nvSpPr>
        <p:spPr>
          <a:xfrm>
            <a:off x="6199560" y="1234440"/>
            <a:ext cx="5394240" cy="1142280"/>
          </a:xfrm>
          <a:prstGeom prst="roundRect">
            <a:avLst>
              <a:gd name="adj" fmla="val 6400"/>
            </a:avLst>
          </a:prstGeom>
          <a:solidFill>
            <a:srgbClr val="E6F5F0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6364080" y="1325880"/>
            <a:ext cx="506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fontScale="70000" lnSpcReduction="19999"/>
          </a:bodyPr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Invariant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201"/>
              </a:spcAft>
            </a:pPr>
            <a:r>
              <a:rPr lang="hi-IN" sz="11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ระหว่างสแกน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Operator Stack </a:t>
            </a:r>
            <a:r>
              <a:rPr lang="hi-IN" sz="11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รักษาลำดับ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Priority </a:t>
            </a:r>
            <a:r>
              <a:rPr lang="hi-IN" sz="11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ภายในระดับวงเล็บ และ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Postfix </a:t>
            </a:r>
            <a:r>
              <a:rPr lang="hi-IN" sz="11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ที่สะสมแล้วถูกต้องสำหรับ </a:t>
            </a:r>
            <a:r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Token </a:t>
            </a:r>
            <a:r>
              <a:rPr lang="hi-IN" sz="1100" b="0" u="none" strike="noStrike">
                <a:solidFill>
                  <a:srgbClr val="000000"/>
                </a:solidFill>
                <a:effectLst/>
                <a:uFillTx/>
                <a:latin typeface="TH Sarabun New"/>
              </a:rPr>
              <a:t>ที่อ่านมาแล้ว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7"/>
          <p:cNvSpPr/>
          <p:nvPr/>
        </p:nvSpPr>
        <p:spPr>
          <a:xfrm>
            <a:off x="6364080" y="1654920"/>
            <a:ext cx="506520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Token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ที่อ่านแล้วถูกเก็บใน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Output/Stack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โดยไม่ทำให้ลำดับความหมายของนิพจน์เสีย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8"/>
          <p:cNvSpPr/>
          <p:nvPr/>
        </p:nvSpPr>
        <p:spPr>
          <a:xfrm>
            <a:off x="567000" y="2697480"/>
            <a:ext cx="5394240" cy="1142280"/>
          </a:xfrm>
          <a:prstGeom prst="roundRect">
            <a:avLst>
              <a:gd name="adj" fmla="val 6400"/>
            </a:avLst>
          </a:prstGeom>
          <a:solidFill>
            <a:srgbClr val="FFF1DE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731520" y="2788920"/>
            <a:ext cx="506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Postcondition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0"/>
          <p:cNvSpPr/>
          <p:nvPr/>
        </p:nvSpPr>
        <p:spPr>
          <a:xfrm>
            <a:off x="731520" y="3117960"/>
            <a:ext cx="506520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Operator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ที่เหลือถูกประมวลผลครบ →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Postfix/Result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ถูกต้องตาม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Infix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เดิม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1"/>
          <p:cNvSpPr/>
          <p:nvPr/>
        </p:nvSpPr>
        <p:spPr>
          <a:xfrm>
            <a:off x="6199560" y="2697480"/>
            <a:ext cx="5394240" cy="114228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17" name="Text 12"/>
          <p:cNvSpPr/>
          <p:nvPr/>
        </p:nvSpPr>
        <p:spPr>
          <a:xfrm>
            <a:off x="6364080" y="2788920"/>
            <a:ext cx="506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Termination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3"/>
          <p:cNvSpPr/>
          <p:nvPr/>
        </p:nvSpPr>
        <p:spPr>
          <a:xfrm>
            <a:off x="6364080" y="3117960"/>
            <a:ext cx="5065200" cy="63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ทุก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Token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ถูกอ่านครั้งเดียว และ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Stack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ถูกเคลียร์จนจบ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4"/>
          <p:cNvSpPr/>
          <p:nvPr/>
        </p:nvSpPr>
        <p:spPr>
          <a:xfrm>
            <a:off x="594360" y="416052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9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ทำไมถูกต้อง</a:t>
            </a:r>
            <a:r>
              <a:rPr lang="en-US" sz="19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?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5"/>
          <p:cNvSpPr/>
          <p:nvPr/>
        </p:nvSpPr>
        <p:spPr>
          <a:xfrm>
            <a:off x="567000" y="4572000"/>
            <a:ext cx="2605320" cy="10782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21" name="Text 16"/>
          <p:cNvSpPr/>
          <p:nvPr/>
        </p:nvSpPr>
        <p:spPr>
          <a:xfrm>
            <a:off x="731520" y="4663440"/>
            <a:ext cx="2276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1. Priority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731520" y="4992480"/>
            <a:ext cx="227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* /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มาก่อน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+ -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8"/>
          <p:cNvSpPr/>
          <p:nvPr/>
        </p:nvSpPr>
        <p:spPr>
          <a:xfrm>
            <a:off x="3337560" y="4572000"/>
            <a:ext cx="2605320" cy="10782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24" name="Text 19"/>
          <p:cNvSpPr/>
          <p:nvPr/>
        </p:nvSpPr>
        <p:spPr>
          <a:xfrm>
            <a:off x="3502080" y="4663440"/>
            <a:ext cx="2276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2. Parentheses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20"/>
          <p:cNvSpPr/>
          <p:nvPr/>
        </p:nvSpPr>
        <p:spPr>
          <a:xfrm>
            <a:off x="3502080" y="4992480"/>
            <a:ext cx="227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บังคับลำดับก่อนหลัง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21"/>
          <p:cNvSpPr/>
          <p:nvPr/>
        </p:nvSpPr>
        <p:spPr>
          <a:xfrm>
            <a:off x="6099120" y="4572000"/>
            <a:ext cx="2605320" cy="10782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27" name="Text 22"/>
          <p:cNvSpPr/>
          <p:nvPr/>
        </p:nvSpPr>
        <p:spPr>
          <a:xfrm>
            <a:off x="6263640" y="4663440"/>
            <a:ext cx="2276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3. Postfix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23"/>
          <p:cNvSpPr/>
          <p:nvPr/>
        </p:nvSpPr>
        <p:spPr>
          <a:xfrm>
            <a:off x="6263640" y="4992480"/>
            <a:ext cx="227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ไม่มีความกำกวมของลำดับ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Shape 24"/>
          <p:cNvSpPr/>
          <p:nvPr/>
        </p:nvSpPr>
        <p:spPr>
          <a:xfrm>
            <a:off x="8851320" y="4572000"/>
            <a:ext cx="2605320" cy="1078200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30" name="Text 25"/>
          <p:cNvSpPr/>
          <p:nvPr/>
        </p:nvSpPr>
        <p:spPr>
          <a:xfrm>
            <a:off x="9015840" y="4663440"/>
            <a:ext cx="22762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4. Operand Stack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6"/>
          <p:cNvSpPr/>
          <p:nvPr/>
        </p:nvSpPr>
        <p:spPr>
          <a:xfrm>
            <a:off x="9015840" y="4992480"/>
            <a:ext cx="227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เก็บผลลัพธ์ย่อยเพื่อประกอบคำตอบ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1"/>
          <p:cNvSpPr>
            <a:spLocks noGrp="1"/>
          </p:cNvSpPr>
          <p:nvPr>
            <p:ph type="sldNum" idx="11"/>
          </p:nvPr>
        </p:nvSpPr>
        <p:spPr>
          <a:xfrm>
            <a:off x="11475720" y="651060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defRPr>
            </a:lvl1pPr>
          </a:lstStyle>
          <a:p>
            <a:pPr algn="ctr"/>
            <a:r>
              <a:rPr sz="1200" b="0">
                <a:latin typeface="TH Sarabun New"/>
              </a:rPr>
              <a:t>8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0"/>
          <p:cNvSpPr/>
          <p:nvPr/>
        </p:nvSpPr>
        <p:spPr>
          <a:xfrm>
            <a:off x="530280" y="329040"/>
            <a:ext cx="109720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8. Big-O Analysis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1"/>
          <p:cNvSpPr/>
          <p:nvPr/>
        </p:nvSpPr>
        <p:spPr>
          <a:xfrm>
            <a:off x="548640" y="841320"/>
            <a:ext cx="10972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ตอบคำถามวิเคราะห์ด้าน </a:t>
            </a:r>
            <a:r>
              <a:rPr lang="en-US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ea typeface="TH Sarabun New"/>
              </a:rPr>
              <a:t>Complexity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2"/>
          <p:cNvSpPr/>
          <p:nvPr/>
        </p:nvSpPr>
        <p:spPr>
          <a:xfrm>
            <a:off x="567000" y="1234440"/>
            <a:ext cx="5394240" cy="1480680"/>
          </a:xfrm>
          <a:prstGeom prst="roundRect">
            <a:avLst>
              <a:gd name="adj" fmla="val 4938"/>
            </a:avLst>
          </a:prstGeom>
          <a:solidFill>
            <a:srgbClr val="EAF0F8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36" name="Text 3"/>
          <p:cNvSpPr/>
          <p:nvPr/>
        </p:nvSpPr>
        <p:spPr>
          <a:xfrm>
            <a:off x="731520" y="1325880"/>
            <a:ext cx="506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Balanced Parentheses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4"/>
          <p:cNvSpPr/>
          <p:nvPr/>
        </p:nvSpPr>
        <p:spPr>
          <a:xfrm>
            <a:off x="731520" y="1654920"/>
            <a:ext cx="5065200" cy="96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อ่าน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Token 1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ครั้ง →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push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เมื่อเจอ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'(' → pop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เมื่อเจอ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')'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ดังนั้น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Time = O(n), Space = O(n)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Shape 5"/>
          <p:cNvSpPr/>
          <p:nvPr/>
        </p:nvSpPr>
        <p:spPr>
          <a:xfrm>
            <a:off x="6199560" y="1234440"/>
            <a:ext cx="5394240" cy="1480680"/>
          </a:xfrm>
          <a:prstGeom prst="roundRect">
            <a:avLst>
              <a:gd name="adj" fmla="val 4938"/>
            </a:avLst>
          </a:prstGeom>
          <a:solidFill>
            <a:srgbClr val="E6F5F0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39" name="Text 6"/>
          <p:cNvSpPr/>
          <p:nvPr/>
        </p:nvSpPr>
        <p:spPr>
          <a:xfrm>
            <a:off x="6364080" y="1325880"/>
            <a:ext cx="506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Infix → Postfix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7"/>
          <p:cNvSpPr/>
          <p:nvPr/>
        </p:nvSpPr>
        <p:spPr>
          <a:xfrm>
            <a:off x="6364080" y="1654920"/>
            <a:ext cx="5065200" cy="96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แต่ละ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Token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ถูก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push/pop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จาก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Operator Stack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จำนวนจำกัด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จึงรวมเป็น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O(n)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Shape 8"/>
          <p:cNvSpPr/>
          <p:nvPr/>
        </p:nvSpPr>
        <p:spPr>
          <a:xfrm>
            <a:off x="567000" y="2999160"/>
            <a:ext cx="5394240" cy="1480680"/>
          </a:xfrm>
          <a:prstGeom prst="roundRect">
            <a:avLst>
              <a:gd name="adj" fmla="val 4938"/>
            </a:avLst>
          </a:prstGeom>
          <a:solidFill>
            <a:srgbClr val="FFF1DE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42" name="Text 9"/>
          <p:cNvSpPr/>
          <p:nvPr/>
        </p:nvSpPr>
        <p:spPr>
          <a:xfrm>
            <a:off x="731520" y="3090600"/>
            <a:ext cx="506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ทำไม </a:t>
            </a: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Push/Pop </a:t>
            </a: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จำกัด</a:t>
            </a: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?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10"/>
          <p:cNvSpPr/>
          <p:nvPr/>
        </p:nvSpPr>
        <p:spPr>
          <a:xfrm>
            <a:off x="731520" y="3420000"/>
            <a:ext cx="5065200" cy="96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ในแต่ละ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Phase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การทำงาน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Token/Operator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หนึ่งตัวถูกนำเข้าและนำออกจาก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Stack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จำนวนจำกัด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;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จึงรวมได้เป็นสัดส่วน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O(n)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รวมการเคลื่อนที่จึงไม่เกินสัดส่วน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O(n)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1"/>
          <p:cNvSpPr/>
          <p:nvPr/>
        </p:nvSpPr>
        <p:spPr>
          <a:xfrm>
            <a:off x="6199560" y="2999160"/>
            <a:ext cx="5394240" cy="1480680"/>
          </a:xfrm>
          <a:prstGeom prst="roundRect">
            <a:avLst>
              <a:gd name="adj" fmla="val 4938"/>
            </a:avLst>
          </a:prstGeom>
          <a:solidFill>
            <a:srgbClr val="F8FAFC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45" name="Text 12"/>
          <p:cNvSpPr/>
          <p:nvPr/>
        </p:nvSpPr>
        <p:spPr>
          <a:xfrm>
            <a:off x="6364080" y="3090600"/>
            <a:ext cx="506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ภาพรวมระบบ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3"/>
          <p:cNvSpPr/>
          <p:nvPr/>
        </p:nvSpPr>
        <p:spPr>
          <a:xfrm>
            <a:off x="6364080" y="3420000"/>
            <a:ext cx="5065200" cy="96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Tokenize + Validation + Algorithm + Evaluation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เมื่อทำงานบนข้อมูลขนาด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n →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เวลาโดยรวม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O(n)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4"/>
          <p:cNvSpPr/>
          <p:nvPr/>
        </p:nvSpPr>
        <p:spPr>
          <a:xfrm>
            <a:off x="567000" y="4507920"/>
            <a:ext cx="2559600" cy="438120"/>
          </a:xfrm>
          <a:prstGeom prst="rect">
            <a:avLst/>
          </a:prstGeom>
          <a:solidFill>
            <a:srgbClr val="EAF0F8"/>
          </a:solidFill>
          <a:ln w="1270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48" name="Text 15"/>
          <p:cNvSpPr/>
          <p:nvPr/>
        </p:nvSpPr>
        <p:spPr>
          <a:xfrm>
            <a:off x="640080" y="4526280"/>
            <a:ext cx="2413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5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กรณี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Shape 16"/>
          <p:cNvSpPr/>
          <p:nvPr/>
        </p:nvSpPr>
        <p:spPr>
          <a:xfrm>
            <a:off x="3127320" y="4507920"/>
            <a:ext cx="2559600" cy="438120"/>
          </a:xfrm>
          <a:prstGeom prst="rect">
            <a:avLst/>
          </a:prstGeom>
          <a:solidFill>
            <a:srgbClr val="EAF0F8"/>
          </a:solidFill>
          <a:ln w="1270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50" name="Text 17"/>
          <p:cNvSpPr/>
          <p:nvPr/>
        </p:nvSpPr>
        <p:spPr>
          <a:xfrm>
            <a:off x="3200400" y="4526280"/>
            <a:ext cx="2413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Algorithm A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18"/>
          <p:cNvSpPr/>
          <p:nvPr/>
        </p:nvSpPr>
        <p:spPr>
          <a:xfrm>
            <a:off x="5687640" y="4507920"/>
            <a:ext cx="2559600" cy="438120"/>
          </a:xfrm>
          <a:prstGeom prst="rect">
            <a:avLst/>
          </a:prstGeom>
          <a:solidFill>
            <a:srgbClr val="EAF0F8"/>
          </a:solidFill>
          <a:ln w="1270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52" name="Text 19"/>
          <p:cNvSpPr/>
          <p:nvPr/>
        </p:nvSpPr>
        <p:spPr>
          <a:xfrm>
            <a:off x="5760720" y="4526280"/>
            <a:ext cx="241344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Algorithm B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Shape 20"/>
          <p:cNvSpPr/>
          <p:nvPr/>
        </p:nvSpPr>
        <p:spPr>
          <a:xfrm>
            <a:off x="8247960" y="4507920"/>
            <a:ext cx="2925360" cy="438120"/>
          </a:xfrm>
          <a:prstGeom prst="rect">
            <a:avLst/>
          </a:prstGeom>
          <a:solidFill>
            <a:srgbClr val="EAF0F8"/>
          </a:solidFill>
          <a:ln w="1270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54" name="Text 21"/>
          <p:cNvSpPr/>
          <p:nvPr/>
        </p:nvSpPr>
        <p:spPr>
          <a:xfrm>
            <a:off x="8321040" y="4526280"/>
            <a:ext cx="27792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5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เหตุผล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22"/>
          <p:cNvSpPr/>
          <p:nvPr/>
        </p:nvSpPr>
        <p:spPr>
          <a:xfrm>
            <a:off x="567000" y="4946760"/>
            <a:ext cx="2559600" cy="49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56" name="Text 23"/>
          <p:cNvSpPr/>
          <p:nvPr/>
        </p:nvSpPr>
        <p:spPr>
          <a:xfrm>
            <a:off x="631080" y="4965120"/>
            <a:ext cx="2431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Best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24"/>
          <p:cNvSpPr/>
          <p:nvPr/>
        </p:nvSpPr>
        <p:spPr>
          <a:xfrm>
            <a:off x="3127320" y="4946760"/>
            <a:ext cx="2559600" cy="49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58" name="Text 25"/>
          <p:cNvSpPr/>
          <p:nvPr/>
        </p:nvSpPr>
        <p:spPr>
          <a:xfrm>
            <a:off x="3191400" y="4965120"/>
            <a:ext cx="2431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O(n)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26"/>
          <p:cNvSpPr/>
          <p:nvPr/>
        </p:nvSpPr>
        <p:spPr>
          <a:xfrm>
            <a:off x="5687640" y="4946760"/>
            <a:ext cx="2559600" cy="49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60" name="Text 27"/>
          <p:cNvSpPr/>
          <p:nvPr/>
        </p:nvSpPr>
        <p:spPr>
          <a:xfrm>
            <a:off x="5751720" y="4965120"/>
            <a:ext cx="2431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O(n)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Shape 28"/>
          <p:cNvSpPr/>
          <p:nvPr/>
        </p:nvSpPr>
        <p:spPr>
          <a:xfrm>
            <a:off x="8247960" y="4946760"/>
            <a:ext cx="2925360" cy="49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62" name="Text 29"/>
          <p:cNvSpPr/>
          <p:nvPr/>
        </p:nvSpPr>
        <p:spPr>
          <a:xfrm>
            <a:off x="8312040" y="4965120"/>
            <a:ext cx="2797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lang="hi-IN" sz="125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ต้องอ่าน</a:t>
            </a: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/</a:t>
            </a:r>
            <a:r>
              <a:rPr lang="hi-IN" sz="125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ตรวจ </a:t>
            </a: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Input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30"/>
          <p:cNvSpPr/>
          <p:nvPr/>
        </p:nvSpPr>
        <p:spPr>
          <a:xfrm>
            <a:off x="567000" y="5440680"/>
            <a:ext cx="2559600" cy="49320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64" name="Text 31"/>
          <p:cNvSpPr/>
          <p:nvPr/>
        </p:nvSpPr>
        <p:spPr>
          <a:xfrm>
            <a:off x="631080" y="5459040"/>
            <a:ext cx="2431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Average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Shape 32"/>
          <p:cNvSpPr/>
          <p:nvPr/>
        </p:nvSpPr>
        <p:spPr>
          <a:xfrm>
            <a:off x="3127320" y="5440680"/>
            <a:ext cx="2559600" cy="49320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66" name="Text 33"/>
          <p:cNvSpPr/>
          <p:nvPr/>
        </p:nvSpPr>
        <p:spPr>
          <a:xfrm>
            <a:off x="3191400" y="5459040"/>
            <a:ext cx="2431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O(n)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4"/>
          <p:cNvSpPr/>
          <p:nvPr/>
        </p:nvSpPr>
        <p:spPr>
          <a:xfrm>
            <a:off x="5687640" y="5440680"/>
            <a:ext cx="2559600" cy="49320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68" name="Text 35"/>
          <p:cNvSpPr/>
          <p:nvPr/>
        </p:nvSpPr>
        <p:spPr>
          <a:xfrm>
            <a:off x="5751720" y="5459040"/>
            <a:ext cx="2431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O(n)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36"/>
          <p:cNvSpPr/>
          <p:nvPr/>
        </p:nvSpPr>
        <p:spPr>
          <a:xfrm>
            <a:off x="8247960" y="5440680"/>
            <a:ext cx="2925360" cy="49320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70" name="Text 37"/>
          <p:cNvSpPr/>
          <p:nvPr/>
        </p:nvSpPr>
        <p:spPr>
          <a:xfrm>
            <a:off x="8312040" y="5459040"/>
            <a:ext cx="2797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5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อ่าน </a:t>
            </a:r>
            <a:r>
              <a:rPr lang="en-US" sz="125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Token </a:t>
            </a:r>
            <a:r>
              <a:rPr lang="hi-IN" sz="125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ตาม </a:t>
            </a:r>
            <a:r>
              <a:rPr lang="en-US" sz="125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Shape 38"/>
          <p:cNvSpPr/>
          <p:nvPr/>
        </p:nvSpPr>
        <p:spPr>
          <a:xfrm>
            <a:off x="567000" y="5934600"/>
            <a:ext cx="2559600" cy="49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72" name="Text 39"/>
          <p:cNvSpPr/>
          <p:nvPr/>
        </p:nvSpPr>
        <p:spPr>
          <a:xfrm>
            <a:off x="631080" y="5952600"/>
            <a:ext cx="2431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Worst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Shape 40"/>
          <p:cNvSpPr/>
          <p:nvPr/>
        </p:nvSpPr>
        <p:spPr>
          <a:xfrm>
            <a:off x="3127320" y="5934600"/>
            <a:ext cx="2559600" cy="49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74" name="Text 41"/>
          <p:cNvSpPr/>
          <p:nvPr/>
        </p:nvSpPr>
        <p:spPr>
          <a:xfrm>
            <a:off x="3191400" y="5952600"/>
            <a:ext cx="2431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O(n)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42"/>
          <p:cNvSpPr/>
          <p:nvPr/>
        </p:nvSpPr>
        <p:spPr>
          <a:xfrm>
            <a:off x="5687640" y="5934600"/>
            <a:ext cx="2559600" cy="49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76" name="Text 43"/>
          <p:cNvSpPr/>
          <p:nvPr/>
        </p:nvSpPr>
        <p:spPr>
          <a:xfrm>
            <a:off x="5751720" y="5952600"/>
            <a:ext cx="24314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O(n)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Shape 44"/>
          <p:cNvSpPr/>
          <p:nvPr/>
        </p:nvSpPr>
        <p:spPr>
          <a:xfrm>
            <a:off x="8247960" y="5934600"/>
            <a:ext cx="2925360" cy="493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78" name="Text 45"/>
          <p:cNvSpPr/>
          <p:nvPr/>
        </p:nvSpPr>
        <p:spPr>
          <a:xfrm>
            <a:off x="8312040" y="5952600"/>
            <a:ext cx="279720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25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สแกนและจัดการ </a:t>
            </a: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Stack </a:t>
            </a:r>
            <a:r>
              <a:rPr lang="hi-IN" sz="125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ตาม </a:t>
            </a:r>
            <a:r>
              <a:rPr lang="en-US" sz="125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PlaceHolder 1"/>
          <p:cNvSpPr>
            <a:spLocks noGrp="1"/>
          </p:cNvSpPr>
          <p:nvPr>
            <p:ph type="sldNum" idx="12"/>
          </p:nvPr>
        </p:nvSpPr>
        <p:spPr>
          <a:xfrm>
            <a:off x="11475720" y="651060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defRPr>
            </a:lvl1pPr>
          </a:lstStyle>
          <a:p>
            <a:pPr algn="ctr"/>
            <a:r>
              <a:rPr sz="1200" b="0">
                <a:latin typeface="TH Sarabun New"/>
              </a:rPr>
              <a:t>9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 0"/>
          <p:cNvSpPr/>
          <p:nvPr/>
        </p:nvSpPr>
        <p:spPr>
          <a:xfrm>
            <a:off x="530280" y="329040"/>
            <a:ext cx="109720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9. Class Diagram </a:t>
            </a:r>
            <a:r>
              <a:rPr lang="hi-IN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และ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Java Implementation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"/>
          <p:cNvSpPr/>
          <p:nvPr/>
        </p:nvSpPr>
        <p:spPr>
          <a:xfrm>
            <a:off x="548640" y="841320"/>
            <a:ext cx="10972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โครงสร้างขั้นต่ำตามโจทย์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Shape 2"/>
          <p:cNvSpPr/>
          <p:nvPr/>
        </p:nvSpPr>
        <p:spPr>
          <a:xfrm>
            <a:off x="594360" y="1417320"/>
            <a:ext cx="2056680" cy="1873800"/>
          </a:xfrm>
          <a:prstGeom prst="roundRect">
            <a:avLst>
              <a:gd name="adj" fmla="val 3902"/>
            </a:avLst>
          </a:prstGeom>
          <a:solidFill>
            <a:srgbClr val="EAF0F8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83" name="Text 3"/>
          <p:cNvSpPr/>
          <p:nvPr/>
        </p:nvSpPr>
        <p:spPr>
          <a:xfrm>
            <a:off x="758880" y="1508760"/>
            <a:ext cx="1727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Main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4"/>
          <p:cNvSpPr/>
          <p:nvPr/>
        </p:nvSpPr>
        <p:spPr>
          <a:xfrm>
            <a:off x="758880" y="1837800"/>
            <a:ext cx="1727640" cy="13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main()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menu()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เลือก </a:t>
            </a:r>
            <a:r>
              <a:rPr lang="en-US" sz="15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A / B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5"/>
          <p:cNvSpPr/>
          <p:nvPr/>
        </p:nvSpPr>
        <p:spPr>
          <a:xfrm>
            <a:off x="2880360" y="1417320"/>
            <a:ext cx="2056680" cy="1873800"/>
          </a:xfrm>
          <a:prstGeom prst="roundRect">
            <a:avLst>
              <a:gd name="adj" fmla="val 3902"/>
            </a:avLst>
          </a:prstGeom>
          <a:solidFill>
            <a:srgbClr val="EAF0F8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86" name="Text 6"/>
          <p:cNvSpPr/>
          <p:nvPr/>
        </p:nvSpPr>
        <p:spPr>
          <a:xfrm>
            <a:off x="3044880" y="1508760"/>
            <a:ext cx="1727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ExpressionResult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7"/>
          <p:cNvSpPr/>
          <p:nvPr/>
        </p:nvSpPr>
        <p:spPr>
          <a:xfrm>
            <a:off x="3044880" y="1837800"/>
            <a:ext cx="1727640" cy="13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result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postfix / time / counter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8"/>
          <p:cNvSpPr/>
          <p:nvPr/>
        </p:nvSpPr>
        <p:spPr>
          <a:xfrm>
            <a:off x="5166360" y="1417320"/>
            <a:ext cx="2056680" cy="1873800"/>
          </a:xfrm>
          <a:prstGeom prst="roundRect">
            <a:avLst>
              <a:gd name="adj" fmla="val 3902"/>
            </a:avLst>
          </a:prstGeom>
          <a:solidFill>
            <a:srgbClr val="E6F5F0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89" name="Text 9"/>
          <p:cNvSpPr/>
          <p:nvPr/>
        </p:nvSpPr>
        <p:spPr>
          <a:xfrm>
            <a:off x="5330880" y="1508760"/>
            <a:ext cx="1727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AlgorithmA / AlgorithmB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0"/>
          <p:cNvSpPr/>
          <p:nvPr/>
        </p:nvSpPr>
        <p:spPr>
          <a:xfrm>
            <a:off x="5330880" y="1837800"/>
            <a:ext cx="1727640" cy="13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evaluate()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(</a:t>
            </a:r>
            <a:r>
              <a:rPr lang="hi-IN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ตามวิธีของแต่ละ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Algorithm)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hape 11"/>
          <p:cNvSpPr/>
          <p:nvPr/>
        </p:nvSpPr>
        <p:spPr>
          <a:xfrm>
            <a:off x="7452360" y="1417320"/>
            <a:ext cx="2056680" cy="1873800"/>
          </a:xfrm>
          <a:prstGeom prst="roundRect">
            <a:avLst>
              <a:gd name="adj" fmla="val 3902"/>
            </a:avLst>
          </a:prstGeom>
          <a:solidFill>
            <a:srgbClr val="EAF0F8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92" name="Text 12"/>
          <p:cNvSpPr/>
          <p:nvPr/>
        </p:nvSpPr>
        <p:spPr>
          <a:xfrm>
            <a:off x="7616880" y="1508760"/>
            <a:ext cx="1727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OperationCounter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3"/>
          <p:cNvSpPr/>
          <p:nvPr/>
        </p:nvSpPr>
        <p:spPr>
          <a:xfrm>
            <a:off x="7616880" y="1837800"/>
            <a:ext cx="1727640" cy="13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push / pop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comparisons / loops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4"/>
          <p:cNvSpPr/>
          <p:nvPr/>
        </p:nvSpPr>
        <p:spPr>
          <a:xfrm>
            <a:off x="9738360" y="1417320"/>
            <a:ext cx="2056680" cy="1873800"/>
          </a:xfrm>
          <a:prstGeom prst="roundRect">
            <a:avLst>
              <a:gd name="adj" fmla="val 3902"/>
            </a:avLst>
          </a:prstGeom>
          <a:solidFill>
            <a:srgbClr val="FFF1DE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95" name="Text 15"/>
          <p:cNvSpPr/>
          <p:nvPr/>
        </p:nvSpPr>
        <p:spPr>
          <a:xfrm>
            <a:off x="9902880" y="1508760"/>
            <a:ext cx="1727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BenchmarkExperiment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16"/>
          <p:cNvSpPr/>
          <p:nvPr/>
        </p:nvSpPr>
        <p:spPr>
          <a:xfrm>
            <a:off x="9902880" y="1837800"/>
            <a:ext cx="1727640" cy="13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nanoTime()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run 5 rounds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average()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Shape 17"/>
          <p:cNvSpPr/>
          <p:nvPr/>
        </p:nvSpPr>
        <p:spPr>
          <a:xfrm>
            <a:off x="2651760" y="2359080"/>
            <a:ext cx="228600" cy="360"/>
          </a:xfrm>
          <a:prstGeom prst="line">
            <a:avLst/>
          </a:prstGeom>
          <a:ln w="25400">
            <a:solidFill>
              <a:srgbClr val="2C467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98" name="Shape 18"/>
          <p:cNvSpPr/>
          <p:nvPr/>
        </p:nvSpPr>
        <p:spPr>
          <a:xfrm>
            <a:off x="4937760" y="2359080"/>
            <a:ext cx="228600" cy="360"/>
          </a:xfrm>
          <a:prstGeom prst="line">
            <a:avLst/>
          </a:prstGeom>
          <a:ln w="25400">
            <a:solidFill>
              <a:srgbClr val="2C467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299" name="Shape 19"/>
          <p:cNvSpPr/>
          <p:nvPr/>
        </p:nvSpPr>
        <p:spPr>
          <a:xfrm>
            <a:off x="7223760" y="2359080"/>
            <a:ext cx="228600" cy="360"/>
          </a:xfrm>
          <a:prstGeom prst="line">
            <a:avLst/>
          </a:prstGeom>
          <a:ln w="25400">
            <a:solidFill>
              <a:srgbClr val="2C467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00" name="Shape 20"/>
          <p:cNvSpPr/>
          <p:nvPr/>
        </p:nvSpPr>
        <p:spPr>
          <a:xfrm>
            <a:off x="9509760" y="2359080"/>
            <a:ext cx="228600" cy="360"/>
          </a:xfrm>
          <a:prstGeom prst="line">
            <a:avLst/>
          </a:prstGeom>
          <a:ln w="25400">
            <a:solidFill>
              <a:srgbClr val="2C467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01" name="Shape 21"/>
          <p:cNvSpPr/>
          <p:nvPr/>
        </p:nvSpPr>
        <p:spPr>
          <a:xfrm>
            <a:off x="594360" y="3886200"/>
            <a:ext cx="5321160" cy="135252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02" name="Text 22"/>
          <p:cNvSpPr/>
          <p:nvPr/>
        </p:nvSpPr>
        <p:spPr>
          <a:xfrm>
            <a:off x="758880" y="3977640"/>
            <a:ext cx="499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Java requirements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23"/>
          <p:cNvSpPr/>
          <p:nvPr/>
        </p:nvSpPr>
        <p:spPr>
          <a:xfrm>
            <a:off x="758880" y="4306680"/>
            <a:ext cx="499176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Main Class • AlgorithmA / AlgorithmB • ExpressionResult • OperationCounter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Tokenizer (tokenize / validateTokens) • Menu • Empty Stack Check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24"/>
          <p:cNvSpPr/>
          <p:nvPr/>
        </p:nvSpPr>
        <p:spPr>
          <a:xfrm>
            <a:off x="6144840" y="3886200"/>
            <a:ext cx="5439960" cy="1352520"/>
          </a:xfrm>
          <a:prstGeom prst="roundRect">
            <a:avLst>
              <a:gd name="adj" fmla="val 5405"/>
            </a:avLst>
          </a:prstGeom>
          <a:solidFill>
            <a:srgbClr val="F8FAFC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05" name="Text 25"/>
          <p:cNvSpPr/>
          <p:nvPr/>
        </p:nvSpPr>
        <p:spPr>
          <a:xfrm>
            <a:off x="6309360" y="3977640"/>
            <a:ext cx="5110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ต้องมีในการ </a:t>
            </a:r>
            <a:r>
              <a:rPr lang="en-US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Demo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6"/>
          <p:cNvSpPr/>
          <p:nvPr/>
        </p:nvSpPr>
        <p:spPr>
          <a:xfrm>
            <a:off x="6309360" y="4306680"/>
            <a:ext cx="511092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แสดง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Stack State •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เลือก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A/B •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นับ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Operation •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วัดเวลา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ใช้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Deque&lt;T&gt; stack = new ArrayDeque&lt;&gt;();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ในการทำงานแบบ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Stack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sldNum" idx="13"/>
          </p:nvPr>
        </p:nvSpPr>
        <p:spPr>
          <a:xfrm>
            <a:off x="11475720" y="651060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defRPr>
            </a:lvl1pPr>
          </a:lstStyle>
          <a:p>
            <a:pPr algn="ctr"/>
            <a:r>
              <a:rPr sz="1200" b="0">
                <a:latin typeface="TH Sarabun New"/>
              </a:rPr>
              <a:t>10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 0"/>
          <p:cNvSpPr/>
          <p:nvPr/>
        </p:nvSpPr>
        <p:spPr>
          <a:xfrm>
            <a:off x="530280" y="329040"/>
            <a:ext cx="109720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10. Test Cases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1"/>
          <p:cNvSpPr/>
          <p:nvPr/>
        </p:nvSpPr>
        <p:spPr>
          <a:xfrm>
            <a:off x="548640" y="841320"/>
            <a:ext cx="10972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cs typeface="TH Sarabun New"/>
              </a:rPr>
              <a:t>ต้องครอบคลุมทั้งกรณีถูกต้องและ </a:t>
            </a:r>
            <a:r>
              <a:rPr lang="en-US" sz="1500" b="0" u="none" strike="noStrike">
                <a:solidFill>
                  <a:srgbClr val="6C7480"/>
                </a:solidFill>
                <a:effectLst/>
                <a:uFillTx/>
                <a:latin typeface="TH Sarabun New"/>
                <a:ea typeface="TH Sarabun New"/>
              </a:rPr>
              <a:t>Error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2"/>
          <p:cNvSpPr/>
          <p:nvPr/>
        </p:nvSpPr>
        <p:spPr>
          <a:xfrm>
            <a:off x="438840" y="1188720"/>
            <a:ext cx="502200" cy="419760"/>
          </a:xfrm>
          <a:prstGeom prst="rect">
            <a:avLst/>
          </a:prstGeom>
          <a:solidFill>
            <a:srgbClr val="EAF0F8"/>
          </a:solidFill>
          <a:ln w="1270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11" name="Text 3"/>
          <p:cNvSpPr/>
          <p:nvPr/>
        </p:nvSpPr>
        <p:spPr>
          <a:xfrm>
            <a:off x="511920" y="1207080"/>
            <a:ext cx="356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#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Shape 4"/>
          <p:cNvSpPr/>
          <p:nvPr/>
        </p:nvSpPr>
        <p:spPr>
          <a:xfrm>
            <a:off x="941760" y="1188720"/>
            <a:ext cx="2925360" cy="419760"/>
          </a:xfrm>
          <a:prstGeom prst="rect">
            <a:avLst/>
          </a:prstGeom>
          <a:solidFill>
            <a:srgbClr val="EAF0F8"/>
          </a:solidFill>
          <a:ln w="1270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13" name="Text 5"/>
          <p:cNvSpPr/>
          <p:nvPr/>
        </p:nvSpPr>
        <p:spPr>
          <a:xfrm>
            <a:off x="1014840" y="1207080"/>
            <a:ext cx="27792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Input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6"/>
          <p:cNvSpPr/>
          <p:nvPr/>
        </p:nvSpPr>
        <p:spPr>
          <a:xfrm>
            <a:off x="3867840" y="1188720"/>
            <a:ext cx="1919520" cy="419760"/>
          </a:xfrm>
          <a:prstGeom prst="rect">
            <a:avLst/>
          </a:prstGeom>
          <a:solidFill>
            <a:srgbClr val="EAF0F8"/>
          </a:solidFill>
          <a:ln w="1270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15" name="Text 7"/>
          <p:cNvSpPr/>
          <p:nvPr/>
        </p:nvSpPr>
        <p:spPr>
          <a:xfrm>
            <a:off x="3940920" y="1207080"/>
            <a:ext cx="17733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3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ประเภท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Shape 8"/>
          <p:cNvSpPr/>
          <p:nvPr/>
        </p:nvSpPr>
        <p:spPr>
          <a:xfrm>
            <a:off x="5788080" y="1188720"/>
            <a:ext cx="4525560" cy="419760"/>
          </a:xfrm>
          <a:prstGeom prst="rect">
            <a:avLst/>
          </a:prstGeom>
          <a:solidFill>
            <a:srgbClr val="EAF0F8"/>
          </a:solidFill>
          <a:ln w="1270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17" name="Text 9"/>
          <p:cNvSpPr/>
          <p:nvPr/>
        </p:nvSpPr>
        <p:spPr>
          <a:xfrm>
            <a:off x="5861160" y="1207080"/>
            <a:ext cx="437940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3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เหตุผล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0"/>
          <p:cNvSpPr/>
          <p:nvPr/>
        </p:nvSpPr>
        <p:spPr>
          <a:xfrm>
            <a:off x="10314360" y="1188720"/>
            <a:ext cx="1828080" cy="419760"/>
          </a:xfrm>
          <a:prstGeom prst="rect">
            <a:avLst/>
          </a:prstGeom>
          <a:solidFill>
            <a:srgbClr val="EAF0F8"/>
          </a:solidFill>
          <a:ln w="1270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19" name="Text 11"/>
          <p:cNvSpPr/>
          <p:nvPr/>
        </p:nvSpPr>
        <p:spPr>
          <a:xfrm>
            <a:off x="10387440" y="1207080"/>
            <a:ext cx="168192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1" u="none" strike="noStrike">
                <a:solidFill>
                  <a:srgbClr val="2C4670"/>
                </a:solidFill>
                <a:effectLst/>
                <a:uFillTx/>
                <a:latin typeface="TH Sarabun New"/>
                <a:ea typeface="TH Sarabun New"/>
              </a:rPr>
              <a:t>Expected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12"/>
          <p:cNvSpPr/>
          <p:nvPr/>
        </p:nvSpPr>
        <p:spPr>
          <a:xfrm>
            <a:off x="438840" y="1609200"/>
            <a:ext cx="50220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21" name="Text 13"/>
          <p:cNvSpPr/>
          <p:nvPr/>
        </p:nvSpPr>
        <p:spPr>
          <a:xfrm>
            <a:off x="502920" y="1627560"/>
            <a:ext cx="37404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1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14"/>
          <p:cNvSpPr/>
          <p:nvPr/>
        </p:nvSpPr>
        <p:spPr>
          <a:xfrm>
            <a:off x="941760" y="1609200"/>
            <a:ext cx="292536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23" name="Text 15"/>
          <p:cNvSpPr/>
          <p:nvPr/>
        </p:nvSpPr>
        <p:spPr>
          <a:xfrm>
            <a:off x="1005840" y="1627560"/>
            <a:ext cx="27972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 + 4 *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Shape 16"/>
          <p:cNvSpPr/>
          <p:nvPr/>
        </p:nvSpPr>
        <p:spPr>
          <a:xfrm>
            <a:off x="3867840" y="1609200"/>
            <a:ext cx="191952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25" name="Text 17"/>
          <p:cNvSpPr/>
          <p:nvPr/>
        </p:nvSpPr>
        <p:spPr>
          <a:xfrm>
            <a:off x="3931920" y="1627560"/>
            <a:ext cx="179136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Normal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6" name="Shape 18"/>
          <p:cNvSpPr/>
          <p:nvPr/>
        </p:nvSpPr>
        <p:spPr>
          <a:xfrm>
            <a:off x="5788080" y="1609200"/>
            <a:ext cx="452556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27" name="Text 19"/>
          <p:cNvSpPr/>
          <p:nvPr/>
        </p:nvSpPr>
        <p:spPr>
          <a:xfrm>
            <a:off x="5852160" y="1627560"/>
            <a:ext cx="43974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* </a:t>
            </a:r>
            <a:r>
              <a:rPr lang="hi-IN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ก่อน </a:t>
            </a: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+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20"/>
          <p:cNvSpPr/>
          <p:nvPr/>
        </p:nvSpPr>
        <p:spPr>
          <a:xfrm>
            <a:off x="10314360" y="1609200"/>
            <a:ext cx="182808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29" name="Text 21"/>
          <p:cNvSpPr/>
          <p:nvPr/>
        </p:nvSpPr>
        <p:spPr>
          <a:xfrm>
            <a:off x="10378440" y="1627560"/>
            <a:ext cx="169992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11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22"/>
          <p:cNvSpPr/>
          <p:nvPr/>
        </p:nvSpPr>
        <p:spPr>
          <a:xfrm>
            <a:off x="438840" y="2020680"/>
            <a:ext cx="50220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31" name="Text 23"/>
          <p:cNvSpPr/>
          <p:nvPr/>
        </p:nvSpPr>
        <p:spPr>
          <a:xfrm>
            <a:off x="502920" y="2039040"/>
            <a:ext cx="37404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24"/>
          <p:cNvSpPr/>
          <p:nvPr/>
        </p:nvSpPr>
        <p:spPr>
          <a:xfrm>
            <a:off x="941760" y="2020680"/>
            <a:ext cx="292536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33" name="Text 25"/>
          <p:cNvSpPr/>
          <p:nvPr/>
        </p:nvSpPr>
        <p:spPr>
          <a:xfrm>
            <a:off x="1005840" y="2039040"/>
            <a:ext cx="27972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(3 + 4) * 2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Shape 26"/>
          <p:cNvSpPr/>
          <p:nvPr/>
        </p:nvSpPr>
        <p:spPr>
          <a:xfrm>
            <a:off x="3867840" y="2020680"/>
            <a:ext cx="191952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35" name="Text 27"/>
          <p:cNvSpPr/>
          <p:nvPr/>
        </p:nvSpPr>
        <p:spPr>
          <a:xfrm>
            <a:off x="3931920" y="2039040"/>
            <a:ext cx="179136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Normal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Shape 28"/>
          <p:cNvSpPr/>
          <p:nvPr/>
        </p:nvSpPr>
        <p:spPr>
          <a:xfrm>
            <a:off x="5788080" y="2020680"/>
            <a:ext cx="452556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37" name="Text 29"/>
          <p:cNvSpPr/>
          <p:nvPr/>
        </p:nvSpPr>
        <p:spPr>
          <a:xfrm>
            <a:off x="5852160" y="2039040"/>
            <a:ext cx="43974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วงเล็บเปลี่ยนลำดับ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hape 30"/>
          <p:cNvSpPr/>
          <p:nvPr/>
        </p:nvSpPr>
        <p:spPr>
          <a:xfrm>
            <a:off x="10314360" y="2020680"/>
            <a:ext cx="182808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39" name="Text 31"/>
          <p:cNvSpPr/>
          <p:nvPr/>
        </p:nvSpPr>
        <p:spPr>
          <a:xfrm>
            <a:off x="10378440" y="2039040"/>
            <a:ext cx="169992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14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hape 32"/>
          <p:cNvSpPr/>
          <p:nvPr/>
        </p:nvSpPr>
        <p:spPr>
          <a:xfrm>
            <a:off x="438840" y="2432160"/>
            <a:ext cx="50220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41" name="Text 33"/>
          <p:cNvSpPr/>
          <p:nvPr/>
        </p:nvSpPr>
        <p:spPr>
          <a:xfrm>
            <a:off x="502920" y="2450520"/>
            <a:ext cx="37404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Shape 34"/>
          <p:cNvSpPr/>
          <p:nvPr/>
        </p:nvSpPr>
        <p:spPr>
          <a:xfrm>
            <a:off x="941760" y="2432160"/>
            <a:ext cx="292536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43" name="Text 35"/>
          <p:cNvSpPr/>
          <p:nvPr/>
        </p:nvSpPr>
        <p:spPr>
          <a:xfrm>
            <a:off x="1005840" y="2450520"/>
            <a:ext cx="27972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((8 + 2) * 5)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36"/>
          <p:cNvSpPr/>
          <p:nvPr/>
        </p:nvSpPr>
        <p:spPr>
          <a:xfrm>
            <a:off x="3867840" y="2432160"/>
            <a:ext cx="191952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45" name="Text 37"/>
          <p:cNvSpPr/>
          <p:nvPr/>
        </p:nvSpPr>
        <p:spPr>
          <a:xfrm>
            <a:off x="3931920" y="2450520"/>
            <a:ext cx="179136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Normal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38"/>
          <p:cNvSpPr/>
          <p:nvPr/>
        </p:nvSpPr>
        <p:spPr>
          <a:xfrm>
            <a:off x="5788080" y="2432160"/>
            <a:ext cx="452556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47" name="Text 39"/>
          <p:cNvSpPr/>
          <p:nvPr/>
        </p:nvSpPr>
        <p:spPr>
          <a:xfrm>
            <a:off x="5852160" y="2450520"/>
            <a:ext cx="43974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วงเล็บซ้อน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Shape 40"/>
          <p:cNvSpPr/>
          <p:nvPr/>
        </p:nvSpPr>
        <p:spPr>
          <a:xfrm>
            <a:off x="10314360" y="2432160"/>
            <a:ext cx="182808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49" name="Text 41"/>
          <p:cNvSpPr/>
          <p:nvPr/>
        </p:nvSpPr>
        <p:spPr>
          <a:xfrm>
            <a:off x="10378440" y="2450520"/>
            <a:ext cx="169992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50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42"/>
          <p:cNvSpPr/>
          <p:nvPr/>
        </p:nvSpPr>
        <p:spPr>
          <a:xfrm>
            <a:off x="438840" y="2843640"/>
            <a:ext cx="50220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51" name="Text 43"/>
          <p:cNvSpPr/>
          <p:nvPr/>
        </p:nvSpPr>
        <p:spPr>
          <a:xfrm>
            <a:off x="502920" y="2862000"/>
            <a:ext cx="37404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Shape 44"/>
          <p:cNvSpPr/>
          <p:nvPr/>
        </p:nvSpPr>
        <p:spPr>
          <a:xfrm>
            <a:off x="941760" y="2843640"/>
            <a:ext cx="292536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53" name="Text 45"/>
          <p:cNvSpPr/>
          <p:nvPr/>
        </p:nvSpPr>
        <p:spPr>
          <a:xfrm>
            <a:off x="1005840" y="2862000"/>
            <a:ext cx="27972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(3 + 4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46"/>
          <p:cNvSpPr/>
          <p:nvPr/>
        </p:nvSpPr>
        <p:spPr>
          <a:xfrm>
            <a:off x="3867840" y="2843640"/>
            <a:ext cx="191952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55" name="Text 47"/>
          <p:cNvSpPr/>
          <p:nvPr/>
        </p:nvSpPr>
        <p:spPr>
          <a:xfrm>
            <a:off x="3931920" y="2862000"/>
            <a:ext cx="179136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Error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48"/>
          <p:cNvSpPr/>
          <p:nvPr/>
        </p:nvSpPr>
        <p:spPr>
          <a:xfrm>
            <a:off x="5788080" y="2843640"/>
            <a:ext cx="452556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57" name="Text 49"/>
          <p:cNvSpPr/>
          <p:nvPr/>
        </p:nvSpPr>
        <p:spPr>
          <a:xfrm>
            <a:off x="5852160" y="2862000"/>
            <a:ext cx="43974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ปิดวงเล็บไม่ครบ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50"/>
          <p:cNvSpPr/>
          <p:nvPr/>
        </p:nvSpPr>
        <p:spPr>
          <a:xfrm>
            <a:off x="10314360" y="2843640"/>
            <a:ext cx="182808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59" name="Text 51"/>
          <p:cNvSpPr/>
          <p:nvPr/>
        </p:nvSpPr>
        <p:spPr>
          <a:xfrm>
            <a:off x="10378440" y="2862000"/>
            <a:ext cx="169992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Unbalanced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Shape 52"/>
          <p:cNvSpPr/>
          <p:nvPr/>
        </p:nvSpPr>
        <p:spPr>
          <a:xfrm>
            <a:off x="438840" y="3255120"/>
            <a:ext cx="50220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61" name="Text 53"/>
          <p:cNvSpPr/>
          <p:nvPr/>
        </p:nvSpPr>
        <p:spPr>
          <a:xfrm>
            <a:off x="502920" y="3273480"/>
            <a:ext cx="37404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5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54"/>
          <p:cNvSpPr/>
          <p:nvPr/>
        </p:nvSpPr>
        <p:spPr>
          <a:xfrm>
            <a:off x="941760" y="3255120"/>
            <a:ext cx="292536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63" name="Text 55"/>
          <p:cNvSpPr/>
          <p:nvPr/>
        </p:nvSpPr>
        <p:spPr>
          <a:xfrm>
            <a:off x="1005840" y="3273480"/>
            <a:ext cx="27972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 + 4)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Shape 56"/>
          <p:cNvSpPr/>
          <p:nvPr/>
        </p:nvSpPr>
        <p:spPr>
          <a:xfrm>
            <a:off x="3867840" y="3255120"/>
            <a:ext cx="191952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65" name="Text 57"/>
          <p:cNvSpPr/>
          <p:nvPr/>
        </p:nvSpPr>
        <p:spPr>
          <a:xfrm>
            <a:off x="3931920" y="3273480"/>
            <a:ext cx="179136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Error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58"/>
          <p:cNvSpPr/>
          <p:nvPr/>
        </p:nvSpPr>
        <p:spPr>
          <a:xfrm>
            <a:off x="5788080" y="3255120"/>
            <a:ext cx="452556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67" name="Text 59"/>
          <p:cNvSpPr/>
          <p:nvPr/>
        </p:nvSpPr>
        <p:spPr>
          <a:xfrm>
            <a:off x="5852160" y="3273480"/>
            <a:ext cx="43974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มี </a:t>
            </a: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) </a:t>
            </a:r>
            <a:r>
              <a:rPr lang="hi-IN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เกิน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Shape 60"/>
          <p:cNvSpPr/>
          <p:nvPr/>
        </p:nvSpPr>
        <p:spPr>
          <a:xfrm>
            <a:off x="10314360" y="3255120"/>
            <a:ext cx="182808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69" name="Text 61"/>
          <p:cNvSpPr/>
          <p:nvPr/>
        </p:nvSpPr>
        <p:spPr>
          <a:xfrm>
            <a:off x="10378440" y="3273480"/>
            <a:ext cx="169992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Unbalanced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62"/>
          <p:cNvSpPr/>
          <p:nvPr/>
        </p:nvSpPr>
        <p:spPr>
          <a:xfrm>
            <a:off x="438840" y="3666600"/>
            <a:ext cx="50220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71" name="Text 63"/>
          <p:cNvSpPr/>
          <p:nvPr/>
        </p:nvSpPr>
        <p:spPr>
          <a:xfrm>
            <a:off x="502920" y="3684960"/>
            <a:ext cx="37404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6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64"/>
          <p:cNvSpPr/>
          <p:nvPr/>
        </p:nvSpPr>
        <p:spPr>
          <a:xfrm>
            <a:off x="941760" y="3666600"/>
            <a:ext cx="292536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73" name="Text 65"/>
          <p:cNvSpPr/>
          <p:nvPr/>
        </p:nvSpPr>
        <p:spPr>
          <a:xfrm>
            <a:off x="1005840" y="3684960"/>
            <a:ext cx="27972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 + * 4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Shape 66"/>
          <p:cNvSpPr/>
          <p:nvPr/>
        </p:nvSpPr>
        <p:spPr>
          <a:xfrm>
            <a:off x="3867840" y="3666600"/>
            <a:ext cx="191952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75" name="Text 67"/>
          <p:cNvSpPr/>
          <p:nvPr/>
        </p:nvSpPr>
        <p:spPr>
          <a:xfrm>
            <a:off x="3931920" y="3684960"/>
            <a:ext cx="179136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Error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68"/>
          <p:cNvSpPr/>
          <p:nvPr/>
        </p:nvSpPr>
        <p:spPr>
          <a:xfrm>
            <a:off x="5788080" y="3666600"/>
            <a:ext cx="452556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77" name="Text 69"/>
          <p:cNvSpPr/>
          <p:nvPr/>
        </p:nvSpPr>
        <p:spPr>
          <a:xfrm>
            <a:off x="5852160" y="3684960"/>
            <a:ext cx="43974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Operator </a:t>
            </a:r>
            <a:r>
              <a:rPr lang="hi-IN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ติดกัน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Shape 70"/>
          <p:cNvSpPr/>
          <p:nvPr/>
        </p:nvSpPr>
        <p:spPr>
          <a:xfrm>
            <a:off x="10314360" y="3666600"/>
            <a:ext cx="182808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79" name="Text 71"/>
          <p:cNvSpPr/>
          <p:nvPr/>
        </p:nvSpPr>
        <p:spPr>
          <a:xfrm>
            <a:off x="10378440" y="3684960"/>
            <a:ext cx="169992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Invalid pattern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72"/>
          <p:cNvSpPr/>
          <p:nvPr/>
        </p:nvSpPr>
        <p:spPr>
          <a:xfrm>
            <a:off x="438840" y="4078080"/>
            <a:ext cx="50220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81" name="Text 73"/>
          <p:cNvSpPr/>
          <p:nvPr/>
        </p:nvSpPr>
        <p:spPr>
          <a:xfrm>
            <a:off x="502920" y="4096440"/>
            <a:ext cx="37404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7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Shape 74"/>
          <p:cNvSpPr/>
          <p:nvPr/>
        </p:nvSpPr>
        <p:spPr>
          <a:xfrm>
            <a:off x="941760" y="4078080"/>
            <a:ext cx="292536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83" name="Text 75"/>
          <p:cNvSpPr/>
          <p:nvPr/>
        </p:nvSpPr>
        <p:spPr>
          <a:xfrm>
            <a:off x="1005840" y="4096440"/>
            <a:ext cx="27972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10 / (5 - 5)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76"/>
          <p:cNvSpPr/>
          <p:nvPr/>
        </p:nvSpPr>
        <p:spPr>
          <a:xfrm>
            <a:off x="3867840" y="4078080"/>
            <a:ext cx="191952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85" name="Text 77"/>
          <p:cNvSpPr/>
          <p:nvPr/>
        </p:nvSpPr>
        <p:spPr>
          <a:xfrm>
            <a:off x="3931920" y="4096440"/>
            <a:ext cx="179136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Error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Shape 78"/>
          <p:cNvSpPr/>
          <p:nvPr/>
        </p:nvSpPr>
        <p:spPr>
          <a:xfrm>
            <a:off x="5788080" y="4078080"/>
            <a:ext cx="452556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87" name="Text 79"/>
          <p:cNvSpPr/>
          <p:nvPr/>
        </p:nvSpPr>
        <p:spPr>
          <a:xfrm>
            <a:off x="5852160" y="4096440"/>
            <a:ext cx="43974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ตัวหาร </a:t>
            </a: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= 0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80"/>
          <p:cNvSpPr/>
          <p:nvPr/>
        </p:nvSpPr>
        <p:spPr>
          <a:xfrm>
            <a:off x="10314360" y="4078080"/>
            <a:ext cx="1828080" cy="410760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89" name="Text 81"/>
          <p:cNvSpPr/>
          <p:nvPr/>
        </p:nvSpPr>
        <p:spPr>
          <a:xfrm>
            <a:off x="10378440" y="4096440"/>
            <a:ext cx="169992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Division by zero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82"/>
          <p:cNvSpPr/>
          <p:nvPr/>
        </p:nvSpPr>
        <p:spPr>
          <a:xfrm>
            <a:off x="438840" y="4489560"/>
            <a:ext cx="50220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91" name="Text 83"/>
          <p:cNvSpPr/>
          <p:nvPr/>
        </p:nvSpPr>
        <p:spPr>
          <a:xfrm>
            <a:off x="502920" y="4507920"/>
            <a:ext cx="37404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8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84"/>
          <p:cNvSpPr/>
          <p:nvPr/>
        </p:nvSpPr>
        <p:spPr>
          <a:xfrm>
            <a:off x="941760" y="4489560"/>
            <a:ext cx="292536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93" name="Text 85"/>
          <p:cNvSpPr/>
          <p:nvPr/>
        </p:nvSpPr>
        <p:spPr>
          <a:xfrm>
            <a:off x="1005840" y="4507920"/>
            <a:ext cx="27972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(empty)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Shape 86"/>
          <p:cNvSpPr/>
          <p:nvPr/>
        </p:nvSpPr>
        <p:spPr>
          <a:xfrm>
            <a:off x="3867840" y="4489560"/>
            <a:ext cx="191952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95" name="Text 87"/>
          <p:cNvSpPr/>
          <p:nvPr/>
        </p:nvSpPr>
        <p:spPr>
          <a:xfrm>
            <a:off x="3931920" y="4507920"/>
            <a:ext cx="179136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Error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88"/>
          <p:cNvSpPr/>
          <p:nvPr/>
        </p:nvSpPr>
        <p:spPr>
          <a:xfrm>
            <a:off x="5788080" y="4489560"/>
            <a:ext cx="452556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97" name="Text 89"/>
          <p:cNvSpPr/>
          <p:nvPr/>
        </p:nvSpPr>
        <p:spPr>
          <a:xfrm>
            <a:off x="5852160" y="4507920"/>
            <a:ext cx="439740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ไม่มี </a:t>
            </a: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Token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Shape 90"/>
          <p:cNvSpPr/>
          <p:nvPr/>
        </p:nvSpPr>
        <p:spPr>
          <a:xfrm>
            <a:off x="10314360" y="4489560"/>
            <a:ext cx="1828080" cy="410760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399" name="Text 91"/>
          <p:cNvSpPr/>
          <p:nvPr/>
        </p:nvSpPr>
        <p:spPr>
          <a:xfrm>
            <a:off x="10378440" y="4507920"/>
            <a:ext cx="1699920" cy="37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3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Empty expression</a:t>
            </a:r>
            <a:endParaRPr lang="en-US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92"/>
          <p:cNvSpPr/>
          <p:nvPr/>
        </p:nvSpPr>
        <p:spPr>
          <a:xfrm>
            <a:off x="475560" y="4892040"/>
            <a:ext cx="5394240" cy="959400"/>
          </a:xfrm>
          <a:prstGeom prst="roundRect">
            <a:avLst>
              <a:gd name="adj" fmla="val 7619"/>
            </a:avLst>
          </a:prstGeom>
          <a:solidFill>
            <a:srgbClr val="EAF0F8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401" name="Text 93"/>
          <p:cNvSpPr/>
          <p:nvPr/>
        </p:nvSpPr>
        <p:spPr>
          <a:xfrm>
            <a:off x="640080" y="4983480"/>
            <a:ext cx="50652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800" b="1" u="none" strike="noStrike">
                <a:solidFill>
                  <a:srgbClr val="2C4670"/>
                </a:solidFill>
                <a:effectLst/>
                <a:uFillTx/>
                <a:latin typeface="TH Sarabun New"/>
                <a:cs typeface="TH Sarabun New"/>
              </a:rPr>
              <a:t>ตัวอย่างบังคับ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94"/>
          <p:cNvSpPr/>
          <p:nvPr/>
        </p:nvSpPr>
        <p:spPr>
          <a:xfrm>
            <a:off x="640080" y="5312520"/>
            <a:ext cx="506520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3 + 4 * 2 / (1 - 5)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Postfix: 3 4 2 * 1 5 - / +   Result: 1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95"/>
          <p:cNvSpPr/>
          <p:nvPr/>
        </p:nvSpPr>
        <p:spPr>
          <a:xfrm>
            <a:off x="6108120" y="4892040"/>
            <a:ext cx="5485680" cy="959400"/>
          </a:xfrm>
          <a:prstGeom prst="roundRect">
            <a:avLst>
              <a:gd name="adj" fmla="val 7619"/>
            </a:avLst>
          </a:prstGeom>
          <a:solidFill>
            <a:srgbClr val="FFF1DE"/>
          </a:solidFill>
          <a:ln w="13970">
            <a:solidFill>
              <a:srgbClr val="C9D5E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chemeClr val="dk1"/>
              </a:solidFill>
              <a:effectLst/>
              <a:uFillTx/>
              <a:latin typeface="TH Sarabun New"/>
            </a:endParaRPr>
          </a:p>
        </p:txBody>
      </p:sp>
      <p:sp>
        <p:nvSpPr>
          <p:cNvPr id="404" name="Text 96"/>
          <p:cNvSpPr/>
          <p:nvPr/>
        </p:nvSpPr>
        <p:spPr>
          <a:xfrm>
            <a:off x="6272640" y="4983480"/>
            <a:ext cx="51566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lang="hi-IN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ต้องแสดงใน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Demo </a:t>
            </a:r>
            <a:r>
              <a:rPr lang="hi-IN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และตรวจว่า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A / B </a:t>
            </a:r>
            <a:r>
              <a:rPr lang="hi-IN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ให้ผลตรงกัน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 97"/>
          <p:cNvSpPr/>
          <p:nvPr/>
        </p:nvSpPr>
        <p:spPr>
          <a:xfrm>
            <a:off x="6272640" y="5312520"/>
            <a:ext cx="5156640" cy="44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rmAutofit fontScale="92500" lnSpcReduction="9999"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Stack state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หลังอ่าน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Token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อย่างน้อย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1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นิพจน์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และผลลัพธ์ของ </a:t>
            </a:r>
            <a:r>
              <a:rPr lang="en-US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ea typeface="TH Sarabun New"/>
              </a:rPr>
              <a:t>A / B </a:t>
            </a:r>
            <a:r>
              <a:rPr lang="hi-IN" sz="1700" b="0" u="none" strike="noStrike">
                <a:solidFill>
                  <a:srgbClr val="22304A"/>
                </a:solidFill>
                <a:effectLst/>
                <a:uFillTx/>
                <a:latin typeface="TH Sarabun New"/>
                <a:cs typeface="TH Sarabun New"/>
              </a:rPr>
              <a:t>ต้องตรงกัน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1"/>
          <p:cNvSpPr>
            <a:spLocks noGrp="1"/>
          </p:cNvSpPr>
          <p:nvPr>
            <p:ph type="sldNum" idx="14"/>
          </p:nvPr>
        </p:nvSpPr>
        <p:spPr>
          <a:xfrm>
            <a:off x="11475720" y="651060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defRPr>
            </a:lvl1pPr>
          </a:lstStyle>
          <a:p>
            <a:pPr algn="ctr"/>
            <a:r>
              <a:rPr sz="1200" b="0">
                <a:latin typeface="TH Sarabun New"/>
              </a:rPr>
              <a:t>11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Text 0"/>
          <p:cNvSpPr/>
          <p:nvPr/>
        </p:nvSpPr>
        <p:spPr>
          <a:xfrm>
            <a:off x="530280" y="329040"/>
            <a:ext cx="109720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rm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11. Experimental Results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8" name="PlaceHolder 1"/>
          <p:cNvSpPr>
            <a:spLocks noGrp="1"/>
          </p:cNvSpPr>
          <p:nvPr>
            <p:ph type="sldNum" idx="15"/>
          </p:nvPr>
        </p:nvSpPr>
        <p:spPr>
          <a:xfrm>
            <a:off x="11475720" y="6510600"/>
            <a:ext cx="799200" cy="299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667085"/>
                </a:solidFill>
                <a:effectLst/>
                <a:uFillTx/>
                <a:latin typeface="TH Sarabun New"/>
                <a:ea typeface="TH Sarabun New"/>
              </a:defRPr>
            </a:lvl1pPr>
          </a:lstStyle>
          <a:p>
            <a:pPr algn="ctr"/>
            <a:r>
              <a:rPr sz="1200" b="0">
                <a:latin typeface="TH Sarabun New"/>
              </a:rPr>
              <a:t>12</a:t>
            </a:r>
          </a:p>
        </p:txBody>
      </p:sp>
      <p:graphicFrame>
        <p:nvGraphicFramePr>
          <p:cNvPr id="409" name="Table 25"/>
          <p:cNvGraphicFramePr/>
          <p:nvPr/>
        </p:nvGraphicFramePr>
        <p:xfrm>
          <a:off x="502920" y="1051560"/>
          <a:ext cx="11107800" cy="2468880"/>
        </p:xfrm>
        <a:graphic>
          <a:graphicData uri="http://schemas.openxmlformats.org/drawingml/2006/table">
            <a:tbl>
              <a:tblPr/>
              <a:tblGrid>
                <a:gridCol w="1586880"/>
                <a:gridCol w="1586880"/>
                <a:gridCol w="1586880"/>
                <a:gridCol w="1586880"/>
                <a:gridCol w="1586880"/>
                <a:gridCol w="1586880"/>
                <a:gridCol w="158688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n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D456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Alg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D456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Actual tokens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D456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Avg Time (µs)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D456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Push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D456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Pop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D456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lang="en-US" sz="105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TH Sarabun New"/>
                        </a:rPr>
                        <a:t>Comparisons / Loops</a:t>
                      </a:r>
                      <a:endParaRPr lang="en-US" sz="10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D456E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834.300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70 / 202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203.780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71 / 101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1,647.620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1,501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1,501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767 / 2,002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670.600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1,501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1,501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769 / 1,001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10000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8,474.200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15,001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15,001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7,539 / 20,002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10000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3,614.760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15,001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15,001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7,540 / 10,001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50000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50001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12,280.660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75,001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75,001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37,527 / 100,002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CFD5E9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50000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B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50001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6,934.660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75,001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75,001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95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37,528 / 50,001</a:t>
                      </a:r>
                      <a:endParaRPr lang="en-US" sz="95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410" name="TextBox 26"/>
          <p:cNvSpPr/>
          <p:nvPr/>
        </p:nvSpPr>
        <p:spPr>
          <a:xfrm>
            <a:off x="594360" y="3703320"/>
            <a:ext cx="3839760" cy="23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hi-IN" sz="1600" b="1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วิธีทดลอง </a:t>
            </a:r>
            <a:r>
              <a:rPr lang="en-US" sz="1600" b="1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/ </a:t>
            </a:r>
            <a:r>
              <a:rPr lang="hi-IN" sz="1600" b="1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ผลสรุป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• n = 100, 1,000, 10,000, 50,000 </a:t>
            </a:r>
            <a:r>
              <a:rPr lang="hi-IN" sz="12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และเฉลี่ยผล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5 </a:t>
            </a:r>
            <a:r>
              <a:rPr lang="hi-IN" sz="12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รอบ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• เก็บ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Push / Pop / Comparisons / Loop Iterations / Time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• Algorithm B </a:t>
            </a:r>
            <a:r>
              <a:rPr lang="hi-IN" sz="12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เร็วกว่าทุกขนาดในชุดข้อมูลนี้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• แนวโน้มเวลาเพิ่มตามขนาดข้อมูล สอดคล้องกับ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O(n) </a:t>
            </a:r>
            <a:r>
              <a:rPr lang="hi-IN" sz="12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ในเชิง </a:t>
            </a: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Asymptotic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1" name="TextBox 28"/>
          <p:cNvSpPr/>
          <p:nvPr/>
        </p:nvSpPr>
        <p:spPr>
          <a:xfrm>
            <a:off x="594360" y="6144840"/>
            <a:ext cx="10880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hi-IN" sz="900" b="0" i="1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แหล่งข้อมูล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: results/Stack_Group04_Experiment.csv (</a:t>
            </a:r>
            <a:r>
              <a:rPr lang="hi-IN" sz="900" b="0" i="1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ค่าจริงจากการทดลอง</a:t>
            </a:r>
            <a:r>
              <a:rPr lang="en-US" sz="900" b="0" i="1" u="none" strike="noStrike">
                <a:solidFill>
                  <a:schemeClr val="dk1"/>
                </a:solidFill>
                <a:effectLst/>
                <a:uFillTx/>
                <a:latin typeface="TH Sarabun New"/>
              </a:rPr>
              <a:t>)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2" name="Picture 412" descr="Stack_Group04_Performance_Graph.png"/>
          <p:cNvPicPr/>
          <p:nvPr/>
        </p:nvPicPr>
        <p:blipFill>
          <a:blip r:embed="rId1"/>
          <a:stretch/>
        </p:blipFill>
        <p:spPr>
          <a:xfrm>
            <a:off x="4434840" y="3886200"/>
            <a:ext cx="7131600" cy="2697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TextBox 1"/>
          <p:cNvSpPr/>
          <p:nvPr/>
        </p:nvSpPr>
        <p:spPr>
          <a:xfrm>
            <a:off x="530280" y="329040"/>
            <a:ext cx="109720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2600" b="0" u="none" strike="noStrike">
                <a:solidFill>
                  <a:srgbClr val="141414"/>
                </a:solidFill>
                <a:effectLst/>
                <a:uFillTx/>
                <a:latin typeface="TH Sarabun New"/>
              </a:rPr>
              <a:t>12. </a:t>
            </a:r>
            <a:r>
              <a:rPr lang="hi-IN" sz="2600" b="0" u="none" strike="noStrike">
                <a:solidFill>
                  <a:srgbClr val="141414"/>
                </a:solidFill>
                <a:effectLst/>
                <a:uFillTx/>
                <a:latin typeface="TH Sarabun New"/>
              </a:rPr>
              <a:t>สรุปและวิธีที่กลุ่มเลือก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Box 2"/>
          <p:cNvSpPr/>
          <p:nvPr/>
        </p:nvSpPr>
        <p:spPr>
          <a:xfrm>
            <a:off x="548640" y="841320"/>
            <a:ext cx="1097208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hi-IN" sz="1700" b="0" u="none" strike="noStrike">
                <a:solidFill>
                  <a:srgbClr val="464646"/>
                </a:solidFill>
                <a:effectLst/>
                <a:uFillTx/>
                <a:latin typeface="TH Sarabun New"/>
              </a:rPr>
              <a:t>ข้อสรุปจากการออกแบบและเปรียบเทียบ </a:t>
            </a:r>
            <a:r>
              <a:rPr lang="en-US" sz="1700" b="0" u="none" strike="noStrike">
                <a:solidFill>
                  <a:srgbClr val="464646"/>
                </a:solidFill>
                <a:effectLst/>
                <a:uFillTx/>
                <a:latin typeface="TH Sarabun New"/>
              </a:rPr>
              <a:t>2 Algorithm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Box 3"/>
          <p:cNvSpPr/>
          <p:nvPr/>
        </p:nvSpPr>
        <p:spPr>
          <a:xfrm>
            <a:off x="685800" y="1371600"/>
            <a:ext cx="5257080" cy="38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9800" tIns="73080" rIns="1098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hi-IN" sz="2100" b="1" u="none" strike="noStrike">
                <a:solidFill>
                  <a:srgbClr val="141414"/>
                </a:solidFill>
                <a:effectLst/>
                <a:uFillTx/>
                <a:latin typeface="TH Sarabun New"/>
              </a:rPr>
              <a:t>สรุปงาน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• รับและตรวจสอบนิพจน์ </a:t>
            </a: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Infix </a:t>
            </a:r>
            <a:r>
              <a:rPr lang="hi-IN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ตามข้อจำกัดของ </a:t>
            </a: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Group 4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• ออกแบบ </a:t>
            </a: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Algorithm A </a:t>
            </a:r>
            <a:r>
              <a:rPr lang="hi-IN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และ </a:t>
            </a: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Algorithm B </a:t>
            </a:r>
            <a:r>
              <a:rPr lang="hi-IN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บนพื้นฐาน </a:t>
            </a: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Stack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• ทดสอบกรณีปกติ กรณีขอบเขต และกรณี </a:t>
            </a: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Error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• วิเคราะห์ </a:t>
            </a: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Time Complexity </a:t>
            </a:r>
            <a:r>
              <a:rPr lang="hi-IN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และ </a:t>
            </a: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Space Complexity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• พัฒนาเป็นโปรแกรม </a:t>
            </a: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Java </a:t>
            </a:r>
            <a:r>
              <a:rPr lang="hi-IN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และทดลองประสิทธิภาพ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TextBox 4"/>
          <p:cNvSpPr/>
          <p:nvPr/>
        </p:nvSpPr>
        <p:spPr>
          <a:xfrm>
            <a:off x="6355080" y="1371600"/>
            <a:ext cx="5257080" cy="383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109800" tIns="73080" rIns="1098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hi-IN" sz="2100" b="1" u="none" strike="noStrike">
                <a:solidFill>
                  <a:srgbClr val="141414"/>
                </a:solidFill>
                <a:effectLst/>
                <a:uFillTx/>
                <a:latin typeface="TH Sarabun New"/>
              </a:rPr>
              <a:t>วิธีที่กลุ่มเลือก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• Algorithm A </a:t>
            </a:r>
            <a:r>
              <a:rPr lang="hi-IN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เหมาะเมื่อเน้นความชัดเจนและตรวจสอบขั้นตอนง่าย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• Algorithm B </a:t>
            </a:r>
            <a:r>
              <a:rPr lang="hi-IN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คำนวณ </a:t>
            </a: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Infix </a:t>
            </a:r>
            <a:r>
              <a:rPr lang="hi-IN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โดยตรงและไม่ต้องสร้าง </a:t>
            </a: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Postfix </a:t>
            </a:r>
            <a:r>
              <a:rPr lang="hi-IN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เป็นผลลัพธ์กลาง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• ทั้งสองวิธีมี </a:t>
            </a: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Time Complexity </a:t>
            </a:r>
            <a:r>
              <a:rPr lang="hi-IN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โดยรวม </a:t>
            </a: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O(n)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• Space Complexity </a:t>
            </a:r>
            <a:r>
              <a:rPr lang="hi-IN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โดยรวม </a:t>
            </a: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O(n)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601"/>
              </a:spcAft>
            </a:pPr>
            <a:r>
              <a:rPr lang="en-US" sz="1700" b="0" u="none" strike="noStrike">
                <a:solidFill>
                  <a:srgbClr val="1E1E1E"/>
                </a:solidFill>
                <a:effectLst/>
                <a:uFillTx/>
                <a:latin typeface="TH Sarabun New"/>
              </a:rPr>
              <a:t>• การเลือกใช้ขึ้นอยู่กับเป้าหมายของระบบและความง่ายในการตรวจสอบ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30352" y="329184"/>
            <a:ext cx="10972800" cy="43891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TH Sarabun New"/>
              </a:rPr>
              <a:t>6. ตัวอย่าง Step-by-step — Algorithm 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0972800" cy="310896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TH Sarabun New"/>
              </a:rPr>
              <a:t>Algorithm B • นิพจน์ (3 + 4) * 2 — แสดง Operand Stack และ Operator Stack หลังอ่านแต่ละ Token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43584"/>
            <a:ext cx="594360" cy="438912"/>
          </a:xfrm>
          <a:prstGeom prst="rect">
            <a:avLst/>
          </a:prstGeom>
          <a:solidFill>
            <a:srgbClr val="EAF0F8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70" b="1">
                <a:solidFill>
                  <a:srgbClr val="000000"/>
                </a:solidFill>
                <a:latin typeface="TH Sarabun New"/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1243584"/>
            <a:ext cx="1325880" cy="438912"/>
          </a:xfrm>
          <a:prstGeom prst="rect">
            <a:avLst/>
          </a:prstGeom>
          <a:solidFill>
            <a:srgbClr val="EAF0F8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70" b="1">
                <a:solidFill>
                  <a:srgbClr val="000000"/>
                </a:solidFill>
                <a:latin typeface="TH Sarabun New"/>
              </a:rPr>
              <a:t>Token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243584"/>
            <a:ext cx="3657600" cy="438912"/>
          </a:xfrm>
          <a:prstGeom prst="rect">
            <a:avLst/>
          </a:prstGeom>
          <a:solidFill>
            <a:srgbClr val="EAF0F8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70" b="1">
                <a:solidFill>
                  <a:srgbClr val="000000"/>
                </a:solidFill>
                <a:latin typeface="TH Sarabun New"/>
              </a:rPr>
              <a:t>Action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43584"/>
            <a:ext cx="2788920" cy="438912"/>
          </a:xfrm>
          <a:prstGeom prst="rect">
            <a:avLst/>
          </a:prstGeom>
          <a:solidFill>
            <a:srgbClr val="EAF0F8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70" b="1">
                <a:solidFill>
                  <a:srgbClr val="000000"/>
                </a:solidFill>
                <a:latin typeface="TH Sarabun New"/>
              </a:rPr>
              <a:t>Operator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15400" y="1243584"/>
            <a:ext cx="3566160" cy="438912"/>
          </a:xfrm>
          <a:prstGeom prst="rect">
            <a:avLst/>
          </a:prstGeom>
          <a:solidFill>
            <a:srgbClr val="EAF0F8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70" b="1">
                <a:solidFill>
                  <a:srgbClr val="000000"/>
                </a:solidFill>
                <a:latin typeface="TH Sarabun New"/>
              </a:rPr>
              <a:t>Operand Stack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82496"/>
            <a:ext cx="59436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1682496"/>
            <a:ext cx="132588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(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1682496"/>
            <a:ext cx="36576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push (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682496"/>
            <a:ext cx="278892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(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15400" y="1682496"/>
            <a:ext cx="356616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67128"/>
            <a:ext cx="59436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2167128"/>
            <a:ext cx="132588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2167128"/>
            <a:ext cx="36576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push 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167128"/>
            <a:ext cx="278892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(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15400" y="2167128"/>
            <a:ext cx="356616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651760"/>
            <a:ext cx="59436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2651760"/>
            <a:ext cx="132588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+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8880" y="2651760"/>
            <a:ext cx="36576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push +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651760"/>
            <a:ext cx="278892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( +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15400" y="2651760"/>
            <a:ext cx="356616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136392"/>
            <a:ext cx="59436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143000" y="3136392"/>
            <a:ext cx="132588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3136392"/>
            <a:ext cx="36576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push 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136392"/>
            <a:ext cx="278892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( 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915400" y="3136392"/>
            <a:ext cx="356616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3, 4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621024"/>
            <a:ext cx="59436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3621024"/>
            <a:ext cx="132588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68880" y="3621024"/>
            <a:ext cx="365760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pop + → 3+4=7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3621024"/>
            <a:ext cx="278892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∅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15400" y="3621024"/>
            <a:ext cx="3566160" cy="484632"/>
          </a:xfrm>
          <a:prstGeom prst="rect">
            <a:avLst/>
          </a:prstGeom>
          <a:solidFill>
            <a:srgbClr val="FFFFFF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105656"/>
            <a:ext cx="594360" cy="484632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4105656"/>
            <a:ext cx="1325880" cy="484632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*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68880" y="4105656"/>
            <a:ext cx="3657600" cy="484632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push *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4105656"/>
            <a:ext cx="2788920" cy="484632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*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15400" y="4105656"/>
            <a:ext cx="3566160" cy="484632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590288"/>
            <a:ext cx="594360" cy="484632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7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43000" y="4590288"/>
            <a:ext cx="1325880" cy="484632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68880" y="4590288"/>
            <a:ext cx="3657600" cy="484632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push 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4590288"/>
            <a:ext cx="2788920" cy="484632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*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15400" y="4590288"/>
            <a:ext cx="3566160" cy="484632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7, 2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074920"/>
            <a:ext cx="594360" cy="484632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143000" y="5074920"/>
            <a:ext cx="1325880" cy="484632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END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5074920"/>
            <a:ext cx="3657600" cy="484632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pop * → 7*2=14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5074920"/>
            <a:ext cx="2788920" cy="484632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15400" y="5074920"/>
            <a:ext cx="3566160" cy="484632"/>
          </a:xfrm>
          <a:prstGeom prst="rect">
            <a:avLst/>
          </a:prstGeom>
          <a:solidFill>
            <a:srgbClr val="F9FBFD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230" b="0">
                <a:solidFill>
                  <a:srgbClr val="000000"/>
                </a:solidFill>
                <a:latin typeface="TH Sarabun New"/>
              </a:rPr>
              <a:t>14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" y="5650992"/>
            <a:ext cx="3383280" cy="603504"/>
          </a:xfrm>
          <a:prstGeom prst="rect">
            <a:avLst/>
          </a:prstGeom>
          <a:solidFill>
            <a:srgbClr val="E6F5F0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400" b="1">
                <a:solidFill>
                  <a:srgbClr val="000000"/>
                </a:solidFill>
                <a:latin typeface="TH Sarabun New"/>
              </a:rPr>
              <a:t>Operator Stack
จัดลำดับ + และ *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023360" y="5650992"/>
            <a:ext cx="3383280" cy="603504"/>
          </a:xfrm>
          <a:prstGeom prst="rect">
            <a:avLst/>
          </a:prstGeom>
          <a:solidFill>
            <a:srgbClr val="EAF0F8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400" b="1">
                <a:solidFill>
                  <a:srgbClr val="000000"/>
                </a:solidFill>
                <a:latin typeface="TH Sarabun New"/>
              </a:rPr>
              <a:t>Operand Stack
เก็บ 3, 4 → 7 → 7, 2 → 14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79792" y="5650992"/>
            <a:ext cx="4078224" cy="603504"/>
          </a:xfrm>
          <a:prstGeom prst="rect">
            <a:avLst/>
          </a:prstGeom>
          <a:solidFill>
            <a:srgbClr val="FFF1DE"/>
          </a:solidFill>
          <a:ln w="10160">
            <a:solidFill>
              <a:srgbClr val="C9D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/>
            <a:r>
              <a:rPr sz="1400" b="1">
                <a:solidFill>
                  <a:srgbClr val="000000"/>
                </a:solidFill>
                <a:latin typeface="TH Sarabun New"/>
              </a:rPr>
              <a:t>Result = 14
คำนวณตรงจาก Infix โดยไม่สร้าง Postfix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10528"/>
            <a:ext cx="795528" cy="301752"/>
          </a:xfrm>
          <a:prstGeom prst="rect">
            <a:avLst/>
          </a:prstGeom>
          <a:noFill/>
          <a:ln>
            <a:noFill/>
          </a:ln>
        </p:spPr>
        <p:txBody>
          <a:bodyPr wrap="none" lIns="73152" rIns="73152" t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000000"/>
                </a:solidFill>
                <a:latin typeface="TH Sarabun New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H Sarabun New" pitchFamily="0" charset="1"/>
        <a:ea typeface=""/>
        <a:cs typeface=""/>
      </a:majorFont>
      <a:minorFont>
        <a:latin typeface="TH Sarabun New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LibreOffice/26.2.5.2$Windows_X86_64 LibreOffice_project/cd7284b4cbbfeb507e630c1aac019f4157393acb</Application>
  <AppVersion>15.0000</AppVersion>
  <Words>0</Words>
  <Paragraphs>0</Paragraphs>
  <Company>Suan Sunandha Rajabhat University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2026-09-07T05:31:29Z</dcterms:created>
  <dc:creator>OpenAI</dc:creator>
  <dc:description/>
  <dc:language>en-US</dc:language>
  <cp:lastModifiedBy/>
  <dcterms:modified xsi:type="dcterms:W3CDTF">2026-09-09T22:20:09Z</dcterms:modified>
  <cp:revision>4</cp:revision>
  <dc:subject>Group 4 Expression Processor</dc:subject>
  <dc:title>Group 4 — Expression Processor: Infix &amp; Postfix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21</vt:i4>
  </property>
  <property fmtid="{D5CDD505-2E9C-101B-9397-08002B2CF9AE}" pid="3" name="PresentationFormat">
    <vt:lpwstr>On-screen Show (16:9)</vt:lpwstr>
  </property>
  <property fmtid="{D5CDD505-2E9C-101B-9397-08002B2CF9AE}" pid="4" name="Slides">
    <vt:i4>21</vt:i4>
  </property>
</Properties>
</file>