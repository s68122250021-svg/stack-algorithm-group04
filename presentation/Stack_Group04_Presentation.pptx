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Algorithm A</c:v>
                </c:pt>
              </c:strCache>
            </c:strRef>
          </c:tx>
          <c:spPr>
            <a:solidFill>
              <a:srgbClr val="3A3F44"/>
            </a:solidFill>
            <a:ln w="31750" cap="flat">
              <a:solidFill>
                <a:srgbClr val="3A3F4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A3F44"/>
              </a:solidFill>
              <a:ln w="9525" cap="flat">
                <a:solidFill>
                  <a:srgbClr val="3A3F4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100</c:v>
                  </c:pt>
                  <c:pt idx="1">
                    <c:v>1,000</c:v>
                  </c:pt>
                  <c:pt idx="2">
                    <c:v>10,000</c:v>
                  </c:pt>
                  <c:pt idx="3">
                    <c:v>50,000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95</c:v>
                </c:pt>
                <c:pt idx="2">
                  <c:v>880</c:v>
                </c:pt>
                <c:pt idx="3">
                  <c:v>4600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Algorithm B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100</c:v>
                  </c:pt>
                  <c:pt idx="1">
                    <c:v>1,000</c:v>
                  </c:pt>
                  <c:pt idx="2">
                    <c:v>10,000</c:v>
                  </c:pt>
                  <c:pt idx="3">
                    <c:v>50,000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88</c:v>
                </c:pt>
                <c:pt idx="2">
                  <c:v>810</c:v>
                </c:pt>
                <c:pt idx="3">
                  <c:v>4300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A8F98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A8F98"/>
                    </a:solidFill>
                    <a:latin typeface="Arial"/>
                  </a:rPr>
                  <a:t>n (Token)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8DBD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A8F98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A8F98"/>
                    </a:solidFill>
                    <a:latin typeface="Arial"/>
                  </a:rPr>
                  <a:t>เวลา (µs)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F232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822960" cy="230429"/>
          </a:xfrm>
          <a:prstGeom prst="roundRect">
            <a:avLst>
              <a:gd name="adj" fmla="val 15873"/>
            </a:avLst>
          </a:prstGeom>
          <a:solidFill>
            <a:srgbClr val="5B6B7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445106"/>
            <a:ext cx="822960" cy="230429"/>
          </a:xfrm>
          <a:prstGeom prst="roundRect">
            <a:avLst>
              <a:gd name="adj" fmla="val 15873"/>
            </a:avLst>
          </a:prstGeom>
          <a:solidFill>
            <a:srgbClr val="6E7681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741371"/>
            <a:ext cx="822960" cy="230429"/>
          </a:xfrm>
          <a:prstGeom prst="roundRect">
            <a:avLst>
              <a:gd name="adj" fmla="val 15873"/>
            </a:avLst>
          </a:prstGeom>
          <a:solidFill>
            <a:srgbClr val="9AA0A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กลุ่มที่ 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Expression Processor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Infix และ Postfix ด้วย Stack (Java)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5029200"/>
            <a:ext cx="3200400" cy="0"/>
          </a:xfrm>
          <a:prstGeom prst="line">
            <a:avLst/>
          </a:prstGeom>
          <a:noFill/>
          <a:ln w="12700">
            <a:solidFill>
              <a:srgbClr val="D8DB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349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สมาชิกกลุ่ม: __________________________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CSD2103 การออกแบบและวิเคราะห์อัลกอริทึม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Case Story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กรณีศึกษาและขอบเขตงานหลัก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6766560" cy="5074920"/>
          </a:xfrm>
          <a:prstGeom prst="roundRect">
            <a:avLst>
              <a:gd name="adj" fmla="val 901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ระบบต้องรับนิพจน์ทางคณิตศาสตร์ ตรวจสอบความถูกต้อง แปลง Infix เป็น Postfix และคำนวณผลลัพธ์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รองรับ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542032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Operator: + - * 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วงเล็บ ( 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127248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จำนวนเต็มบวก หลายหลัก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419856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ช่องว่างระหว่าง Token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ไม่บังคับรองรับ (งานโบนัส)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096512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จำนวนทศนิยม / Unary Minus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ตัวแปร / Function ทางคณิตศาสตร์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4681728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วงเล็บ [ ] และ { }  ·  % และ ^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5074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ขั้นตอนที่โปรแกรมต้องทำ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537667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1. Tokenize  2. ตรวจวงเล็บ  3. ตรวจรูปแบบ  4. แปลง/ประเมิน  5. แสดงผล/แจ้ง Error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06640" y="1097280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3A3F44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ตัวอย่างบังคับ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80960" y="15727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+ 4 * 2 / (1 - 5)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680960" y="19933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 Postfix: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80960" y="223113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4 2 * 1 5 - / +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80960" y="25786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ผลลัพธ์ = 1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06640" y="3383280"/>
            <a:ext cx="4297680" cy="2788920"/>
          </a:xfrm>
          <a:prstGeom prst="roundRect">
            <a:avLst>
              <a:gd name="adj" fmla="val 1639"/>
            </a:avLst>
          </a:prstGeom>
          <a:solidFill>
            <a:srgbClr val="F5F5F5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0" y="3566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Operation ที่เกิดบ่อย / ใช้เวลามาก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680960" y="411480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บ่อยที่สุด: push/pop ระหว่างสแกนแต่ละ token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ใช้เวลามากสุด: เจอ ")" ต้อง pop จนกว่าจะเจอ "(" — แต่ยังคง O(n) รวม เพราะแต่ละ operator pop ได้ครั้งเดียว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การวิเคราะห์ปัญหา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Input · Output · Constraints · Assumptions · Edge Cases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24912" cy="2743200"/>
          </a:xfrm>
          <a:prstGeom prst="roundRect">
            <a:avLst>
              <a:gd name="adj" fmla="val 16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2724912" cy="502920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98448"/>
            <a:ext cx="2724912" cy="301752"/>
          </a:xfrm>
          <a:prstGeom prst="rect">
            <a:avLst/>
          </a:prstGeom>
          <a:solidFill>
            <a:srgbClr val="3A3F44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9728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Input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string นิพจน์ + operator + วงเล็บ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13432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เลขจำนวนเต็มบวก หลายหลัก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2935224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มีช่องว่างคั่นได้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6704" y="1097280"/>
            <a:ext cx="2724912" cy="2743200"/>
          </a:xfrm>
          <a:prstGeom prst="roundRect">
            <a:avLst>
              <a:gd name="adj" fmla="val 1678"/>
            </a:avLst>
          </a:prstGeom>
          <a:solidFill>
            <a:srgbClr val="F5F5F5"/>
          </a:solidFill>
          <a:ln/>
        </p:spPr>
      </p:sp>
      <p:sp>
        <p:nvSpPr>
          <p:cNvPr id="12" name="Shape 10"/>
          <p:cNvSpPr/>
          <p:nvPr/>
        </p:nvSpPr>
        <p:spPr>
          <a:xfrm>
            <a:off x="3346704" y="1097280"/>
            <a:ext cx="2724912" cy="502920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/>
        </p:spPr>
      </p:sp>
      <p:sp>
        <p:nvSpPr>
          <p:cNvPr id="13" name="Shape 11"/>
          <p:cNvSpPr/>
          <p:nvPr/>
        </p:nvSpPr>
        <p:spPr>
          <a:xfrm>
            <a:off x="3346704" y="1298448"/>
            <a:ext cx="2724912" cy="301752"/>
          </a:xfrm>
          <a:prstGeom prst="rect">
            <a:avLst/>
          </a:prstGeom>
          <a:solidFill>
            <a:srgbClr val="3A3F44"/>
          </a:solidFill>
          <a:ln/>
        </p:spPr>
      </p:sp>
      <p:sp>
        <p:nvSpPr>
          <p:cNvPr id="14" name="Text 12"/>
          <p:cNvSpPr/>
          <p:nvPr/>
        </p:nvSpPr>
        <p:spPr>
          <a:xfrm>
            <a:off x="3483864" y="109728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Output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83864" y="1691640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Postfix expression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83864" y="2313432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ผลลัพธ์ตัวเลข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83864" y="2935224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หรือ error พร้อมสาเหตุ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36208" y="1097280"/>
            <a:ext cx="2724912" cy="2743200"/>
          </a:xfrm>
          <a:prstGeom prst="roundRect">
            <a:avLst>
              <a:gd name="adj" fmla="val 1678"/>
            </a:avLst>
          </a:prstGeom>
          <a:solidFill>
            <a:srgbClr val="F5F5F5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6208" y="1097280"/>
            <a:ext cx="2724912" cy="502920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/>
        </p:spPr>
      </p:sp>
      <p:sp>
        <p:nvSpPr>
          <p:cNvPr id="20" name="Shape 18"/>
          <p:cNvSpPr/>
          <p:nvPr/>
        </p:nvSpPr>
        <p:spPr>
          <a:xfrm>
            <a:off x="6236208" y="1298448"/>
            <a:ext cx="2724912" cy="301752"/>
          </a:xfrm>
          <a:prstGeom prst="rect">
            <a:avLst/>
          </a:prstGeom>
          <a:solidFill>
            <a:srgbClr val="3A3F44"/>
          </a:solidFill>
          <a:ln/>
        </p:spPr>
      </p:sp>
      <p:sp>
        <p:nvSpPr>
          <p:cNvPr id="21" name="Text 19"/>
          <p:cNvSpPr/>
          <p:nvPr/>
        </p:nvSpPr>
        <p:spPr>
          <a:xfrm>
            <a:off x="6373368" y="109728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Constraints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73368" y="1691640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รองรับแค่ + - * /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73368" y="2313432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ไม่มีทศนิยม/unary minus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73368" y="2935224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ห้ามหารด้วยศูนย์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25712" y="1097280"/>
            <a:ext cx="2724912" cy="2743200"/>
          </a:xfrm>
          <a:prstGeom prst="roundRect">
            <a:avLst>
              <a:gd name="adj" fmla="val 1678"/>
            </a:avLst>
          </a:prstGeom>
          <a:solidFill>
            <a:srgbClr val="F5F5F5"/>
          </a:solidFill>
          <a:ln/>
        </p:spPr>
      </p:sp>
      <p:sp>
        <p:nvSpPr>
          <p:cNvPr id="26" name="Shape 24"/>
          <p:cNvSpPr/>
          <p:nvPr/>
        </p:nvSpPr>
        <p:spPr>
          <a:xfrm>
            <a:off x="9125712" y="1097280"/>
            <a:ext cx="2724912" cy="502920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/>
        </p:spPr>
      </p:sp>
      <p:sp>
        <p:nvSpPr>
          <p:cNvPr id="27" name="Shape 25"/>
          <p:cNvSpPr/>
          <p:nvPr/>
        </p:nvSpPr>
        <p:spPr>
          <a:xfrm>
            <a:off x="9125712" y="1298448"/>
            <a:ext cx="2724912" cy="301752"/>
          </a:xfrm>
          <a:prstGeom prst="rect">
            <a:avLst/>
          </a:prstGeom>
          <a:solidFill>
            <a:srgbClr val="3A3F44"/>
          </a:solidFill>
          <a:ln/>
        </p:spPr>
      </p:sp>
      <p:sp>
        <p:nvSpPr>
          <p:cNvPr id="28" name="Text 26"/>
          <p:cNvSpPr/>
          <p:nvPr/>
        </p:nvSpPr>
        <p:spPr>
          <a:xfrm>
            <a:off x="9262872" y="109728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62872" y="1691640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อ่านทีละ token ได้ชัดเจน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262872" y="2313432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Priority ตามหลักคณิตศาสตร์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62872" y="2935224"/>
            <a:ext cx="2450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* / มาก่อน + -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023360"/>
            <a:ext cx="11247120" cy="1051560"/>
          </a:xfrm>
          <a:prstGeom prst="roundRect">
            <a:avLst>
              <a:gd name="adj" fmla="val 4348"/>
            </a:avLst>
          </a:prstGeom>
          <a:solidFill>
            <a:srgbClr val="F5F5F5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60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ปกติ: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3+4*2 · (3+4)*2
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ขอบเขต: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นิพจน์ว่าง · ตัวเลขตัวเดียว (5) · วงเล็บซ้อนหลายชั้น ((8+2)*5)
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ผิดพลาด: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วงเล็บไม่ครบคู่ (3+4 · operator ซ้อนกัน 3+*4 · หารศูนย์ 10/(5-5)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212080"/>
            <a:ext cx="11247120" cy="868680"/>
          </a:xfrm>
          <a:prstGeom prst="roundRect">
            <a:avLst>
              <a:gd name="adj" fmla="val 5263"/>
            </a:avLst>
          </a:prstGeom>
          <a:solidFill>
            <a:srgbClr val="3A3F44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5212080"/>
            <a:ext cx="10789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Operation ที่ใช้เวลามากสุด: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เจอ ")" ต้อง pop จนกว่าจะเจอ "(" — วงเล็บซ้อนลึกอาจ pop ติดกันหลายครั้ง แต่รวมทั้งโปรแกรมยังเป็น O(n) เสมอ เพราะแต่ละ operator pop ได้ครั้งเดียว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Algorithm 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Infix → Postfix แล้ว Evaluate แยก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303520" cy="5120640"/>
          </a:xfrm>
          <a:prstGeom prst="roundRect">
            <a:avLst>
              <a:gd name="adj" fmla="val 893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9844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627632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แยกทำงานเป็น 2 ขั้นตอน (2 ฟังก์ชัน): แปลง Infix เป็น Postfix ให้เสร็จทั้งหมดก่อน โดยใช้ operatorStack เทียบ priority ของเครื่องหมาย จากนั้นค่อยนำ Postfix ที่ได้ไปคำนวณผลลัพธ์อีกขั้นตอนหนึ่งแยกต่างหาก โดยใช้ operandStack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3364992"/>
            <a:ext cx="4709160" cy="0"/>
          </a:xfrm>
          <a:prstGeom prst="line">
            <a:avLst/>
          </a:prstGeom>
          <a:noFill/>
          <a:ln w="12700">
            <a:solidFill>
              <a:srgbClr val="D8DB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49300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ข้อดี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376732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 Postfix ออกมาดูได้ ตรวจ debug ง่าย · evaluate ซ้ำได้โดยไม่ต้อง parse ใหม่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470916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4983480"/>
            <a:ext cx="4754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ต้องเก็บ postfix list เพิ่มอีกก้อนหนึ่ง (ใช้พื้นที่เพิ่มขึ้นเล็กน้อย)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0" y="1097280"/>
            <a:ext cx="5760720" cy="5120640"/>
          </a:xfrm>
          <a:prstGeom prst="roundRect">
            <a:avLst>
              <a:gd name="adj" fmla="val 893"/>
            </a:avLst>
          </a:prstGeom>
          <a:solidFill>
            <a:srgbClr val="3A3F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26187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ขั้นตอนหลัก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169164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Tokenize นิพจน์ให้เป็นรายการ token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2679192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679192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2724912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InfixToPostfix: วนอ่าน token เทียบ priority ด้วย operatorStack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3712464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3712464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0" y="3758184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EvaluatePostfix: อ่าน Postfix คำนวณด้วย operandStack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17920" y="4745736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4745736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858000" y="4791456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คืนผลลัพธ์ตัวเลข หรือแจ้ง Error พร้อมสาเหตุ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Algorithm B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ประเมิน Infix ตรงๆ ด้วย 2 Stacks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303520" cy="5120640"/>
          </a:xfrm>
          <a:prstGeom prst="roundRect">
            <a:avLst>
              <a:gd name="adj" fmla="val 893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9844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627632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operandStack เก็บตัวเลข และ operatorStack เก็บเครื่องหมาย ทำงานพร้อมกันในรอบเดียว โดยไม่ต้องแปลงเป็น Postfix ก่อน — พอ pop เครื่องหมายที่ priority สูงกว่าหรือเท่ากันออกมา จะคำนวณทันทีผ่านฟังก์ชัน ApplyTopOperator แทนที่จะเก็บไว้ในลิสต์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3364992"/>
            <a:ext cx="4709160" cy="0"/>
          </a:xfrm>
          <a:prstGeom prst="line">
            <a:avLst/>
          </a:prstGeom>
          <a:noFill/>
          <a:ln w="12700">
            <a:solidFill>
              <a:srgbClr val="D8DB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49300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ข้อดี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376732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ประหยัดหน่วยความจำกว่าเล็กน้อย · โค้ดกระชับกว่าเพราะทำงานรอบเดียวจบ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470916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4983480"/>
            <a:ext cx="4754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 Postfix เก็บไว้ให้ดู debug ยากกว่า A เล็กน้อย · เอาไป evaluate ซ้ำไม่ได้โดยตรง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0" y="1097280"/>
            <a:ext cx="5760720" cy="5120640"/>
          </a:xfrm>
          <a:prstGeom prst="roundRect">
            <a:avLst>
              <a:gd name="adj" fmla="val 893"/>
            </a:avLst>
          </a:prstGeom>
          <a:solidFill>
            <a:srgbClr val="3A3F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26187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ขั้นตอนหลัก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169164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Tokenize นิพจน์ให้เป็นรายการ token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2679192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679192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2724912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 token ทีละตัว: เลข → push เข้า operandStack ทันที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3712464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3712464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0" y="3758184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เครื่องหมาย → เทียบ priority แล้ว ApplyTopOperator คำนวณทันที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17920" y="4745736"/>
            <a:ext cx="52120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4745736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3F4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858000" y="4791456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คืนผลลัพธ์ตัวเลข หรือแจ้ง Error พร้อมสาเหตุ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Pseudocode — Algorithm 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InfixToPostfix(expression)  และ  EvaluatePostfix(postfixList)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623560" cy="5248656"/>
          </a:xfrm>
          <a:prstGeom prst="roundRect">
            <a:avLst>
              <a:gd name="adj" fmla="val 610"/>
            </a:avLst>
          </a:prstGeom>
          <a:solidFill>
            <a:srgbClr val="F5F5F5"/>
          </a:solidFill>
          <a:ln w="9525">
            <a:solidFill>
              <a:srgbClr val="D8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106424"/>
            <a:ext cx="5404104" cy="5138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InfixToPostfix(expression)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an empty operatorStack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an empty postfixList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← Tokenize(expression)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token IN tokens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token is a number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 token to postfixList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token is "("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Push token to operatorStack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token is ")"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operatorStack is not empty AND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operatorStack.peek() is not "("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Pop operator from operatorStack,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add to postfixList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WHILE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operatorStack is empty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error "วงเล็บไม่ครบคู่"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IF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Pop "(" from operatorStack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token is an operator (+, -, *, /)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operatorStack is not empty AND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operatorStack.peek() is not "(" AND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Priority(operatorStack.peek()) &gt;= Priority(token)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Pop operator from operatorStack,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add to postfixList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WHILE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Push token to operatorStack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error "token ไม่ถูกต้อง"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FOR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operatorStack is not empty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operatorStack.peek() is "("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error "วงเล็บไม่ครบคู่"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Pop operator from operatorStack, add to postfixList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WHILE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postfixList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6172200" y="1051560"/>
            <a:ext cx="5532120" cy="4948936"/>
          </a:xfrm>
          <a:prstGeom prst="roundRect">
            <a:avLst>
              <a:gd name="adj" fmla="val 647"/>
            </a:avLst>
          </a:prstGeom>
          <a:solidFill>
            <a:srgbClr val="F5F5F5"/>
          </a:solidFill>
          <a:ln w="9525">
            <a:solidFill>
              <a:srgbClr val="D8DB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81928" y="1106424"/>
            <a:ext cx="5312664" cy="4839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EvaluatePostfix(postfixList)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an empty operandStack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token IN postfixList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token is a number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Push token to operandStack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token is an operator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operandStack has fewer than 2 elements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error "นิพจน์ไม่ถูกต้อง"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IF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 ← operandStack.pop()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← operandStack.pop()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is "/" AND b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error "หารด้วยศูนย์"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IF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← Calculate(a, token, b)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Push result to operandStack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FOR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operandStack has exactly 1 element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operandStack.pop()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error "นิพจน์ไม่ถูกต้อง"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IF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Pseudocode — Algorithm B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EvaluateInfixDirect(expression)  และ  Helper Functions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623560" cy="5257800"/>
          </a:xfrm>
          <a:prstGeom prst="roundRect">
            <a:avLst>
              <a:gd name="adj" fmla="val 609"/>
            </a:avLst>
          </a:prstGeom>
          <a:solidFill>
            <a:srgbClr val="F5F5F5"/>
          </a:solidFill>
          <a:ln w="9525">
            <a:solidFill>
              <a:srgbClr val="D8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106424"/>
            <a:ext cx="5404104" cy="5148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EvaluateInfixDirect(expression)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an empty operandStack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an empty operatorStack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← Tokenize(expression)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token IN tokens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token is a number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Push token to operandStack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token is "("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Push token to operatorStack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token is ")"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operatorStack is not empty AND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operatorStack.peek() is not "("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ApplyTopOperator(operandStack, operatorStack)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WHILE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operatorStack is empty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error "วงเล็บไม่ครบคู่"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IF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Pop "(" from operatorStack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token is an operator (+, -, *, /)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operatorStack is not empty AND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operatorStack.peek() is not "(" AND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Priority(operatorStack.peek()) &gt;= Priority(token)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ApplyTopOperator(operandStack, operatorStack)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 WHILE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Push token to operatorStack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error "token ไม่ถูกต้อง"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FOR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operatorStack is not empty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operatorStack.peek() is "("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error "วงเล็บไม่ครบคู่"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ApplyTopOperator(operandStack, operatorStack)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WHILE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operandStack has exactly 1 element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operandStack.pop()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error "นิพจน์ไม่ถูกต้อง"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IF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6172200" y="1051560"/>
            <a:ext cx="5532120" cy="2538476"/>
          </a:xfrm>
          <a:prstGeom prst="roundRect">
            <a:avLst>
              <a:gd name="adj" fmla="val 1261"/>
            </a:avLst>
          </a:prstGeom>
          <a:solidFill>
            <a:srgbClr val="F5F5F5"/>
          </a:solidFill>
          <a:ln w="9525">
            <a:solidFill>
              <a:srgbClr val="D8DB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81928" y="1106424"/>
            <a:ext cx="5312664" cy="2428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Priority(operator)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operator is "+" OR "-"  → RETURN 1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operator is "*" OR "/"  → RETURN 2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ApplyTopOperator(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operandStack, operatorStack)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 ← operatorStack.pop()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← operandStack.pop()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← operandStack.pop()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op is "/" AND b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→ RETURN error "หารด้วยศูนย์"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← Calculate(a, op, b)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Push result to operandStack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3818636"/>
            <a:ext cx="5532120" cy="2194560"/>
          </a:xfrm>
          <a:prstGeom prst="roundRect">
            <a:avLst>
              <a:gd name="adj" fmla="val 2083"/>
            </a:avLst>
          </a:prstGeom>
          <a:solidFill>
            <a:srgbClr val="F5F5F5"/>
          </a:solidFill>
          <a:ln/>
        </p:spPr>
      </p:sp>
      <p:sp>
        <p:nvSpPr>
          <p:cNvPr id="9" name="Text 7"/>
          <p:cNvSpPr/>
          <p:nvPr/>
        </p:nvSpPr>
        <p:spPr>
          <a:xfrm>
            <a:off x="6355080" y="3955796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Priority():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* และ / สำคัญกว่า + และ -  ใช้เทียบก่อน push ทุกครั้ง
</a:t>
            </a:r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ApplyTopOperator():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หัวใจของ B — หยิบเครื่องหมาย + เลข 2 ตัวบนสุดมาคำนวณ push ผลลัพธ์กลับทันที (คือขั้นตอนที่ A แยกไปทำใน EvaluatePostfix)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Step-by-step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กรณีปกติ (A) และกรณีขอบเขต-วงเล็บซ้อน (B)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A: 3 + 4 * 2 / (1 - 5)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6235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77240"/>
                <a:gridCol w="1600200"/>
                <a:gridCol w="25603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Step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Token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Op.Stack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Postfix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(ว่าง)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+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+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*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* +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3 4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/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/ +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 4 2 *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11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/ +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 4 2*15-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12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จบ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(ว่าง)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 4 2*15-/+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703320"/>
            <a:ext cx="5623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 คำนวณ: 4*2=8, 1-5=-4, 8/-4=-2, 3+(-2)=1  →  ผลลัพธ์ = 1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172200" y="1005840"/>
            <a:ext cx="5532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B: ((8 + 2) * 5)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98448"/>
          <a:ext cx="5532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77240"/>
                <a:gridCol w="1508760"/>
                <a:gridCol w="25603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Step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Token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Op.Stack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Operand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(ว่าง)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((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10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7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*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*(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10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9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(ว่าง)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50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10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จบ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50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172200" y="3703320"/>
            <a:ext cx="5532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 ผลลัพธ์ = 50 (ตรวจสอบ manual: (8+2)*5 = 10*5 = 50) วงเล็บซ้อนทำให้ operator stack มี ( ค้าง 2 ตัวพร้อมกัน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57200" y="4434840"/>
            <a:ext cx="11247120" cy="1783080"/>
          </a:xfrm>
          <a:prstGeom prst="roundRect">
            <a:avLst>
              <a:gd name="adj" fmla="val 2564"/>
            </a:avLst>
          </a:prstGeom>
          <a:solidFill>
            <a:srgbClr val="3A3F44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57200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หลักการ trace stack ที่ใช้ทั้งสองกรณี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31520" y="48920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1) ตัวเลข → ใส่/push ทันที ไม่ต้องเทียบอะไร   2) เครื่องหมาย → เทียบ priority กับตัวบนสุดของ stack ก่อนเสมอ pop ตัวที่สำคัญกว่าหรือเท่ากันออกมาก่อน แล้วค่อย push ตัวใหม่   3) วงเล็บปิด → pop ทุกอย่างในวงเล็บออกมาจนเจอวงเล็บเปิด แล้วทิ้งวงเล็บเปิดนั้นไปเลย (ไม่ใส่ผลลัพธ์)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Correctness Argument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Loop Invariant — Algorithm A: InfixToPostfix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47120" cy="960120"/>
          </a:xfrm>
          <a:prstGeom prst="roundRect">
            <a:avLst>
              <a:gd name="adj" fmla="val 4762"/>
            </a:avLst>
          </a:prstGeom>
          <a:solidFill>
            <a:srgbClr val="3A3F44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“ก่อนเริ่มแต่ละรอบ operator ทุกตัวใน operatorStack เรียงจาก priority สูงสุดอยู่บนสุดเสมอ (ในวงเล็บเดียวกัน) และ postfixList ที่สะสมไว้แล้วเป็นลำดับ Postfix ที่ถูกต้องของ token ทั้งหมดที่อ่านผ่านมาแล้ว”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3639312" cy="1965960"/>
          </a:xfrm>
          <a:prstGeom prst="roundRect">
            <a:avLst>
              <a:gd name="adj" fmla="val 2326"/>
            </a:avLst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86000"/>
            <a:ext cx="3273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1. Initialization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24328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ก่อน loop เริ่มรอบแรก operatorStack และ postfixList ยังว่างเปล่าทั้งคู่ ถือว่า invariant เป็นจริงโดยอัตโนมัติ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51960" y="2148840"/>
            <a:ext cx="3639312" cy="1965960"/>
          </a:xfrm>
          <a:prstGeom prst="roundRect">
            <a:avLst>
              <a:gd name="adj" fmla="val 2326"/>
            </a:avLst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2286000"/>
            <a:ext cx="3273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2. Maintenance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34840" y="2624328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ตัวเลข: ใส่ postfixList ตรงๆ ไม่กระทบ stack · operator ใหม่: pop ตัวที่ priority สูงกว่าหรือเท่ากันก่อน push เสมอ · (: push เป็นขอบเขตใหม่ · ): pop จนเจอ ( แล้วทิ้งไป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2148840"/>
            <a:ext cx="3639312" cy="1965960"/>
          </a:xfrm>
          <a:prstGeom prst="roundRect">
            <a:avLst>
              <a:gd name="adj" fmla="val 2326"/>
            </a:avLst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2286000"/>
            <a:ext cx="3273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3. Termination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2624328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operator ที่เหลือค้างถูก pop ออกมาใส่ postfixList ทั้งหมดตามลำดับ priority ที่ถูกต้องอยู่แล้ว ผลลัพธ์สุดท้ายเป็น Postfix ที่ถูกต้องสมบูรณ์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297680"/>
            <a:ext cx="5541264" cy="1005840"/>
          </a:xfrm>
          <a:prstGeom prst="roundRect">
            <a:avLst>
              <a:gd name="adj" fmla="val 4545"/>
            </a:avLst>
          </a:prstGeom>
          <a:solidFill>
            <a:srgbClr val="3A3F4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297680"/>
            <a:ext cx="50840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ข้อมูลไม่สูญหาย: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 token อ่านครั้งเดียว operator push-pop ครั้งเดียว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4297680"/>
            <a:ext cx="5541264" cy="1005840"/>
          </a:xfrm>
          <a:prstGeom prst="roundRect">
            <a:avLst>
              <a:gd name="adj" fmla="val 4545"/>
            </a:avLst>
          </a:prstGeom>
          <a:solidFill>
            <a:srgbClr val="3A3F44"/>
          </a:solidFill>
          <a:ln/>
        </p:spPr>
      </p:sp>
      <p:sp>
        <p:nvSpPr>
          <p:cNvPr id="18" name="Text 16"/>
          <p:cNvSpPr/>
          <p:nvPr/>
        </p:nvSpPr>
        <p:spPr>
          <a:xfrm>
            <a:off x="6391656" y="4297680"/>
            <a:ext cx="50840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หยุดทำงานเสมอ: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loop ควบคุมด้วยจำนวน token จำกัด ไม่มี infinite loop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Error case (วงเล็บไม่ครบคู่) ถูกจับได้ตรงจุดที่ invariant ถูกละเมิด เช่น operator stack ว่างตอนเจอ ) หรือยังมี ( เหลือค้างหลัง loop จบ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Big-O Analysis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 Complexity และวิเคราะห์แยกฟังก์ชัน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47120" cy="658368"/>
          </a:xfrm>
          <a:prstGeom prst="roundRect">
            <a:avLst>
              <a:gd name="adj" fmla="val 6944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05840"/>
            <a:ext cx="10789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แนวคิดหลัก: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แต่ละ token ถูก push/pop ได้อย่างมากครั้งเดียวต่อ stack — แม้มี while ซ้อนใน for ก็ไม่ทำให้สูงขึ้น (Amortized O(1) ต่อ token) n = จำนวน token ทั้งหมด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6235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22960"/>
                <a:gridCol w="822960"/>
                <a:gridCol w="822960"/>
                <a:gridCol w="8229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Algorithm</a:t>
                      </a:r>
                      <a:endParaRPr lang="en-US" sz="10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Best</a:t>
                      </a:r>
                      <a:endParaRPr lang="en-US" sz="10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Average</a:t>
                      </a:r>
                      <a:endParaRPr lang="en-US" sz="10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Worst</a:t>
                      </a:r>
                      <a:endParaRPr lang="en-US" sz="10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Aux. Space</a:t>
                      </a:r>
                      <a:endParaRPr lang="en-US" sz="10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Algorithm A (Convert+Evaluate)</a:t>
                      </a:r>
                      <a:endParaRPr lang="en-US" sz="10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Algorithm B (Direct Evaluate)</a:t>
                      </a:r>
                      <a:endParaRPr lang="en-US" sz="10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83080"/>
          <a:ext cx="5532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2402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ฟังก์ชัน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Complexity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เหตุผล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Tokenize()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O(n)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อ่าน string ทีละตัวอักษรครั้งเดียว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push/pop/peek()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O(1)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operation พื้นฐานของ stack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Priority()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O(1)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เทียบค่าคงที่ ไม่ loop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WHILE เทียบ priority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O(1) amort. รวม O(n)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operator แต่ละตัว pop ครั้งเดียว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703320"/>
            <a:ext cx="11247120" cy="960120"/>
          </a:xfrm>
          <a:prstGeom prst="roundRect">
            <a:avLst>
              <a:gd name="adj" fmla="val 4762"/>
            </a:avLst>
          </a:prstGeom>
          <a:solidFill>
            <a:srgbClr val="F5F5F5"/>
          </a:solidFill>
          <a:ln/>
        </p:spPr>
      </p:sp>
      <p:sp>
        <p:nvSpPr>
          <p:cNvPr id="9" name="Text 5"/>
          <p:cNvSpPr/>
          <p:nvPr/>
        </p:nvSpPr>
        <p:spPr>
          <a:xfrm>
            <a:off x="685800" y="37947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Auxiliary Space: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 ใช้ operatorStack+postfixList+operandStack กรณีเลวร้ายสุด (วงเล็บซ้อนเยอะ) = O(n) · B ใช้ operandStack+operatorStack พร้อมกันตลอด = O(n) เช่นกัน แต่ไม่ต้องเก็บ postfixList แยกจึงประหยัดกว่าเล็กน้อยในทางปฏิบัติ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4800600"/>
            <a:ext cx="11247120" cy="1508760"/>
          </a:xfrm>
          <a:prstGeom prst="roundRect">
            <a:avLst>
              <a:gd name="adj" fmla="val 3030"/>
            </a:avLst>
          </a:prstGeom>
          <a:solidFill>
            <a:srgbClr val="3A3F44"/>
          </a:solidFill>
          <a:ln/>
        </p:spPr>
      </p:sp>
      <p:sp>
        <p:nvSpPr>
          <p:cNvPr id="11" name="Text 7"/>
          <p:cNvSpPr/>
          <p:nvPr/>
        </p:nvSpPr>
        <p:spPr>
          <a:xfrm>
            <a:off x="685800" y="4937760"/>
            <a:ext cx="1078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 nested while ไม่ทำให้เป็น O(n²)?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525780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operator แต่ละตัวถูก pop ได้แค่ครั้งเดียวตลอดทั้งโปรแกรม รวมทั้งหมดจึงไม่เกิน n ครั้ง แม้ while ในแต่ละรอบจะดูเหมือนวนได้หลายครั้ง เทคนิคนี้เรียกว่า Amortized Analysis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Class Diagram และ Test Cases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โครงสร้างโปรแกรม + 10 กรณีทดสอบ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176272" cy="150876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 w="12700">
            <a:solidFill>
              <a:srgbClr val="D8DB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2176272" cy="502920"/>
          </a:xfrm>
          <a:prstGeom prst="roundRect">
            <a:avLst>
              <a:gd name="adj" fmla="val 7273"/>
            </a:avLst>
          </a:prstGeom>
          <a:solidFill>
            <a:srgbClr val="3A3F4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43584"/>
            <a:ext cx="2176272" cy="274320"/>
          </a:xfrm>
          <a:prstGeom prst="rect">
            <a:avLst/>
          </a:prstGeom>
          <a:solidFill>
            <a:srgbClr val="3A3F44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00584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Tokenizer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30352" y="1335024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1572768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tokenize()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1956816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priority()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70632" y="1005840"/>
            <a:ext cx="2176272" cy="150876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 w="12700">
            <a:solidFill>
              <a:srgbClr val="D8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70632" y="1005840"/>
            <a:ext cx="2176272" cy="502920"/>
          </a:xfrm>
          <a:prstGeom prst="roundRect">
            <a:avLst>
              <a:gd name="adj" fmla="val 7273"/>
            </a:avLst>
          </a:prstGeom>
          <a:solidFill>
            <a:srgbClr val="525860"/>
          </a:solidFill>
          <a:ln/>
        </p:spPr>
      </p:sp>
      <p:sp>
        <p:nvSpPr>
          <p:cNvPr id="13" name="Shape 11"/>
          <p:cNvSpPr/>
          <p:nvPr/>
        </p:nvSpPr>
        <p:spPr>
          <a:xfrm>
            <a:off x="2770632" y="1243584"/>
            <a:ext cx="2176272" cy="274320"/>
          </a:xfrm>
          <a:prstGeom prst="rect">
            <a:avLst/>
          </a:prstGeom>
          <a:solidFill>
            <a:srgbClr val="525860"/>
          </a:solidFill>
          <a:ln/>
        </p:spPr>
      </p:sp>
      <p:sp>
        <p:nvSpPr>
          <p:cNvPr id="14" name="Text 12"/>
          <p:cNvSpPr/>
          <p:nvPr/>
        </p:nvSpPr>
        <p:spPr>
          <a:xfrm>
            <a:off x="2843784" y="100584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OperationCounter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43784" y="1335024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862072" y="1572768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incrementPush()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862072" y="1956816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getCounts()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84064" y="1005840"/>
            <a:ext cx="2176272" cy="150876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 w="12700">
            <a:solidFill>
              <a:srgbClr val="D8DB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84064" y="1005840"/>
            <a:ext cx="2176272" cy="502920"/>
          </a:xfrm>
          <a:prstGeom prst="roundRect">
            <a:avLst>
              <a:gd name="adj" fmla="val 7273"/>
            </a:avLst>
          </a:prstGeom>
          <a:solidFill>
            <a:srgbClr val="6E7681"/>
          </a:solidFill>
          <a:ln/>
        </p:spPr>
      </p:sp>
      <p:sp>
        <p:nvSpPr>
          <p:cNvPr id="20" name="Shape 18"/>
          <p:cNvSpPr/>
          <p:nvPr/>
        </p:nvSpPr>
        <p:spPr>
          <a:xfrm>
            <a:off x="5084064" y="1243584"/>
            <a:ext cx="2176272" cy="274320"/>
          </a:xfrm>
          <a:prstGeom prst="rect">
            <a:avLst/>
          </a:prstGeom>
          <a:solidFill>
            <a:srgbClr val="6E7681"/>
          </a:solidFill>
          <a:ln/>
        </p:spPr>
      </p:sp>
      <p:sp>
        <p:nvSpPr>
          <p:cNvPr id="21" name="Text 19"/>
          <p:cNvSpPr/>
          <p:nvPr/>
        </p:nvSpPr>
        <p:spPr>
          <a:xfrm>
            <a:off x="5157216" y="100584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ExpressionResult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157216" y="1335024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75504" y="1572768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success()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175504" y="1956816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getValue()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397496" y="1005840"/>
            <a:ext cx="2176272" cy="150876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 w="12700">
            <a:solidFill>
              <a:srgbClr val="D8DB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97496" y="1005840"/>
            <a:ext cx="2176272" cy="502920"/>
          </a:xfrm>
          <a:prstGeom prst="roundRect">
            <a:avLst>
              <a:gd name="adj" fmla="val 7273"/>
            </a:avLst>
          </a:prstGeom>
          <a:solidFill>
            <a:srgbClr val="3A3F44"/>
          </a:solidFill>
          <a:ln/>
        </p:spPr>
      </p:sp>
      <p:sp>
        <p:nvSpPr>
          <p:cNvPr id="27" name="Shape 25"/>
          <p:cNvSpPr/>
          <p:nvPr/>
        </p:nvSpPr>
        <p:spPr>
          <a:xfrm>
            <a:off x="7397496" y="1243584"/>
            <a:ext cx="2176272" cy="274320"/>
          </a:xfrm>
          <a:prstGeom prst="rect">
            <a:avLst/>
          </a:prstGeom>
          <a:solidFill>
            <a:srgbClr val="3A3F44"/>
          </a:solidFill>
          <a:ln/>
        </p:spPr>
      </p:sp>
      <p:sp>
        <p:nvSpPr>
          <p:cNvPr id="28" name="Text 26"/>
          <p:cNvSpPr/>
          <p:nvPr/>
        </p:nvSpPr>
        <p:spPr>
          <a:xfrm>
            <a:off x="7470648" y="100584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AlgorithmA/B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470648" y="1335024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88936" y="1572768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evaluate()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88936" y="1956816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calculate()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710928" y="1005840"/>
            <a:ext cx="2176272" cy="150876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 w="12700">
            <a:solidFill>
              <a:srgbClr val="D8DBD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10928" y="1005840"/>
            <a:ext cx="2176272" cy="502920"/>
          </a:xfrm>
          <a:prstGeom prst="roundRect">
            <a:avLst>
              <a:gd name="adj" fmla="val 7273"/>
            </a:avLst>
          </a:prstGeom>
          <a:solidFill>
            <a:srgbClr val="6E7681"/>
          </a:solidFill>
          <a:ln/>
        </p:spPr>
      </p:sp>
      <p:sp>
        <p:nvSpPr>
          <p:cNvPr id="34" name="Shape 32"/>
          <p:cNvSpPr/>
          <p:nvPr/>
        </p:nvSpPr>
        <p:spPr>
          <a:xfrm>
            <a:off x="9710928" y="1243584"/>
            <a:ext cx="2176272" cy="274320"/>
          </a:xfrm>
          <a:prstGeom prst="rect">
            <a:avLst/>
          </a:prstGeom>
          <a:solidFill>
            <a:srgbClr val="6E7681"/>
          </a:solidFill>
          <a:ln/>
        </p:spPr>
      </p:sp>
      <p:sp>
        <p:nvSpPr>
          <p:cNvPr id="35" name="Text 33"/>
          <p:cNvSpPr/>
          <p:nvPr/>
        </p:nvSpPr>
        <p:spPr>
          <a:xfrm>
            <a:off x="9784080" y="100584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Main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784080" y="1335024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(root)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802368" y="1572768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printMenu()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802368" y="1956816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runAlgorithm()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  <a:gridCol w="2011680"/>
                <a:gridCol w="50292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ID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Input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ประเภท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Result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F4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TC01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3+4*2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Normal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11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TC02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(3+4)*2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Normal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14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TC03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((8+2)*5)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Boundary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50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TC04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(3+4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Invalid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Err: วงเล็บ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TC06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3+*4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Invalid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Err: นิพจน์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TC07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10/(5-5)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Invalid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Err: หารศูนย์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TC08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(ว่าง)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Empty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Err: ว่าง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TC09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Best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TC10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3+4*2/(1-5)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Worst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</a:t>
                      </a:r>
                      <a:endParaRPr lang="en-US" sz="9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457200" y="5623560"/>
            <a:ext cx="11247120" cy="685800"/>
          </a:xfrm>
          <a:prstGeom prst="roundRect">
            <a:avLst>
              <a:gd name="adj" fmla="val 6667"/>
            </a:avLst>
          </a:prstGeom>
          <a:solidFill>
            <a:srgbClr val="F5F5F5"/>
          </a:solidFill>
          <a:ln/>
        </p:spPr>
      </p:sp>
      <p:sp>
        <p:nvSpPr>
          <p:cNvPr id="41" name="Text 38"/>
          <p:cNvSpPr/>
          <p:nvPr/>
        </p:nvSpPr>
        <p:spPr>
          <a:xfrm>
            <a:off x="685800" y="562356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Validation &amp; Error Handling: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try-catch ครอบทุก evaluate() · ตรวจวงเล็บไม่ครบคู่ · operator ซ้อนผิดรูป · หารศูนย์ · นิพจน์ว่าง · operand ไม่พอก่อนคำนวณ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ผลการทดลองและสรุป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Experimental Results และวิธีที่กลุ่มเลือก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05840"/>
          <a:ext cx="54864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080760" y="1005840"/>
            <a:ext cx="5623560" cy="2880360"/>
          </a:xfrm>
          <a:prstGeom prst="roundRect">
            <a:avLst>
              <a:gd name="adj" fmla="val 1587"/>
            </a:avLst>
          </a:prstGeom>
          <a:solidFill>
            <a:srgbClr val="F5F5F5"/>
          </a:solidFill>
          <a:ln/>
        </p:spPr>
      </p:sp>
      <p:sp>
        <p:nvSpPr>
          <p:cNvPr id="6" name="Text 3"/>
          <p:cNvSpPr/>
          <p:nvPr/>
        </p:nvSpPr>
        <p:spPr>
          <a:xfrm>
            <a:off x="6309360" y="114300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การออกแบบการทดลอง &amp; อภิปรายผล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309360" y="1463040"/>
            <a:ext cx="51663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n = 100 / 1,000 / 10,000 / 50,000 อย่างน้อย 5 รอบต่อขนาด รายงานค่าเฉลี่ย วัดด้วย System.nanoTime() พร้อมนับ push/pop/comparisons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ผล: เวลาที่วัดได้เพิ่มเป็นเส้นตรงตาม n สอดคล้องกับ O(n) ทั้งสอง Algorithm — B เร็วกว่า A เล็กน้อยเพราะไม่ต้องสร้าง postfix list พัก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*ตัวเลขตัวอย่าง ให้แทนด้วยผลจริงจากการรัน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4114800"/>
            <a:ext cx="2724912" cy="2011680"/>
          </a:xfrm>
          <a:prstGeom prst="roundRect">
            <a:avLst>
              <a:gd name="adj" fmla="val 2273"/>
            </a:avLst>
          </a:prstGeom>
          <a:solidFill>
            <a:srgbClr val="3A3F44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422452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0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457200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Time Complexity เท่ากัน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5074920"/>
            <a:ext cx="24505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ทั้ง A และ B เป็น O(n)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28416" y="4114800"/>
            <a:ext cx="2724912" cy="2011680"/>
          </a:xfrm>
          <a:prstGeom prst="roundRect">
            <a:avLst>
              <a:gd name="adj" fmla="val 2273"/>
            </a:avLst>
          </a:prstGeom>
          <a:solidFill>
            <a:srgbClr val="3A3F44"/>
          </a:solidFill>
          <a:ln/>
        </p:spPr>
      </p:sp>
      <p:sp>
        <p:nvSpPr>
          <p:cNvPr id="13" name="Text 10"/>
          <p:cNvSpPr/>
          <p:nvPr/>
        </p:nvSpPr>
        <p:spPr>
          <a:xfrm>
            <a:off x="3465576" y="422452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0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65576" y="457200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Space ต่างกันเล็กน้อย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465576" y="5074920"/>
            <a:ext cx="24505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 เก็บ postfix list เพิ่ม B คำนวณสด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99632" y="4114800"/>
            <a:ext cx="2724912" cy="2011680"/>
          </a:xfrm>
          <a:prstGeom prst="roundRect">
            <a:avLst>
              <a:gd name="adj" fmla="val 2273"/>
            </a:avLst>
          </a:prstGeom>
          <a:solidFill>
            <a:srgbClr val="3A3F44"/>
          </a:solidFill>
          <a:ln/>
        </p:spPr>
      </p:sp>
      <p:sp>
        <p:nvSpPr>
          <p:cNvPr id="17" name="Text 14"/>
          <p:cNvSpPr/>
          <p:nvPr/>
        </p:nvSpPr>
        <p:spPr>
          <a:xfrm>
            <a:off x="6336792" y="422452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0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336792" y="457200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 Algorithm B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336792" y="5074920"/>
            <a:ext cx="24505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ประหยัดหน่วยความจำและโค้ดกระชับกว่า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070848" y="4114800"/>
            <a:ext cx="2724912" cy="2011680"/>
          </a:xfrm>
          <a:prstGeom prst="roundRect">
            <a:avLst>
              <a:gd name="adj" fmla="val 2273"/>
            </a:avLst>
          </a:prstGeom>
          <a:solidFill>
            <a:srgbClr val="3A3F44"/>
          </a:solidFill>
          <a:ln/>
        </p:spPr>
      </p:sp>
      <p:sp>
        <p:nvSpPr>
          <p:cNvPr id="21" name="Text 18"/>
          <p:cNvSpPr/>
          <p:nvPr/>
        </p:nvSpPr>
        <p:spPr>
          <a:xfrm>
            <a:off x="9208008" y="422452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0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08008" y="4572000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แนวทางพัฒนาต่อ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208008" y="5074920"/>
            <a:ext cx="24505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ขยายรองรับทศนิยม, %, ^ เป็นงานโบนัส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" y="6263640"/>
            <a:ext cx="11247120" cy="0"/>
          </a:xfrm>
          <a:prstGeom prst="line">
            <a:avLst/>
          </a:prstGeom>
          <a:noFill/>
          <a:ln w="12700">
            <a:solidFill>
              <a:srgbClr val="D8DB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/ ค่ะ — พร้อมตอบคำถาม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147572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2026-08-27T10:57:23Z</dcterms:created>
  <dcterms:modified xsi:type="dcterms:W3CDTF">2026-08-27T10:57:23Z</dcterms:modified>
</cp:coreProperties>
</file>