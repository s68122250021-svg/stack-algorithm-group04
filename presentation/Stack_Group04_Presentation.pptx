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3.xml" ContentType="application/vnd.openxmlformats-officedocument.theme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Masters/slideMaster1.xml" ContentType="application/vnd.openxmlformats-officedocument.presentationml.slide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dt" idx="2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ftr" idx="3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6"/>
          <p:cNvSpPr>
            <a:spLocks noGrp="1"/>
          </p:cNvSpPr>
          <p:nvPr>
            <p:ph type="sldNum" idx="4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770CBD16-C690-4C81-BB07-96B5B5680CC9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9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923757D-3DCA-4F57-97D5-6AFDEB8ACC9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2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6B77DAF-6552-45B2-8666-3DADE8CBCFD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11B4E3A-6A20-4988-B72A-55FB26C857B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136449C-B93F-487E-B797-0E7EC5AEB28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1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7F64250-E216-4F1C-BCB1-E402C845A5F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4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CC3B595-63D4-4394-A3E7-40374AB29DC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7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CA86F77-97C4-48E0-8F53-188752C7EDD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0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426FA71-D941-49FE-B6DE-CDF2A10140C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4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DA60531-8859-4A93-963B-5E6CBDA4149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4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6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915554-14CC-4844-9DAB-C33E25D0173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4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9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AD763FD-9E99-481D-ADE1-A8A38F14CE1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5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2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C17DF68-D0C8-4AFD-81D3-EACDEA1AC50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040" cy="163800"/>
          </a:xfrm>
          <a:prstGeom prst="rect">
            <a:avLst/>
          </a:prstGeom>
          <a:solidFill>
            <a:srgbClr val="2C4670"/>
          </a:solidFill>
          <a:ln w="12700">
            <a:solidFill>
              <a:srgbClr val="2C467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" name="Shape 1"/>
          <p:cNvSpPr/>
          <p:nvPr/>
        </p:nvSpPr>
        <p:spPr>
          <a:xfrm>
            <a:off x="502920" y="6473880"/>
            <a:ext cx="11155680" cy="360"/>
          </a:xfrm>
          <a:prstGeom prst="line">
            <a:avLst/>
          </a:prstGeom>
          <a:ln w="12700">
            <a:solidFill>
              <a:srgbClr val="D7DD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Text 2"/>
          <p:cNvSpPr/>
          <p:nvPr/>
        </p:nvSpPr>
        <p:spPr>
          <a:xfrm>
            <a:off x="502920" y="6537960"/>
            <a:ext cx="511992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200" b="0" u="none" strike="noStrike">
                <a:solidFill>
                  <a:srgbClr val="7A8492"/>
                </a:solidFill>
                <a:effectLst/>
                <a:uFillTx/>
                <a:latin typeface="TH Sarabun New"/>
                <a:cs typeface="TH Sarabun New"/>
              </a:rPr>
              <a:t>งานปฏิบัติการกลุ่ม </a:t>
            </a:r>
            <a:r>
              <a:rPr lang="en-US" sz="1200" b="0" u="none" strike="noStrike">
                <a:solidFill>
                  <a:srgbClr val="7A8492"/>
                </a:solidFill>
                <a:effectLst/>
                <a:uFillTx/>
                <a:latin typeface="TH Sarabun New"/>
                <a:ea typeface="TH Sarabun New"/>
              </a:rPr>
              <a:t>4 • Expression Processor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Text 3"/>
          <p:cNvSpPr/>
          <p:nvPr/>
        </p:nvSpPr>
        <p:spPr>
          <a:xfrm>
            <a:off x="8549640" y="6537960"/>
            <a:ext cx="265104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A8492"/>
                </a:solidFill>
                <a:effectLst/>
                <a:uFillTx/>
                <a:latin typeface="TH Sarabun New"/>
                <a:ea typeface="TH Sarabun New"/>
              </a:rPr>
              <a:t>Stack / Java / Algorithm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1"/>
          <p:cNvSpPr>
            <a:spLocks noGrp="1"/>
          </p:cNvSpPr>
          <p:nvPr>
            <p:ph type="sldNum" idx="1"/>
          </p:nvPr>
        </p:nvSpPr>
        <p:spPr>
          <a:xfrm>
            <a:off x="11475720" y="6510600"/>
            <a:ext cx="799200" cy="299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667085"/>
                </a:solidFill>
                <a:effectLst/>
                <a:uFillTx/>
                <a:latin typeface="TH Sarabun New"/>
                <a:ea typeface="TH Sarabun New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0C8EF5CA-93FC-42AD-971D-CDB741035FCE}" type="slidenum">
              <a:rPr lang="en-US" sz="1200" b="0" u="none" strike="noStrike">
                <a:solidFill>
                  <a:srgbClr val="667085"/>
                </a:solidFill>
                <a:effectLst/>
                <a:uFillTx/>
                <a:latin typeface="TH Sarabun New"/>
                <a:ea typeface="TH Sarabun New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TH Sarabun New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TH Sarabun New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TH Sarabun New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TH Sarabun New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TH Sarabun New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TH Sarabun New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TH Sarabun New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TH Sarabun New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0"/>
          <p:cNvSpPr/>
          <p:nvPr/>
        </p:nvSpPr>
        <p:spPr>
          <a:xfrm>
            <a:off x="685800" y="914400"/>
            <a:ext cx="18280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TH Sarabun New"/>
                <a:ea typeface="TH Sarabun New"/>
              </a:rPr>
              <a:t>GROUP 04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1"/>
          <p:cNvSpPr/>
          <p:nvPr/>
        </p:nvSpPr>
        <p:spPr>
          <a:xfrm>
            <a:off x="685800" y="914400"/>
            <a:ext cx="1828080" cy="383400"/>
          </a:xfrm>
          <a:prstGeom prst="roundRect">
            <a:avLst>
              <a:gd name="adj" fmla="val 42857"/>
            </a:avLst>
          </a:prstGeom>
          <a:solidFill>
            <a:srgbClr val="2C4670"/>
          </a:solidFill>
          <a:ln w="12700">
            <a:solidFill>
              <a:srgbClr val="2C467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17" name="Text 2"/>
          <p:cNvSpPr/>
          <p:nvPr/>
        </p:nvSpPr>
        <p:spPr>
          <a:xfrm>
            <a:off x="685800" y="1737360"/>
            <a:ext cx="1069776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2C4670"/>
                </a:solidFill>
                <a:effectLst/>
                <a:uFillTx/>
                <a:latin typeface="TH Sarabun New"/>
                <a:ea typeface="TH Sarabun New"/>
              </a:rPr>
              <a:t>Expression Processor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3"/>
          <p:cNvSpPr/>
          <p:nvPr/>
        </p:nvSpPr>
        <p:spPr>
          <a:xfrm>
            <a:off x="713160" y="2423160"/>
            <a:ext cx="103320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6C7480"/>
                </a:solidFill>
                <a:effectLst/>
                <a:uFillTx/>
                <a:latin typeface="TH Sarabun New"/>
                <a:ea typeface="TH Sarabun New"/>
              </a:rPr>
              <a:t>Infix → Postfix  •  Stack  •  Java  •  Algorithm Analysis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Shape 4"/>
          <p:cNvSpPr/>
          <p:nvPr/>
        </p:nvSpPr>
        <p:spPr>
          <a:xfrm>
            <a:off x="713160" y="3063240"/>
            <a:ext cx="3519720" cy="1508040"/>
          </a:xfrm>
          <a:prstGeom prst="roundRect">
            <a:avLst>
              <a:gd name="adj" fmla="val 4848"/>
            </a:avLst>
          </a:prstGeom>
          <a:solidFill>
            <a:srgbClr val="EAF0F8"/>
          </a:solidFill>
          <a:ln w="1397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20" name="Text 5"/>
          <p:cNvSpPr/>
          <p:nvPr/>
        </p:nvSpPr>
        <p:spPr>
          <a:xfrm>
            <a:off x="877680" y="3154680"/>
            <a:ext cx="3190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800" b="1" u="none" strike="noStrike">
                <a:solidFill>
                  <a:srgbClr val="2C4670"/>
                </a:solidFill>
                <a:effectLst/>
                <a:uFillTx/>
                <a:latin typeface="TH Sarabun New"/>
                <a:cs typeface="TH Sarabun New"/>
              </a:rPr>
              <a:t>โจทย์หลัก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6"/>
          <p:cNvSpPr/>
          <p:nvPr/>
        </p:nvSpPr>
        <p:spPr>
          <a:xfrm>
            <a:off x="877680" y="3483720"/>
            <a:ext cx="3190680" cy="9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รับนิพจน์ทางคณิตศาสตร์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ตรวจสอบความถูกต้อง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แปลง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/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คำนวณผลลัพธ์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Shape 7"/>
          <p:cNvSpPr/>
          <p:nvPr/>
        </p:nvSpPr>
        <p:spPr>
          <a:xfrm>
            <a:off x="4370760" y="3063240"/>
            <a:ext cx="3519720" cy="1508040"/>
          </a:xfrm>
          <a:prstGeom prst="roundRect">
            <a:avLst>
              <a:gd name="adj" fmla="val 4848"/>
            </a:avLst>
          </a:prstGeom>
          <a:solidFill>
            <a:srgbClr val="E6F5F0"/>
          </a:solidFill>
          <a:ln w="1397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23" name="Text 8"/>
          <p:cNvSpPr/>
          <p:nvPr/>
        </p:nvSpPr>
        <p:spPr>
          <a:xfrm>
            <a:off x="4535280" y="3154680"/>
            <a:ext cx="3190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2C4670"/>
                </a:solidFill>
                <a:effectLst/>
                <a:uFillTx/>
                <a:latin typeface="TH Sarabun New"/>
                <a:ea typeface="TH Sarabun New"/>
              </a:rPr>
              <a:t>Algorithm 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9"/>
          <p:cNvSpPr/>
          <p:nvPr/>
        </p:nvSpPr>
        <p:spPr>
          <a:xfrm>
            <a:off x="4535280" y="3483720"/>
            <a:ext cx="3190680" cy="9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Infix → Postfix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แล้วประเมิน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Postfix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ด้วย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Operand Stack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Shape 10"/>
          <p:cNvSpPr/>
          <p:nvPr/>
        </p:nvSpPr>
        <p:spPr>
          <a:xfrm>
            <a:off x="8028360" y="3063240"/>
            <a:ext cx="3428280" cy="1508040"/>
          </a:xfrm>
          <a:prstGeom prst="roundRect">
            <a:avLst>
              <a:gd name="adj" fmla="val 4848"/>
            </a:avLst>
          </a:prstGeom>
          <a:solidFill>
            <a:srgbClr val="FFF1DE"/>
          </a:solidFill>
          <a:ln w="1397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26" name="Text 11"/>
          <p:cNvSpPr/>
          <p:nvPr/>
        </p:nvSpPr>
        <p:spPr>
          <a:xfrm>
            <a:off x="8192880" y="3154680"/>
            <a:ext cx="30992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2C4670"/>
                </a:solidFill>
                <a:effectLst/>
                <a:uFillTx/>
                <a:latin typeface="TH Sarabun New"/>
                <a:ea typeface="TH Sarabun New"/>
              </a:rPr>
              <a:t>Algorithm B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2"/>
          <p:cNvSpPr/>
          <p:nvPr/>
        </p:nvSpPr>
        <p:spPr>
          <a:xfrm>
            <a:off x="8192880" y="3483720"/>
            <a:ext cx="3099240" cy="9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ประเมิน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Infix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โดยตรง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ด้วย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Operand Stack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และ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Operator Stack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13"/>
          <p:cNvSpPr/>
          <p:nvPr/>
        </p:nvSpPr>
        <p:spPr>
          <a:xfrm>
            <a:off x="731520" y="5486400"/>
            <a:ext cx="106977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fontScale="77500" lnSpcReduction="19999"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hi-IN" sz="1600" b="0" u="none" strike="noStrike">
                <a:solidFill>
                  <a:srgbClr val="6C7480"/>
                </a:solidFill>
                <a:effectLst/>
                <a:uFillTx/>
                <a:latin typeface="TH Sarabun New"/>
                <a:cs typeface="TH Sarabun New"/>
              </a:rPr>
              <a:t>สมาชิก</a:t>
            </a:r>
            <a:r>
              <a:rPr lang="en-US" sz="1600" b="0" u="none" strike="noStrike">
                <a:solidFill>
                  <a:srgbClr val="6C7480"/>
                </a:solidFill>
                <a:effectLst/>
                <a:uFillTx/>
                <a:latin typeface="TH Sarabun New"/>
                <a:ea typeface="TH Sarabun New"/>
              </a:rPr>
              <a:t>: </a:t>
            </a:r>
            <a:r>
              <a:rPr lang="hi-IN" sz="1600" b="0" u="none" strike="noStrike">
                <a:solidFill>
                  <a:srgbClr val="6C7480"/>
                </a:solidFill>
                <a:effectLst/>
                <a:uFillTx/>
                <a:latin typeface="TH Sarabun New"/>
                <a:cs typeface="TH Sarabun New"/>
              </a:rPr>
              <a:t>นาย ธนากร สุธากมลรัตน์ </a:t>
            </a:r>
            <a:r>
              <a:rPr lang="en-US" sz="1600" b="0" u="none" strike="noStrike">
                <a:solidFill>
                  <a:srgbClr val="6C7480"/>
                </a:solidFill>
                <a:effectLst/>
                <a:uFillTx/>
                <a:latin typeface="TH Sarabun New"/>
                <a:ea typeface="TH Sarabun New"/>
              </a:rPr>
              <a:t>68122250016, </a:t>
            </a:r>
            <a:r>
              <a:rPr lang="hi-IN" sz="1600" b="0" u="none" strike="noStrike">
                <a:solidFill>
                  <a:srgbClr val="6C7480"/>
                </a:solidFill>
                <a:effectLst/>
                <a:uFillTx/>
                <a:latin typeface="TH Sarabun New"/>
                <a:cs typeface="TH Sarabun New"/>
              </a:rPr>
              <a:t>นายศุภณัฐ บุญรักษา </a:t>
            </a:r>
            <a:r>
              <a:rPr lang="en-US" sz="1600" b="0" u="none" strike="noStrike">
                <a:solidFill>
                  <a:srgbClr val="6C7480"/>
                </a:solidFill>
                <a:effectLst/>
                <a:uFillTx/>
                <a:latin typeface="TH Sarabun New"/>
                <a:ea typeface="TH Sarabun New"/>
              </a:rPr>
              <a:t>68122250043, </a:t>
            </a:r>
            <a:r>
              <a:rPr lang="hi-IN" sz="1600" b="0" u="none" strike="noStrike">
                <a:solidFill>
                  <a:srgbClr val="6C7480"/>
                </a:solidFill>
                <a:effectLst/>
                <a:uFillTx/>
                <a:latin typeface="TH Sarabun New"/>
                <a:cs typeface="TH Sarabun New"/>
              </a:rPr>
              <a:t>นาย นันทสิทธิ์ ป้องภัย </a:t>
            </a:r>
            <a:r>
              <a:rPr lang="en-US" sz="1600" b="0" u="none" strike="noStrike">
                <a:solidFill>
                  <a:srgbClr val="6C7480"/>
                </a:solidFill>
                <a:effectLst/>
                <a:uFillTx/>
                <a:latin typeface="TH Sarabun New"/>
                <a:ea typeface="TH Sarabun New"/>
              </a:rPr>
              <a:t>68122250021, </a:t>
            </a:r>
            <a:r>
              <a:rPr lang="hi-IN" sz="1600" b="0" u="none" strike="noStrike">
                <a:solidFill>
                  <a:srgbClr val="6C7480"/>
                </a:solidFill>
                <a:effectLst/>
                <a:uFillTx/>
                <a:latin typeface="TH Sarabun New"/>
                <a:cs typeface="TH Sarabun New"/>
              </a:rPr>
              <a:t>นายชินวัฒน์ พลจันทร์ </a:t>
            </a:r>
            <a:r>
              <a:rPr lang="en-US" sz="1600" b="0" u="none" strike="noStrike">
                <a:solidFill>
                  <a:srgbClr val="6C7480"/>
                </a:solidFill>
                <a:effectLst/>
                <a:uFillTx/>
                <a:latin typeface="TH Sarabun New"/>
                <a:ea typeface="TH Sarabun New"/>
              </a:rPr>
              <a:t>68122250061, </a:t>
            </a:r>
            <a:r>
              <a:rPr lang="hi-IN" sz="1600" b="0" u="none" strike="noStrike">
                <a:solidFill>
                  <a:srgbClr val="6C7480"/>
                </a:solidFill>
                <a:effectLst/>
                <a:uFillTx/>
                <a:latin typeface="TH Sarabun New"/>
                <a:cs typeface="TH Sarabun New"/>
              </a:rPr>
              <a:t>นาย มหิทธิกรณ์ สุดมี </a:t>
            </a:r>
            <a:r>
              <a:rPr lang="en-US" sz="1600" b="0" u="none" strike="noStrike">
                <a:solidFill>
                  <a:srgbClr val="6C7480"/>
                </a:solidFill>
                <a:effectLst/>
                <a:uFillTx/>
                <a:latin typeface="TH Sarabun New"/>
                <a:ea typeface="TH Sarabun New"/>
              </a:rPr>
              <a:t>68122250074, 68122250087 </a:t>
            </a:r>
            <a:r>
              <a:rPr lang="hi-IN" sz="1600" b="0" u="none" strike="noStrike">
                <a:solidFill>
                  <a:srgbClr val="6C7480"/>
                </a:solidFill>
                <a:effectLst/>
                <a:uFillTx/>
                <a:latin typeface="TH Sarabun New"/>
                <a:cs typeface="TH Sarabun New"/>
              </a:rPr>
              <a:t>นาย ทัศนัย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1"/>
          <p:cNvSpPr>
            <a:spLocks noGrp="1"/>
          </p:cNvSpPr>
          <p:nvPr>
            <p:ph type="sldNum" idx="5"/>
          </p:nvPr>
        </p:nvSpPr>
        <p:spPr>
          <a:xfrm>
            <a:off x="11475720" y="6510600"/>
            <a:ext cx="799200" cy="299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667085"/>
                </a:solidFill>
                <a:effectLst/>
                <a:uFillTx/>
                <a:latin typeface="TH Sarabun New"/>
                <a:ea typeface="TH Sarabun New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05BABF5D-7980-4EAD-933B-86BCBF495184}" type="slidenum">
              <a:rPr lang="en-US" sz="1200" b="0" u="none" strike="noStrike">
                <a:solidFill>
                  <a:srgbClr val="667085"/>
                </a:solidFill>
                <a:effectLst/>
                <a:uFillTx/>
                <a:latin typeface="TH Sarabun New"/>
                <a:ea typeface="TH Sarabun New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 0"/>
          <p:cNvSpPr/>
          <p:nvPr/>
        </p:nvSpPr>
        <p:spPr>
          <a:xfrm>
            <a:off x="530280" y="329040"/>
            <a:ext cx="1097208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2. Case Story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1"/>
          <p:cNvSpPr/>
          <p:nvPr/>
        </p:nvSpPr>
        <p:spPr>
          <a:xfrm>
            <a:off x="548640" y="841320"/>
            <a:ext cx="1097208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500" b="0" u="none" strike="noStrike">
                <a:solidFill>
                  <a:srgbClr val="6C7480"/>
                </a:solidFill>
                <a:effectLst/>
                <a:uFillTx/>
                <a:latin typeface="TH Sarabun New"/>
                <a:cs typeface="TH Sarabun New"/>
              </a:rPr>
              <a:t>ระบบต้องรับนิพจน์ ตรวจสอบ แปลง และคำนวณผลลัพธ์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Shape 2"/>
          <p:cNvSpPr/>
          <p:nvPr/>
        </p:nvSpPr>
        <p:spPr>
          <a:xfrm>
            <a:off x="594360" y="1325880"/>
            <a:ext cx="5394240" cy="1919520"/>
          </a:xfrm>
          <a:prstGeom prst="roundRect">
            <a:avLst>
              <a:gd name="adj" fmla="val 3810"/>
            </a:avLst>
          </a:prstGeom>
          <a:solidFill>
            <a:srgbClr val="EAF0F8"/>
          </a:solidFill>
          <a:ln w="1397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3" name="Text 3"/>
          <p:cNvSpPr/>
          <p:nvPr/>
        </p:nvSpPr>
        <p:spPr>
          <a:xfrm>
            <a:off x="758880" y="1417320"/>
            <a:ext cx="5065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2C4670"/>
                </a:solidFill>
                <a:effectLst/>
                <a:uFillTx/>
                <a:latin typeface="TH Sarabun New"/>
                <a:ea typeface="TH Sarabun New"/>
              </a:rPr>
              <a:t>Case Story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4"/>
          <p:cNvSpPr/>
          <p:nvPr/>
        </p:nvSpPr>
        <p:spPr>
          <a:xfrm>
            <a:off x="758880" y="1746360"/>
            <a:ext cx="5065200" cy="140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ระบบ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Expression Processor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รับนิพจน์แบบ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Infix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เช่น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3 + 4 * 2 / (1 - 5)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จากนั้นตรวจสอบความถูกต้อง แล้วคำนวณผลลัพธ์อย่างเป็นขั้นตอน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Shape 5"/>
          <p:cNvSpPr/>
          <p:nvPr/>
        </p:nvSpPr>
        <p:spPr>
          <a:xfrm>
            <a:off x="6217920" y="1325880"/>
            <a:ext cx="5394240" cy="1919520"/>
          </a:xfrm>
          <a:prstGeom prst="roundRect">
            <a:avLst>
              <a:gd name="adj" fmla="val 3810"/>
            </a:avLst>
          </a:prstGeom>
          <a:solidFill>
            <a:srgbClr val="E6F5F0"/>
          </a:solidFill>
          <a:ln w="1397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6" name="Text 6"/>
          <p:cNvSpPr/>
          <p:nvPr/>
        </p:nvSpPr>
        <p:spPr>
          <a:xfrm>
            <a:off x="6382440" y="1417320"/>
            <a:ext cx="5065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800" b="1" u="none" strike="noStrike">
                <a:solidFill>
                  <a:srgbClr val="2C4670"/>
                </a:solidFill>
                <a:effectLst/>
                <a:uFillTx/>
                <a:latin typeface="TH Sarabun New"/>
                <a:cs typeface="TH Sarabun New"/>
              </a:rPr>
              <a:t>เป้าหมายของงาน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7"/>
          <p:cNvSpPr/>
          <p:nvPr/>
        </p:nvSpPr>
        <p:spPr>
          <a:xfrm>
            <a:off x="6382440" y="1746360"/>
            <a:ext cx="5065200" cy="140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1)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ออกแบบ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2 Algorithms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ที่แก้ปัญหาเดียวกัน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2)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อธิบาย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Pseudocode / Step-by-step / Correctness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3)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วิเคราะห์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Big-O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และทดลองบน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Java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8"/>
          <p:cNvSpPr/>
          <p:nvPr/>
        </p:nvSpPr>
        <p:spPr>
          <a:xfrm>
            <a:off x="621720" y="3657600"/>
            <a:ext cx="1416600" cy="310320"/>
          </a:xfrm>
          <a:prstGeom prst="roundRect">
            <a:avLst>
              <a:gd name="adj" fmla="val 50000"/>
            </a:avLst>
          </a:prstGeom>
          <a:solidFill>
            <a:srgbClr val="2C4670"/>
          </a:solidFill>
          <a:ln w="12700">
            <a:solidFill>
              <a:srgbClr val="2C467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9" name="Text 9"/>
          <p:cNvSpPr/>
          <p:nvPr/>
        </p:nvSpPr>
        <p:spPr>
          <a:xfrm>
            <a:off x="621720" y="3666600"/>
            <a:ext cx="141660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TH Sarabun New"/>
                <a:ea typeface="TH Sarabun New"/>
              </a:rPr>
              <a:t>Input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Shape 10"/>
          <p:cNvSpPr/>
          <p:nvPr/>
        </p:nvSpPr>
        <p:spPr>
          <a:xfrm>
            <a:off x="2176200" y="3657600"/>
            <a:ext cx="1508040" cy="310320"/>
          </a:xfrm>
          <a:prstGeom prst="roundRect">
            <a:avLst>
              <a:gd name="adj" fmla="val 50000"/>
            </a:avLst>
          </a:prstGeom>
          <a:solidFill>
            <a:srgbClr val="2C4670"/>
          </a:solidFill>
          <a:ln w="12700">
            <a:solidFill>
              <a:srgbClr val="2C467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41" name="Text 11"/>
          <p:cNvSpPr/>
          <p:nvPr/>
        </p:nvSpPr>
        <p:spPr>
          <a:xfrm>
            <a:off x="2176200" y="3666600"/>
            <a:ext cx="150804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300" b="1" u="none" strike="noStrike">
                <a:solidFill>
                  <a:srgbClr val="FFFFFF"/>
                </a:solidFill>
                <a:effectLst/>
                <a:uFillTx/>
                <a:latin typeface="TH Sarabun New"/>
                <a:cs typeface="TH Sarabun New"/>
              </a:rPr>
              <a:t>ตรวจสอบ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12"/>
          <p:cNvSpPr/>
          <p:nvPr/>
        </p:nvSpPr>
        <p:spPr>
          <a:xfrm>
            <a:off x="3822120" y="3657600"/>
            <a:ext cx="1416600" cy="310320"/>
          </a:xfrm>
          <a:prstGeom prst="roundRect">
            <a:avLst>
              <a:gd name="adj" fmla="val 50000"/>
            </a:avLst>
          </a:prstGeom>
          <a:solidFill>
            <a:srgbClr val="2C4670"/>
          </a:solidFill>
          <a:ln w="12700">
            <a:solidFill>
              <a:srgbClr val="2C467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43" name="Text 13"/>
          <p:cNvSpPr/>
          <p:nvPr/>
        </p:nvSpPr>
        <p:spPr>
          <a:xfrm>
            <a:off x="3822120" y="3666600"/>
            <a:ext cx="141660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TH Sarabun New"/>
                <a:ea typeface="TH Sarabun New"/>
              </a:rPr>
              <a:t>A / B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Shape 14"/>
          <p:cNvSpPr/>
          <p:nvPr/>
        </p:nvSpPr>
        <p:spPr>
          <a:xfrm>
            <a:off x="5394960" y="3657600"/>
            <a:ext cx="1508040" cy="310320"/>
          </a:xfrm>
          <a:prstGeom prst="roundRect">
            <a:avLst>
              <a:gd name="adj" fmla="val 50000"/>
            </a:avLst>
          </a:prstGeom>
          <a:solidFill>
            <a:srgbClr val="2C4670"/>
          </a:solidFill>
          <a:ln w="12700">
            <a:solidFill>
              <a:srgbClr val="2C467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45" name="Text 15"/>
          <p:cNvSpPr/>
          <p:nvPr/>
        </p:nvSpPr>
        <p:spPr>
          <a:xfrm>
            <a:off x="5394960" y="3666600"/>
            <a:ext cx="150804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300" b="1" u="none" strike="noStrike">
                <a:solidFill>
                  <a:srgbClr val="FFFFFF"/>
                </a:solidFill>
                <a:effectLst/>
                <a:uFillTx/>
                <a:latin typeface="TH Sarabun New"/>
                <a:cs typeface="TH Sarabun New"/>
              </a:rPr>
              <a:t>คำนวณ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16"/>
          <p:cNvSpPr/>
          <p:nvPr/>
        </p:nvSpPr>
        <p:spPr>
          <a:xfrm>
            <a:off x="7059240" y="3657600"/>
            <a:ext cx="1416600" cy="310320"/>
          </a:xfrm>
          <a:prstGeom prst="roundRect">
            <a:avLst>
              <a:gd name="adj" fmla="val 50000"/>
            </a:avLst>
          </a:prstGeom>
          <a:solidFill>
            <a:srgbClr val="2C4670"/>
          </a:solidFill>
          <a:ln w="12700">
            <a:solidFill>
              <a:srgbClr val="2C467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47" name="Text 17"/>
          <p:cNvSpPr/>
          <p:nvPr/>
        </p:nvSpPr>
        <p:spPr>
          <a:xfrm>
            <a:off x="7059240" y="3666600"/>
            <a:ext cx="141660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TH Sarabun New"/>
                <a:ea typeface="TH Sarabun New"/>
              </a:rPr>
              <a:t>Output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18"/>
          <p:cNvSpPr/>
          <p:nvPr/>
        </p:nvSpPr>
        <p:spPr>
          <a:xfrm>
            <a:off x="2039040" y="3812760"/>
            <a:ext cx="127800" cy="360"/>
          </a:xfrm>
          <a:prstGeom prst="line">
            <a:avLst/>
          </a:prstGeom>
          <a:ln w="25400">
            <a:solidFill>
              <a:srgbClr val="2C467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63720" tIns="-44640" rIns="6372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49" name="Shape 19"/>
          <p:cNvSpPr/>
          <p:nvPr/>
        </p:nvSpPr>
        <p:spPr>
          <a:xfrm>
            <a:off x="3684960" y="3812760"/>
            <a:ext cx="118800" cy="360"/>
          </a:xfrm>
          <a:prstGeom prst="line">
            <a:avLst/>
          </a:prstGeom>
          <a:ln w="25400">
            <a:solidFill>
              <a:srgbClr val="2C467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59400" tIns="-44640" rIns="594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50" name="Shape 20"/>
          <p:cNvSpPr/>
          <p:nvPr/>
        </p:nvSpPr>
        <p:spPr>
          <a:xfrm>
            <a:off x="5239440" y="3812760"/>
            <a:ext cx="137160" cy="360"/>
          </a:xfrm>
          <a:prstGeom prst="line">
            <a:avLst/>
          </a:prstGeom>
          <a:ln w="25400">
            <a:solidFill>
              <a:srgbClr val="2C467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68400" tIns="-44640" rIns="684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51" name="Shape 21"/>
          <p:cNvSpPr/>
          <p:nvPr/>
        </p:nvSpPr>
        <p:spPr>
          <a:xfrm>
            <a:off x="6903720" y="3812760"/>
            <a:ext cx="137160" cy="360"/>
          </a:xfrm>
          <a:prstGeom prst="line">
            <a:avLst/>
          </a:prstGeom>
          <a:ln w="25400">
            <a:solidFill>
              <a:srgbClr val="2C467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68400" tIns="-44640" rIns="684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52" name="Shape 22"/>
          <p:cNvSpPr/>
          <p:nvPr/>
        </p:nvSpPr>
        <p:spPr>
          <a:xfrm>
            <a:off x="594360" y="4343400"/>
            <a:ext cx="11017800" cy="1297800"/>
          </a:xfrm>
          <a:prstGeom prst="roundRect">
            <a:avLst>
              <a:gd name="adj" fmla="val 5634"/>
            </a:avLst>
          </a:prstGeom>
          <a:solidFill>
            <a:srgbClr val="FFF1DE"/>
          </a:solidFill>
          <a:ln w="1397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53" name="Text 23"/>
          <p:cNvSpPr/>
          <p:nvPr/>
        </p:nvSpPr>
        <p:spPr>
          <a:xfrm>
            <a:off x="758880" y="4434840"/>
            <a:ext cx="106887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800" b="1" u="none" strike="noStrike">
                <a:solidFill>
                  <a:srgbClr val="2C4670"/>
                </a:solidFill>
                <a:effectLst/>
                <a:uFillTx/>
                <a:latin typeface="TH Sarabun New"/>
                <a:cs typeface="TH Sarabun New"/>
              </a:rPr>
              <a:t>สิ่งที่ต้องได้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24"/>
          <p:cNvSpPr/>
          <p:nvPr/>
        </p:nvSpPr>
        <p:spPr>
          <a:xfrm>
            <a:off x="758880" y="4763880"/>
            <a:ext cx="10688760" cy="78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ผลลัพธ์ของ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Algorithm A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และ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B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ต้องถูกต้องตรงกัน และโปรแกรมต้องแจ้ง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Error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ที่เหมาะสมเมื่อ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Input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ไม่ถูกต้อง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1"/>
          <p:cNvSpPr>
            <a:spLocks noGrp="1"/>
          </p:cNvSpPr>
          <p:nvPr>
            <p:ph type="sldNum" idx="6"/>
          </p:nvPr>
        </p:nvSpPr>
        <p:spPr>
          <a:xfrm>
            <a:off x="11475720" y="6510600"/>
            <a:ext cx="799200" cy="299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667085"/>
                </a:solidFill>
                <a:effectLst/>
                <a:uFillTx/>
                <a:latin typeface="TH Sarabun New"/>
                <a:ea typeface="TH Sarabun New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1B455245-DF1A-4002-9A3D-6F818271DAA6}" type="slidenum">
              <a:rPr lang="en-US" sz="1200" b="0" u="none" strike="noStrike">
                <a:solidFill>
                  <a:srgbClr val="667085"/>
                </a:solidFill>
                <a:effectLst/>
                <a:uFillTx/>
                <a:latin typeface="TH Sarabun New"/>
                <a:ea typeface="TH Sarabun New"/>
              </a:rPr>
              <a:t>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ext 0"/>
          <p:cNvSpPr/>
          <p:nvPr/>
        </p:nvSpPr>
        <p:spPr>
          <a:xfrm>
            <a:off x="530280" y="329040"/>
            <a:ext cx="1097208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3. Input, Output </a:t>
            </a:r>
            <a:r>
              <a:rPr lang="hi-IN" sz="18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และ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Constraints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1"/>
          <p:cNvSpPr/>
          <p:nvPr/>
        </p:nvSpPr>
        <p:spPr>
          <a:xfrm>
            <a:off x="548640" y="841320"/>
            <a:ext cx="1097208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500" b="0" u="none" strike="noStrike">
                <a:solidFill>
                  <a:srgbClr val="6C7480"/>
                </a:solidFill>
                <a:effectLst/>
                <a:uFillTx/>
                <a:latin typeface="TH Sarabun New"/>
                <a:cs typeface="TH Sarabun New"/>
              </a:rPr>
              <a:t>ขอบเขตตามโจทย์ </a:t>
            </a:r>
            <a:r>
              <a:rPr lang="en-US" sz="1500" b="0" u="none" strike="noStrike">
                <a:solidFill>
                  <a:srgbClr val="6C7480"/>
                </a:solidFill>
                <a:effectLst/>
                <a:uFillTx/>
                <a:latin typeface="TH Sarabun New"/>
                <a:ea typeface="TH Sarabun New"/>
              </a:rPr>
              <a:t>Group 4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2"/>
          <p:cNvSpPr/>
          <p:nvPr/>
        </p:nvSpPr>
        <p:spPr>
          <a:xfrm>
            <a:off x="567000" y="1261800"/>
            <a:ext cx="3656880" cy="1828080"/>
          </a:xfrm>
          <a:prstGeom prst="roundRect">
            <a:avLst>
              <a:gd name="adj" fmla="val 4000"/>
            </a:avLst>
          </a:prstGeom>
          <a:solidFill>
            <a:srgbClr val="EAF0F8"/>
          </a:solidFill>
          <a:ln w="1397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59" name="Text 3"/>
          <p:cNvSpPr/>
          <p:nvPr/>
        </p:nvSpPr>
        <p:spPr>
          <a:xfrm>
            <a:off x="731520" y="1353240"/>
            <a:ext cx="33278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2C4670"/>
                </a:solidFill>
                <a:effectLst/>
                <a:uFillTx/>
                <a:latin typeface="TH Sarabun New"/>
                <a:ea typeface="TH Sarabun New"/>
              </a:rPr>
              <a:t>Input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4"/>
          <p:cNvSpPr/>
          <p:nvPr/>
        </p:nvSpPr>
        <p:spPr>
          <a:xfrm>
            <a:off x="731520" y="1682640"/>
            <a:ext cx="3327840" cy="131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นิพจน์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Infix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• จำนวนเต็มบวก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• จำนวนหลายหลัก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• มีช่องว่างระหว่าง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Token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ได้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Shape 5"/>
          <p:cNvSpPr/>
          <p:nvPr/>
        </p:nvSpPr>
        <p:spPr>
          <a:xfrm>
            <a:off x="4416480" y="1261800"/>
            <a:ext cx="3428280" cy="1828080"/>
          </a:xfrm>
          <a:prstGeom prst="roundRect">
            <a:avLst>
              <a:gd name="adj" fmla="val 4000"/>
            </a:avLst>
          </a:prstGeom>
          <a:solidFill>
            <a:srgbClr val="E6F5F0"/>
          </a:solidFill>
          <a:ln w="1397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62" name="Text 6"/>
          <p:cNvSpPr/>
          <p:nvPr/>
        </p:nvSpPr>
        <p:spPr>
          <a:xfrm>
            <a:off x="4581000" y="1353240"/>
            <a:ext cx="30992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2C4670"/>
                </a:solidFill>
                <a:effectLst/>
                <a:uFillTx/>
                <a:latin typeface="TH Sarabun New"/>
                <a:ea typeface="TH Sarabun New"/>
              </a:rPr>
              <a:t>Output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7"/>
          <p:cNvSpPr/>
          <p:nvPr/>
        </p:nvSpPr>
        <p:spPr>
          <a:xfrm>
            <a:off x="4581000" y="1682640"/>
            <a:ext cx="3099240" cy="131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• Postfix (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สำหรับ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Algorithm A)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• Result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• Error message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เมื่อ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Input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ผิด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Shape 8"/>
          <p:cNvSpPr/>
          <p:nvPr/>
        </p:nvSpPr>
        <p:spPr>
          <a:xfrm>
            <a:off x="8028360" y="1261800"/>
            <a:ext cx="3583800" cy="182808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 w="1397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65" name="Text 9"/>
          <p:cNvSpPr/>
          <p:nvPr/>
        </p:nvSpPr>
        <p:spPr>
          <a:xfrm>
            <a:off x="8192880" y="1353240"/>
            <a:ext cx="32544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800" b="1" u="none" strike="noStrike">
                <a:solidFill>
                  <a:srgbClr val="2C4670"/>
                </a:solidFill>
                <a:effectLst/>
                <a:uFillTx/>
                <a:latin typeface="TH Sarabun New"/>
                <a:cs typeface="TH Sarabun New"/>
              </a:rPr>
              <a:t>รองรับ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10"/>
          <p:cNvSpPr/>
          <p:nvPr/>
        </p:nvSpPr>
        <p:spPr>
          <a:xfrm>
            <a:off x="8192880" y="1682640"/>
            <a:ext cx="3254400" cy="131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Operators: +  -  *  /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Parentheses: ( )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11"/>
          <p:cNvSpPr/>
          <p:nvPr/>
        </p:nvSpPr>
        <p:spPr>
          <a:xfrm>
            <a:off x="658440" y="3429000"/>
            <a:ext cx="21938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800" b="1" u="none" strike="noStrike">
                <a:solidFill>
                  <a:srgbClr val="2C4670"/>
                </a:solidFill>
                <a:effectLst/>
                <a:uFillTx/>
                <a:latin typeface="TH Sarabun New"/>
                <a:cs typeface="TH Sarabun New"/>
              </a:rPr>
              <a:t>ไม่บังคับรองรับ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Shape 12"/>
          <p:cNvSpPr/>
          <p:nvPr/>
        </p:nvSpPr>
        <p:spPr>
          <a:xfrm>
            <a:off x="658440" y="3840480"/>
            <a:ext cx="1828080" cy="310320"/>
          </a:xfrm>
          <a:prstGeom prst="roundRect">
            <a:avLst>
              <a:gd name="adj" fmla="val 50000"/>
            </a:avLst>
          </a:prstGeom>
          <a:solidFill>
            <a:srgbClr val="7287A5"/>
          </a:solidFill>
          <a:ln w="12700">
            <a:solidFill>
              <a:srgbClr val="7287A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69" name="Text 13"/>
          <p:cNvSpPr/>
          <p:nvPr/>
        </p:nvSpPr>
        <p:spPr>
          <a:xfrm>
            <a:off x="658440" y="3849480"/>
            <a:ext cx="182808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300" b="1" u="none" strike="noStrike">
                <a:solidFill>
                  <a:srgbClr val="FFFFFF"/>
                </a:solidFill>
                <a:effectLst/>
                <a:uFillTx/>
                <a:latin typeface="TH Sarabun New"/>
                <a:cs typeface="TH Sarabun New"/>
              </a:rPr>
              <a:t>ทศนิยม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Shape 14"/>
          <p:cNvSpPr/>
          <p:nvPr/>
        </p:nvSpPr>
        <p:spPr>
          <a:xfrm>
            <a:off x="2715840" y="3840480"/>
            <a:ext cx="1828080" cy="310320"/>
          </a:xfrm>
          <a:prstGeom prst="roundRect">
            <a:avLst>
              <a:gd name="adj" fmla="val 50000"/>
            </a:avLst>
          </a:prstGeom>
          <a:solidFill>
            <a:srgbClr val="7287A5"/>
          </a:solidFill>
          <a:ln w="12700">
            <a:solidFill>
              <a:srgbClr val="7287A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71" name="Text 15"/>
          <p:cNvSpPr/>
          <p:nvPr/>
        </p:nvSpPr>
        <p:spPr>
          <a:xfrm>
            <a:off x="2715840" y="3849480"/>
            <a:ext cx="182808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TH Sarabun New"/>
                <a:ea typeface="TH Sarabun New"/>
              </a:rPr>
              <a:t>Unary Minus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Shape 16"/>
          <p:cNvSpPr/>
          <p:nvPr/>
        </p:nvSpPr>
        <p:spPr>
          <a:xfrm>
            <a:off x="4773240" y="3840480"/>
            <a:ext cx="1828080" cy="310320"/>
          </a:xfrm>
          <a:prstGeom prst="roundRect">
            <a:avLst>
              <a:gd name="adj" fmla="val 50000"/>
            </a:avLst>
          </a:prstGeom>
          <a:solidFill>
            <a:srgbClr val="7287A5"/>
          </a:solidFill>
          <a:ln w="12700">
            <a:solidFill>
              <a:srgbClr val="7287A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73" name="Text 17"/>
          <p:cNvSpPr/>
          <p:nvPr/>
        </p:nvSpPr>
        <p:spPr>
          <a:xfrm>
            <a:off x="4773240" y="3849480"/>
            <a:ext cx="182808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300" b="1" u="none" strike="noStrike">
                <a:solidFill>
                  <a:srgbClr val="FFFFFF"/>
                </a:solidFill>
                <a:effectLst/>
                <a:uFillTx/>
                <a:latin typeface="TH Sarabun New"/>
                <a:cs typeface="TH Sarabun New"/>
              </a:rPr>
              <a:t>ตัวแปร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Shape 18"/>
          <p:cNvSpPr/>
          <p:nvPr/>
        </p:nvSpPr>
        <p:spPr>
          <a:xfrm>
            <a:off x="658440" y="4343400"/>
            <a:ext cx="1828080" cy="310320"/>
          </a:xfrm>
          <a:prstGeom prst="roundRect">
            <a:avLst>
              <a:gd name="adj" fmla="val 50000"/>
            </a:avLst>
          </a:prstGeom>
          <a:solidFill>
            <a:srgbClr val="7287A5"/>
          </a:solidFill>
          <a:ln w="12700">
            <a:solidFill>
              <a:srgbClr val="7287A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75" name="Text 19"/>
          <p:cNvSpPr/>
          <p:nvPr/>
        </p:nvSpPr>
        <p:spPr>
          <a:xfrm>
            <a:off x="658440" y="4352400"/>
            <a:ext cx="182808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TH Sarabun New"/>
                <a:ea typeface="TH Sarabun New"/>
              </a:rPr>
              <a:t>Function </a:t>
            </a:r>
            <a:r>
              <a:rPr lang="hi-IN" sz="1300" b="1" u="none" strike="noStrike">
                <a:solidFill>
                  <a:srgbClr val="FFFFFF"/>
                </a:solidFill>
                <a:effectLst/>
                <a:uFillTx/>
                <a:latin typeface="TH Sarabun New"/>
                <a:cs typeface="TH Sarabun New"/>
              </a:rPr>
              <a:t>ทางคณิตศาสตร์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20"/>
          <p:cNvSpPr/>
          <p:nvPr/>
        </p:nvSpPr>
        <p:spPr>
          <a:xfrm>
            <a:off x="2715840" y="4343400"/>
            <a:ext cx="1828080" cy="310320"/>
          </a:xfrm>
          <a:prstGeom prst="roundRect">
            <a:avLst>
              <a:gd name="adj" fmla="val 50000"/>
            </a:avLst>
          </a:prstGeom>
          <a:solidFill>
            <a:srgbClr val="7287A5"/>
          </a:solidFill>
          <a:ln w="12700">
            <a:solidFill>
              <a:srgbClr val="7287A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77" name="Text 21"/>
          <p:cNvSpPr/>
          <p:nvPr/>
        </p:nvSpPr>
        <p:spPr>
          <a:xfrm>
            <a:off x="2715840" y="4352400"/>
            <a:ext cx="182808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TH Sarabun New"/>
                <a:ea typeface="TH Sarabun New"/>
              </a:rPr>
              <a:t>[] </a:t>
            </a:r>
            <a:r>
              <a:rPr lang="hi-IN" sz="1300" b="1" u="none" strike="noStrike">
                <a:solidFill>
                  <a:srgbClr val="FFFFFF"/>
                </a:solidFill>
                <a:effectLst/>
                <a:uFillTx/>
                <a:latin typeface="TH Sarabun New"/>
                <a:cs typeface="TH Sarabun New"/>
              </a:rPr>
              <a:t>และ 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TH Sarabun New"/>
                <a:ea typeface="TH Sarabun New"/>
              </a:rPr>
              <a:t>{}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Shape 22"/>
          <p:cNvSpPr/>
          <p:nvPr/>
        </p:nvSpPr>
        <p:spPr>
          <a:xfrm>
            <a:off x="6537960" y="3611880"/>
            <a:ext cx="5074200" cy="1416600"/>
          </a:xfrm>
          <a:prstGeom prst="roundRect">
            <a:avLst>
              <a:gd name="adj" fmla="val 5161"/>
            </a:avLst>
          </a:prstGeom>
          <a:solidFill>
            <a:srgbClr val="F8FAFC"/>
          </a:solidFill>
          <a:ln w="1397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79" name="Text 23"/>
          <p:cNvSpPr/>
          <p:nvPr/>
        </p:nvSpPr>
        <p:spPr>
          <a:xfrm>
            <a:off x="6702480" y="3703320"/>
            <a:ext cx="47451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2C4670"/>
                </a:solidFill>
                <a:effectLst/>
                <a:uFillTx/>
                <a:latin typeface="TH Sarabun New"/>
                <a:ea typeface="TH Sarabun New"/>
              </a:rPr>
              <a:t>Edge Cases </a:t>
            </a:r>
            <a:r>
              <a:rPr lang="hi-IN" sz="1800" b="1" u="none" strike="noStrike">
                <a:solidFill>
                  <a:srgbClr val="2C4670"/>
                </a:solidFill>
                <a:effectLst/>
                <a:uFillTx/>
                <a:latin typeface="TH Sarabun New"/>
                <a:cs typeface="TH Sarabun New"/>
              </a:rPr>
              <a:t>สำคัญ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24"/>
          <p:cNvSpPr/>
          <p:nvPr/>
        </p:nvSpPr>
        <p:spPr>
          <a:xfrm>
            <a:off x="6702480" y="4032360"/>
            <a:ext cx="4745160" cy="90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วงเล็บไม่สมดุล •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Operator/Operand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ผิดตำแหน่ง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หารด้วยศูนย์ • นิพจน์ว่าง •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Token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ไม่ถูกต้อง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PlaceHolder 1"/>
          <p:cNvSpPr>
            <a:spLocks noGrp="1"/>
          </p:cNvSpPr>
          <p:nvPr>
            <p:ph type="sldNum" idx="7"/>
          </p:nvPr>
        </p:nvSpPr>
        <p:spPr>
          <a:xfrm>
            <a:off x="11475720" y="6510600"/>
            <a:ext cx="799200" cy="299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667085"/>
                </a:solidFill>
                <a:effectLst/>
                <a:uFillTx/>
                <a:latin typeface="TH Sarabun New"/>
                <a:ea typeface="TH Sarabun New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45717656-62DA-44E9-8586-4199275249EF}" type="slidenum">
              <a:rPr lang="en-US" sz="1200" b="0" u="none" strike="noStrike">
                <a:solidFill>
                  <a:srgbClr val="667085"/>
                </a:solidFill>
                <a:effectLst/>
                <a:uFillTx/>
                <a:latin typeface="TH Sarabun New"/>
                <a:ea typeface="TH Sarabun New"/>
              </a:rPr>
              <a:t>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ext 0"/>
          <p:cNvSpPr/>
          <p:nvPr/>
        </p:nvSpPr>
        <p:spPr>
          <a:xfrm>
            <a:off x="530280" y="329040"/>
            <a:ext cx="1097208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4. Algorithm 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1"/>
          <p:cNvSpPr/>
          <p:nvPr/>
        </p:nvSpPr>
        <p:spPr>
          <a:xfrm>
            <a:off x="548640" y="841320"/>
            <a:ext cx="1097208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500" b="0" u="none" strike="noStrike">
                <a:solidFill>
                  <a:srgbClr val="6C7480"/>
                </a:solidFill>
                <a:effectLst/>
                <a:uFillTx/>
                <a:latin typeface="TH Sarabun New"/>
                <a:cs typeface="TH Sarabun New"/>
              </a:rPr>
              <a:t>แนวคิดหลัก</a:t>
            </a:r>
            <a:r>
              <a:rPr lang="en-US" sz="1500" b="0" u="none" strike="noStrike">
                <a:solidFill>
                  <a:srgbClr val="6C7480"/>
                </a:solidFill>
                <a:effectLst/>
                <a:uFillTx/>
                <a:latin typeface="TH Sarabun New"/>
                <a:ea typeface="TH Sarabun New"/>
              </a:rPr>
              <a:t>: </a:t>
            </a:r>
            <a:r>
              <a:rPr lang="hi-IN" sz="1500" b="0" u="none" strike="noStrike">
                <a:solidFill>
                  <a:srgbClr val="6C7480"/>
                </a:solidFill>
                <a:effectLst/>
                <a:uFillTx/>
                <a:latin typeface="TH Sarabun New"/>
                <a:cs typeface="TH Sarabun New"/>
              </a:rPr>
              <a:t>แยก “การจัดลำดับ” ออกจาก “การคำนวณ”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2"/>
          <p:cNvSpPr/>
          <p:nvPr/>
        </p:nvSpPr>
        <p:spPr>
          <a:xfrm>
            <a:off x="594360" y="1243440"/>
            <a:ext cx="1572120" cy="310320"/>
          </a:xfrm>
          <a:prstGeom prst="roundRect">
            <a:avLst>
              <a:gd name="adj" fmla="val 50000"/>
            </a:avLst>
          </a:prstGeom>
          <a:solidFill>
            <a:srgbClr val="2C4670"/>
          </a:solidFill>
          <a:ln w="12700">
            <a:solidFill>
              <a:srgbClr val="2C467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85" name="Text 3"/>
          <p:cNvSpPr/>
          <p:nvPr/>
        </p:nvSpPr>
        <p:spPr>
          <a:xfrm>
            <a:off x="594360" y="1252800"/>
            <a:ext cx="157212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300" b="1" u="none" strike="noStrike">
                <a:solidFill>
                  <a:srgbClr val="FFFFFF"/>
                </a:solidFill>
                <a:effectLst/>
                <a:uFillTx/>
                <a:latin typeface="TH Sarabun New"/>
                <a:cs typeface="TH Sarabun New"/>
              </a:rPr>
              <a:t>แนวคิดหลัก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4"/>
          <p:cNvSpPr/>
          <p:nvPr/>
        </p:nvSpPr>
        <p:spPr>
          <a:xfrm>
            <a:off x="2267640" y="1243440"/>
            <a:ext cx="932616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800" b="1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อ่าน </a:t>
            </a:r>
            <a:r>
              <a:rPr lang="en-US" sz="1800" b="1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Token </a:t>
            </a:r>
            <a:r>
              <a:rPr lang="hi-IN" sz="1800" b="1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ซ้ายไปขวา → ใช้ </a:t>
            </a:r>
            <a:r>
              <a:rPr lang="en-US" sz="1800" b="1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Operator Stack </a:t>
            </a:r>
            <a:r>
              <a:rPr lang="hi-IN" sz="1800" b="1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จัด </a:t>
            </a:r>
            <a:r>
              <a:rPr lang="en-US" sz="1800" b="1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Priority/Parentheses → </a:t>
            </a:r>
            <a:r>
              <a:rPr lang="hi-IN" sz="1800" b="1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สร้าง </a:t>
            </a:r>
            <a:r>
              <a:rPr lang="en-US" sz="1800" b="1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Postfix → </a:t>
            </a:r>
            <a:r>
              <a:rPr lang="hi-IN" sz="1800" b="1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ประเมินด้วย </a:t>
            </a:r>
            <a:r>
              <a:rPr lang="en-US" sz="1800" b="1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Operand Stack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Shape 5"/>
          <p:cNvSpPr/>
          <p:nvPr/>
        </p:nvSpPr>
        <p:spPr>
          <a:xfrm>
            <a:off x="594360" y="1828800"/>
            <a:ext cx="3382560" cy="1828080"/>
          </a:xfrm>
          <a:prstGeom prst="roundRect">
            <a:avLst>
              <a:gd name="adj" fmla="val 4000"/>
            </a:avLst>
          </a:prstGeom>
          <a:solidFill>
            <a:srgbClr val="EAF0F8"/>
          </a:solidFill>
          <a:ln w="1397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88" name="Text 6"/>
          <p:cNvSpPr/>
          <p:nvPr/>
        </p:nvSpPr>
        <p:spPr>
          <a:xfrm>
            <a:off x="758880" y="1920240"/>
            <a:ext cx="30535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2C4670"/>
                </a:solidFill>
                <a:effectLst/>
                <a:uFillTx/>
                <a:latin typeface="TH Sarabun New"/>
                <a:ea typeface="TH Sarabun New"/>
              </a:rPr>
              <a:t>INPUT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7"/>
          <p:cNvSpPr/>
          <p:nvPr/>
        </p:nvSpPr>
        <p:spPr>
          <a:xfrm>
            <a:off x="758880" y="2249280"/>
            <a:ext cx="3053520" cy="131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Infix expression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เช่น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3 + 4 * 2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Shape 8"/>
          <p:cNvSpPr/>
          <p:nvPr/>
        </p:nvSpPr>
        <p:spPr>
          <a:xfrm>
            <a:off x="4005000" y="2743200"/>
            <a:ext cx="310680" cy="360"/>
          </a:xfrm>
          <a:prstGeom prst="line">
            <a:avLst/>
          </a:prstGeom>
          <a:ln w="25400">
            <a:solidFill>
              <a:srgbClr val="2C467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91" name="Shape 9"/>
          <p:cNvSpPr/>
          <p:nvPr/>
        </p:nvSpPr>
        <p:spPr>
          <a:xfrm>
            <a:off x="4407480" y="1828800"/>
            <a:ext cx="3382560" cy="1828080"/>
          </a:xfrm>
          <a:prstGeom prst="roundRect">
            <a:avLst>
              <a:gd name="adj" fmla="val 4000"/>
            </a:avLst>
          </a:prstGeom>
          <a:solidFill>
            <a:srgbClr val="E6F5F0"/>
          </a:solidFill>
          <a:ln w="1397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92" name="Text 10"/>
          <p:cNvSpPr/>
          <p:nvPr/>
        </p:nvSpPr>
        <p:spPr>
          <a:xfrm>
            <a:off x="4572000" y="1920240"/>
            <a:ext cx="30535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2C4670"/>
                </a:solidFill>
                <a:effectLst/>
                <a:uFillTx/>
                <a:latin typeface="TH Sarabun New"/>
                <a:ea typeface="TH Sarabun New"/>
              </a:rPr>
              <a:t>PROCESS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11"/>
          <p:cNvSpPr/>
          <p:nvPr/>
        </p:nvSpPr>
        <p:spPr>
          <a:xfrm>
            <a:off x="4572000" y="2249280"/>
            <a:ext cx="3053520" cy="131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1) Infix → Postfix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2) Postfix → Result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Shape 12"/>
          <p:cNvSpPr/>
          <p:nvPr/>
        </p:nvSpPr>
        <p:spPr>
          <a:xfrm>
            <a:off x="7818120" y="2743200"/>
            <a:ext cx="310680" cy="360"/>
          </a:xfrm>
          <a:prstGeom prst="line">
            <a:avLst/>
          </a:prstGeom>
          <a:ln w="25400">
            <a:solidFill>
              <a:srgbClr val="2C467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95" name="Shape 13"/>
          <p:cNvSpPr/>
          <p:nvPr/>
        </p:nvSpPr>
        <p:spPr>
          <a:xfrm>
            <a:off x="8211240" y="1828800"/>
            <a:ext cx="3382560" cy="182808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 w="1397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96" name="Text 14"/>
          <p:cNvSpPr/>
          <p:nvPr/>
        </p:nvSpPr>
        <p:spPr>
          <a:xfrm>
            <a:off x="8375760" y="1920240"/>
            <a:ext cx="30535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2C4670"/>
                </a:solidFill>
                <a:effectLst/>
                <a:uFillTx/>
                <a:latin typeface="TH Sarabun New"/>
                <a:ea typeface="TH Sarabun New"/>
              </a:rPr>
              <a:t>OUTPUT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15"/>
          <p:cNvSpPr/>
          <p:nvPr/>
        </p:nvSpPr>
        <p:spPr>
          <a:xfrm>
            <a:off x="8375760" y="2249280"/>
            <a:ext cx="3053520" cy="131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Postfix: 3 4 2 * +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Result: 11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Shape 16"/>
          <p:cNvSpPr/>
          <p:nvPr/>
        </p:nvSpPr>
        <p:spPr>
          <a:xfrm>
            <a:off x="594360" y="4069080"/>
            <a:ext cx="5348520" cy="1325160"/>
          </a:xfrm>
          <a:prstGeom prst="roundRect">
            <a:avLst>
              <a:gd name="adj" fmla="val 5517"/>
            </a:avLst>
          </a:prstGeom>
          <a:solidFill>
            <a:srgbClr val="F8FAFC"/>
          </a:solidFill>
          <a:ln w="1397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99" name="Text 17"/>
          <p:cNvSpPr/>
          <p:nvPr/>
        </p:nvSpPr>
        <p:spPr>
          <a:xfrm>
            <a:off x="758880" y="4160520"/>
            <a:ext cx="5019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800" b="1" u="none" strike="noStrike">
                <a:solidFill>
                  <a:srgbClr val="2C4670"/>
                </a:solidFill>
                <a:effectLst/>
                <a:uFillTx/>
                <a:latin typeface="TH Sarabun New"/>
                <a:cs typeface="TH Sarabun New"/>
              </a:rPr>
              <a:t>ข้อดี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18"/>
          <p:cNvSpPr/>
          <p:nvPr/>
        </p:nvSpPr>
        <p:spPr>
          <a:xfrm>
            <a:off x="758880" y="4489560"/>
            <a:ext cx="5019480" cy="81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แบ่งขั้นตอนชัดเจน • ตรวจสอบ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/Debug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ง่าย •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Postfix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ใช้ซ้ำได้ในขั้นคำนวณ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Shape 19"/>
          <p:cNvSpPr/>
          <p:nvPr/>
        </p:nvSpPr>
        <p:spPr>
          <a:xfrm>
            <a:off x="6172200" y="4069080"/>
            <a:ext cx="5421600" cy="1325160"/>
          </a:xfrm>
          <a:prstGeom prst="roundRect">
            <a:avLst>
              <a:gd name="adj" fmla="val 5517"/>
            </a:avLst>
          </a:prstGeom>
          <a:solidFill>
            <a:srgbClr val="F8FAFC"/>
          </a:solidFill>
          <a:ln w="1397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102" name="Text 20"/>
          <p:cNvSpPr/>
          <p:nvPr/>
        </p:nvSpPr>
        <p:spPr>
          <a:xfrm>
            <a:off x="6336720" y="4160520"/>
            <a:ext cx="50925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800" b="1" u="none" strike="noStrike">
                <a:solidFill>
                  <a:srgbClr val="2C4670"/>
                </a:solidFill>
                <a:effectLst/>
                <a:uFillTx/>
                <a:latin typeface="TH Sarabun New"/>
                <a:cs typeface="TH Sarabun New"/>
              </a:rPr>
              <a:t>ข้อจำกัด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21"/>
          <p:cNvSpPr/>
          <p:nvPr/>
        </p:nvSpPr>
        <p:spPr>
          <a:xfrm>
            <a:off x="6336720" y="4489560"/>
            <a:ext cx="5092560" cy="81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ต้องเก็บ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Postfix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เพิ่ม • มี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2 Phase •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ใช้พื้นที่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O(n)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ในภาพรวม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PlaceHolder 1"/>
          <p:cNvSpPr>
            <a:spLocks noGrp="1"/>
          </p:cNvSpPr>
          <p:nvPr>
            <p:ph type="sldNum" idx="8"/>
          </p:nvPr>
        </p:nvSpPr>
        <p:spPr>
          <a:xfrm>
            <a:off x="11475720" y="6510600"/>
            <a:ext cx="799200" cy="299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667085"/>
                </a:solidFill>
                <a:effectLst/>
                <a:uFillTx/>
                <a:latin typeface="TH Sarabun New"/>
                <a:ea typeface="TH Sarabun New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5FEDA806-5160-4B30-961E-432A72AABC95}" type="slidenum">
              <a:rPr lang="en-US" sz="1200" b="0" u="none" strike="noStrike">
                <a:solidFill>
                  <a:srgbClr val="667085"/>
                </a:solidFill>
                <a:effectLst/>
                <a:uFillTx/>
                <a:latin typeface="TH Sarabun New"/>
                <a:ea typeface="TH Sarabun New"/>
              </a:rPr>
              <a:t>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Text 0"/>
          <p:cNvSpPr/>
          <p:nvPr/>
        </p:nvSpPr>
        <p:spPr>
          <a:xfrm>
            <a:off x="530280" y="329040"/>
            <a:ext cx="1097208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5. Algorithm B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1"/>
          <p:cNvSpPr/>
          <p:nvPr/>
        </p:nvSpPr>
        <p:spPr>
          <a:xfrm>
            <a:off x="548640" y="841320"/>
            <a:ext cx="1097208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500" b="0" u="none" strike="noStrike">
                <a:solidFill>
                  <a:srgbClr val="6C7480"/>
                </a:solidFill>
                <a:effectLst/>
                <a:uFillTx/>
                <a:latin typeface="TH Sarabun New"/>
                <a:cs typeface="TH Sarabun New"/>
              </a:rPr>
              <a:t>แนวคิดหลัก</a:t>
            </a:r>
            <a:r>
              <a:rPr lang="en-US" sz="1500" b="0" u="none" strike="noStrike">
                <a:solidFill>
                  <a:srgbClr val="6C7480"/>
                </a:solidFill>
                <a:effectLst/>
                <a:uFillTx/>
                <a:latin typeface="TH Sarabun New"/>
                <a:ea typeface="TH Sarabun New"/>
              </a:rPr>
              <a:t>: </a:t>
            </a:r>
            <a:r>
              <a:rPr lang="hi-IN" sz="1500" b="0" u="none" strike="noStrike">
                <a:solidFill>
                  <a:srgbClr val="6C7480"/>
                </a:solidFill>
                <a:effectLst/>
                <a:uFillTx/>
                <a:latin typeface="TH Sarabun New"/>
                <a:cs typeface="TH Sarabun New"/>
              </a:rPr>
              <a:t>คำนวณตรงจาก </a:t>
            </a:r>
            <a:r>
              <a:rPr lang="en-US" sz="1500" b="0" u="none" strike="noStrike">
                <a:solidFill>
                  <a:srgbClr val="6C7480"/>
                </a:solidFill>
                <a:effectLst/>
                <a:uFillTx/>
                <a:latin typeface="TH Sarabun New"/>
                <a:ea typeface="TH Sarabun New"/>
              </a:rPr>
              <a:t>Infix </a:t>
            </a:r>
            <a:r>
              <a:rPr lang="hi-IN" sz="1500" b="0" u="none" strike="noStrike">
                <a:solidFill>
                  <a:srgbClr val="6C7480"/>
                </a:solidFill>
                <a:effectLst/>
                <a:uFillTx/>
                <a:latin typeface="TH Sarabun New"/>
                <a:cs typeface="TH Sarabun New"/>
              </a:rPr>
              <a:t>โดยไม่สร้าง </a:t>
            </a:r>
            <a:r>
              <a:rPr lang="en-US" sz="1500" b="0" u="none" strike="noStrike">
                <a:solidFill>
                  <a:srgbClr val="6C7480"/>
                </a:solidFill>
                <a:effectLst/>
                <a:uFillTx/>
                <a:latin typeface="TH Sarabun New"/>
                <a:ea typeface="TH Sarabun New"/>
              </a:rPr>
              <a:t>Postfix </a:t>
            </a:r>
            <a:r>
              <a:rPr lang="hi-IN" sz="1500" b="0" u="none" strike="noStrike">
                <a:solidFill>
                  <a:srgbClr val="6C7480"/>
                </a:solidFill>
                <a:effectLst/>
                <a:uFillTx/>
                <a:latin typeface="TH Sarabun New"/>
                <a:cs typeface="TH Sarabun New"/>
              </a:rPr>
              <a:t>เป็นผลลัพธ์กลาง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Shape 2"/>
          <p:cNvSpPr/>
          <p:nvPr/>
        </p:nvSpPr>
        <p:spPr>
          <a:xfrm>
            <a:off x="594360" y="1371600"/>
            <a:ext cx="3382560" cy="2971080"/>
          </a:xfrm>
          <a:prstGeom prst="roundRect">
            <a:avLst>
              <a:gd name="adj" fmla="val 2462"/>
            </a:avLst>
          </a:prstGeom>
          <a:solidFill>
            <a:srgbClr val="EAF0F8"/>
          </a:solidFill>
          <a:ln w="1397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108" name="Text 3"/>
          <p:cNvSpPr/>
          <p:nvPr/>
        </p:nvSpPr>
        <p:spPr>
          <a:xfrm>
            <a:off x="758880" y="1463040"/>
            <a:ext cx="30535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800" b="1" u="none" strike="noStrike">
                <a:solidFill>
                  <a:srgbClr val="2C4670"/>
                </a:solidFill>
                <a:effectLst/>
                <a:uFillTx/>
                <a:latin typeface="TH Sarabun New"/>
                <a:cs typeface="TH Sarabun New"/>
              </a:rPr>
              <a:t>โครงสร้าง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4"/>
          <p:cNvSpPr/>
          <p:nvPr/>
        </p:nvSpPr>
        <p:spPr>
          <a:xfrm>
            <a:off x="758880" y="1792080"/>
            <a:ext cx="3053520" cy="245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Operand Stack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เก็บค่าตัวเลข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/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ผลลัพธ์ย่อย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Operator Stack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เก็บ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operator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และวงเล็บ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Shape 5"/>
          <p:cNvSpPr/>
          <p:nvPr/>
        </p:nvSpPr>
        <p:spPr>
          <a:xfrm>
            <a:off x="4407480" y="1371600"/>
            <a:ext cx="3382560" cy="2971080"/>
          </a:xfrm>
          <a:prstGeom prst="roundRect">
            <a:avLst>
              <a:gd name="adj" fmla="val 2462"/>
            </a:avLst>
          </a:prstGeom>
          <a:solidFill>
            <a:srgbClr val="E6F5F0"/>
          </a:solidFill>
          <a:ln w="1397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111" name="Text 6"/>
          <p:cNvSpPr/>
          <p:nvPr/>
        </p:nvSpPr>
        <p:spPr>
          <a:xfrm>
            <a:off x="4572000" y="1463040"/>
            <a:ext cx="30535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800" b="1" u="none" strike="noStrike">
                <a:solidFill>
                  <a:srgbClr val="2C4670"/>
                </a:solidFill>
                <a:effectLst/>
                <a:uFillTx/>
                <a:latin typeface="TH Sarabun New"/>
                <a:cs typeface="TH Sarabun New"/>
              </a:rPr>
              <a:t>การทำงาน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7"/>
          <p:cNvSpPr/>
          <p:nvPr/>
        </p:nvSpPr>
        <p:spPr>
          <a:xfrm>
            <a:off x="4572000" y="1792080"/>
            <a:ext cx="3053520" cy="245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>
              <a:lnSpc>
                <a:spcPct val="100000"/>
              </a:lnSpc>
            </a:pP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Operand → push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Operator →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เปรียบเทียบ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Priority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และลดรูป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operator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ที่รออยู่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“(” → push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Shape 8"/>
          <p:cNvSpPr/>
          <p:nvPr/>
        </p:nvSpPr>
        <p:spPr>
          <a:xfrm>
            <a:off x="8220600" y="1371600"/>
            <a:ext cx="3382560" cy="2971080"/>
          </a:xfrm>
          <a:prstGeom prst="roundRect">
            <a:avLst>
              <a:gd name="adj" fmla="val 2462"/>
            </a:avLst>
          </a:prstGeom>
          <a:solidFill>
            <a:srgbClr val="FFF1DE"/>
          </a:solidFill>
          <a:ln w="1397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114" name="Text 9"/>
          <p:cNvSpPr/>
          <p:nvPr/>
        </p:nvSpPr>
        <p:spPr>
          <a:xfrm>
            <a:off x="8385120" y="1463040"/>
            <a:ext cx="30535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2C4670"/>
                </a:solidFill>
                <a:effectLst/>
                <a:uFillTx/>
                <a:latin typeface="TH Sarabun New"/>
                <a:ea typeface="TH Sarabun New"/>
              </a:rPr>
              <a:t>OUTPUT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10"/>
          <p:cNvSpPr/>
          <p:nvPr/>
        </p:nvSpPr>
        <p:spPr>
          <a:xfrm>
            <a:off x="8385120" y="1792080"/>
            <a:ext cx="3053520" cy="245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Result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โดยตรง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3 + 4 * 2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→ 11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ไม่ต้องเก็บ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Postfix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เป็น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output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แยก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Shape 11"/>
          <p:cNvSpPr/>
          <p:nvPr/>
        </p:nvSpPr>
        <p:spPr>
          <a:xfrm>
            <a:off x="594360" y="4663440"/>
            <a:ext cx="5394240" cy="1050840"/>
          </a:xfrm>
          <a:prstGeom prst="roundRect">
            <a:avLst>
              <a:gd name="adj" fmla="val 6957"/>
            </a:avLst>
          </a:prstGeom>
          <a:solidFill>
            <a:srgbClr val="F8FAFC"/>
          </a:solidFill>
          <a:ln w="1397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117" name="Text 12"/>
          <p:cNvSpPr/>
          <p:nvPr/>
        </p:nvSpPr>
        <p:spPr>
          <a:xfrm>
            <a:off x="758880" y="4754880"/>
            <a:ext cx="5065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800" b="1" u="none" strike="noStrike">
                <a:solidFill>
                  <a:srgbClr val="2C4670"/>
                </a:solidFill>
                <a:effectLst/>
                <a:uFillTx/>
                <a:latin typeface="TH Sarabun New"/>
                <a:cs typeface="TH Sarabun New"/>
              </a:rPr>
              <a:t>ข้อดี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13"/>
          <p:cNvSpPr/>
          <p:nvPr/>
        </p:nvSpPr>
        <p:spPr>
          <a:xfrm>
            <a:off x="758880" y="5083920"/>
            <a:ext cx="5065200" cy="53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คำนวณจบในรอบเดียว • ไม่ต้องสร้าง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Postfix output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Shape 14"/>
          <p:cNvSpPr/>
          <p:nvPr/>
        </p:nvSpPr>
        <p:spPr>
          <a:xfrm>
            <a:off x="6172200" y="4663440"/>
            <a:ext cx="5421600" cy="1050840"/>
          </a:xfrm>
          <a:prstGeom prst="roundRect">
            <a:avLst>
              <a:gd name="adj" fmla="val 6957"/>
            </a:avLst>
          </a:prstGeom>
          <a:solidFill>
            <a:srgbClr val="F8FAFC"/>
          </a:solidFill>
          <a:ln w="1397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120" name="Text 15"/>
          <p:cNvSpPr/>
          <p:nvPr/>
        </p:nvSpPr>
        <p:spPr>
          <a:xfrm>
            <a:off x="6336720" y="4754880"/>
            <a:ext cx="50925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800" b="1" u="none" strike="noStrike">
                <a:solidFill>
                  <a:srgbClr val="2C4670"/>
                </a:solidFill>
                <a:effectLst/>
                <a:uFillTx/>
                <a:latin typeface="TH Sarabun New"/>
                <a:cs typeface="TH Sarabun New"/>
              </a:rPr>
              <a:t>ข้อจำกัด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16"/>
          <p:cNvSpPr/>
          <p:nvPr/>
        </p:nvSpPr>
        <p:spPr>
          <a:xfrm>
            <a:off x="6336720" y="5083920"/>
            <a:ext cx="5092560" cy="53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Logic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ซับซ้อนกว่า •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Debug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ยากกว่า • ต้องจัดการ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2 Stack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พร้อมกัน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PlaceHolder 1"/>
          <p:cNvSpPr>
            <a:spLocks noGrp="1"/>
          </p:cNvSpPr>
          <p:nvPr>
            <p:ph type="sldNum" idx="9"/>
          </p:nvPr>
        </p:nvSpPr>
        <p:spPr>
          <a:xfrm>
            <a:off x="11475720" y="6510600"/>
            <a:ext cx="799200" cy="299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667085"/>
                </a:solidFill>
                <a:effectLst/>
                <a:uFillTx/>
                <a:latin typeface="TH Sarabun New"/>
                <a:ea typeface="TH Sarabun New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E5F5A3B4-2EC3-4532-A706-727667DFEA6C}" type="slidenum">
              <a:rPr lang="en-US" sz="1200" b="0" u="none" strike="noStrike">
                <a:solidFill>
                  <a:srgbClr val="667085"/>
                </a:solidFill>
                <a:effectLst/>
                <a:uFillTx/>
                <a:latin typeface="TH Sarabun New"/>
                <a:ea typeface="TH Sarabun New"/>
              </a:rPr>
              <a:t>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Text 0"/>
          <p:cNvSpPr/>
          <p:nvPr/>
        </p:nvSpPr>
        <p:spPr>
          <a:xfrm>
            <a:off x="530280" y="329040"/>
            <a:ext cx="1097208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6. </a:t>
            </a:r>
            <a:r>
              <a:rPr lang="hi-IN" sz="18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ตัวอย่าง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Step-by-step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1"/>
          <p:cNvSpPr/>
          <p:nvPr/>
        </p:nvSpPr>
        <p:spPr>
          <a:xfrm>
            <a:off x="548640" y="841320"/>
            <a:ext cx="1097208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Algorithm A • </a:t>
            </a:r>
            <a:r>
              <a:rPr lang="hi-IN" sz="18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นิพจน์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3 + 4 * 2 — </a:t>
            </a:r>
            <a:r>
              <a:rPr lang="hi-IN" sz="18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แสดง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Stack </a:t>
            </a:r>
            <a:r>
              <a:rPr lang="hi-IN" sz="18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หลังอ่านแต่ละ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Token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Shape 2"/>
          <p:cNvSpPr/>
          <p:nvPr/>
        </p:nvSpPr>
        <p:spPr>
          <a:xfrm>
            <a:off x="548640" y="1243440"/>
            <a:ext cx="685080" cy="438120"/>
          </a:xfrm>
          <a:prstGeom prst="rect">
            <a:avLst/>
          </a:prstGeom>
          <a:solidFill>
            <a:srgbClr val="EAF0F8"/>
          </a:solidFill>
          <a:ln w="1270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126" name="Text 3"/>
          <p:cNvSpPr/>
          <p:nvPr/>
        </p:nvSpPr>
        <p:spPr>
          <a:xfrm>
            <a:off x="621720" y="1261800"/>
            <a:ext cx="53892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70" b="1" u="none" strike="noStrike">
                <a:solidFill>
                  <a:srgbClr val="2C4670"/>
                </a:solidFill>
                <a:effectLst/>
                <a:uFillTx/>
                <a:latin typeface="TH Sarabun New"/>
                <a:ea typeface="TH Sarabun New"/>
              </a:rPr>
              <a:t>#</a:t>
            </a:r>
            <a:endParaRPr lang="en-US" sz="12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Shape 4"/>
          <p:cNvSpPr/>
          <p:nvPr/>
        </p:nvSpPr>
        <p:spPr>
          <a:xfrm>
            <a:off x="1234440" y="1243440"/>
            <a:ext cx="1508040" cy="438120"/>
          </a:xfrm>
          <a:prstGeom prst="rect">
            <a:avLst/>
          </a:prstGeom>
          <a:solidFill>
            <a:srgbClr val="EAF0F8"/>
          </a:solidFill>
          <a:ln w="1270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128" name="Text 5"/>
          <p:cNvSpPr/>
          <p:nvPr/>
        </p:nvSpPr>
        <p:spPr>
          <a:xfrm>
            <a:off x="1307520" y="1261800"/>
            <a:ext cx="136188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70" b="1" u="none" strike="noStrike">
                <a:solidFill>
                  <a:srgbClr val="2C4670"/>
                </a:solidFill>
                <a:effectLst/>
                <a:uFillTx/>
                <a:latin typeface="TH Sarabun New"/>
                <a:ea typeface="TH Sarabun New"/>
              </a:rPr>
              <a:t>Token</a:t>
            </a:r>
            <a:endParaRPr lang="en-US" sz="12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Shape 6"/>
          <p:cNvSpPr/>
          <p:nvPr/>
        </p:nvSpPr>
        <p:spPr>
          <a:xfrm>
            <a:off x="2743200" y="1243440"/>
            <a:ext cx="4754160" cy="438120"/>
          </a:xfrm>
          <a:prstGeom prst="rect">
            <a:avLst/>
          </a:prstGeom>
          <a:solidFill>
            <a:srgbClr val="EAF0F8"/>
          </a:solidFill>
          <a:ln w="1270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130" name="Text 7"/>
          <p:cNvSpPr/>
          <p:nvPr/>
        </p:nvSpPr>
        <p:spPr>
          <a:xfrm>
            <a:off x="2816280" y="1261800"/>
            <a:ext cx="460800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70" b="1" u="none" strike="noStrike">
                <a:solidFill>
                  <a:srgbClr val="2C4670"/>
                </a:solidFill>
                <a:effectLst/>
                <a:uFillTx/>
                <a:latin typeface="TH Sarabun New"/>
                <a:ea typeface="TH Sarabun New"/>
              </a:rPr>
              <a:t>Operator Stack</a:t>
            </a:r>
            <a:endParaRPr lang="en-US" sz="12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Shape 8"/>
          <p:cNvSpPr/>
          <p:nvPr/>
        </p:nvSpPr>
        <p:spPr>
          <a:xfrm>
            <a:off x="7498080" y="1243440"/>
            <a:ext cx="1828080" cy="438120"/>
          </a:xfrm>
          <a:prstGeom prst="rect">
            <a:avLst/>
          </a:prstGeom>
          <a:solidFill>
            <a:srgbClr val="EAF0F8"/>
          </a:solidFill>
          <a:ln w="1270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132" name="Text 9"/>
          <p:cNvSpPr/>
          <p:nvPr/>
        </p:nvSpPr>
        <p:spPr>
          <a:xfrm>
            <a:off x="7571160" y="1261800"/>
            <a:ext cx="168192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270" b="1" u="none" strike="noStrike">
                <a:solidFill>
                  <a:srgbClr val="2C4670"/>
                </a:solidFill>
                <a:effectLst/>
                <a:uFillTx/>
                <a:latin typeface="TH Sarabun New"/>
                <a:cs typeface="TH Sarabun New"/>
              </a:rPr>
              <a:t>สถานะ</a:t>
            </a:r>
            <a:endParaRPr lang="en-US" sz="12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Shape 10"/>
          <p:cNvSpPr/>
          <p:nvPr/>
        </p:nvSpPr>
        <p:spPr>
          <a:xfrm>
            <a:off x="9326880" y="1243440"/>
            <a:ext cx="3153960" cy="438120"/>
          </a:xfrm>
          <a:prstGeom prst="rect">
            <a:avLst/>
          </a:prstGeom>
          <a:solidFill>
            <a:srgbClr val="EAF0F8"/>
          </a:solidFill>
          <a:ln w="1270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134" name="Text 11"/>
          <p:cNvSpPr/>
          <p:nvPr/>
        </p:nvSpPr>
        <p:spPr>
          <a:xfrm>
            <a:off x="9399960" y="1261800"/>
            <a:ext cx="300780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70" b="1" u="none" strike="noStrike">
                <a:solidFill>
                  <a:srgbClr val="2C4670"/>
                </a:solidFill>
                <a:effectLst/>
                <a:uFillTx/>
                <a:latin typeface="TH Sarabun New"/>
                <a:ea typeface="TH Sarabun New"/>
              </a:rPr>
              <a:t>Output</a:t>
            </a:r>
            <a:endParaRPr lang="en-US" sz="12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Shape 12"/>
          <p:cNvSpPr/>
          <p:nvPr/>
        </p:nvSpPr>
        <p:spPr>
          <a:xfrm>
            <a:off x="548640" y="1682640"/>
            <a:ext cx="685080" cy="483840"/>
          </a:xfrm>
          <a:prstGeom prst="rect">
            <a:avLst/>
          </a:prstGeom>
          <a:solidFill>
            <a:srgbClr val="FFFFFF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136" name="Text 13"/>
          <p:cNvSpPr/>
          <p:nvPr/>
        </p:nvSpPr>
        <p:spPr>
          <a:xfrm>
            <a:off x="612720" y="1700640"/>
            <a:ext cx="556920" cy="44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7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1</a:t>
            </a:r>
            <a:endParaRPr lang="en-US" sz="12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Shape 14"/>
          <p:cNvSpPr/>
          <p:nvPr/>
        </p:nvSpPr>
        <p:spPr>
          <a:xfrm>
            <a:off x="1234440" y="1682640"/>
            <a:ext cx="1508040" cy="483840"/>
          </a:xfrm>
          <a:prstGeom prst="rect">
            <a:avLst/>
          </a:prstGeom>
          <a:solidFill>
            <a:srgbClr val="FFFFFF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138" name="Text 15"/>
          <p:cNvSpPr/>
          <p:nvPr/>
        </p:nvSpPr>
        <p:spPr>
          <a:xfrm>
            <a:off x="1298520" y="1700640"/>
            <a:ext cx="1379880" cy="44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7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3</a:t>
            </a:r>
            <a:endParaRPr lang="en-US" sz="12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Shape 16"/>
          <p:cNvSpPr/>
          <p:nvPr/>
        </p:nvSpPr>
        <p:spPr>
          <a:xfrm>
            <a:off x="2743200" y="1682640"/>
            <a:ext cx="4754160" cy="483840"/>
          </a:xfrm>
          <a:prstGeom prst="rect">
            <a:avLst/>
          </a:prstGeom>
          <a:solidFill>
            <a:srgbClr val="FFFFFF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140" name="Text 17"/>
          <p:cNvSpPr/>
          <p:nvPr/>
        </p:nvSpPr>
        <p:spPr>
          <a:xfrm>
            <a:off x="2807280" y="1700640"/>
            <a:ext cx="4626000" cy="44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7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∅</a:t>
            </a:r>
            <a:endParaRPr lang="en-US" sz="12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Shape 18"/>
          <p:cNvSpPr/>
          <p:nvPr/>
        </p:nvSpPr>
        <p:spPr>
          <a:xfrm>
            <a:off x="7498080" y="1682640"/>
            <a:ext cx="1828080" cy="483840"/>
          </a:xfrm>
          <a:prstGeom prst="rect">
            <a:avLst/>
          </a:prstGeom>
          <a:solidFill>
            <a:srgbClr val="FFFFFF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142" name="Text 19"/>
          <p:cNvSpPr/>
          <p:nvPr/>
        </p:nvSpPr>
        <p:spPr>
          <a:xfrm>
            <a:off x="7562160" y="1700640"/>
            <a:ext cx="1699920" cy="44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27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อ่าน </a:t>
            </a:r>
            <a:r>
              <a:rPr lang="en-US" sz="127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Operand</a:t>
            </a:r>
            <a:endParaRPr lang="en-US" sz="12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Shape 20"/>
          <p:cNvSpPr/>
          <p:nvPr/>
        </p:nvSpPr>
        <p:spPr>
          <a:xfrm>
            <a:off x="9326880" y="1682640"/>
            <a:ext cx="3153960" cy="483840"/>
          </a:xfrm>
          <a:prstGeom prst="rect">
            <a:avLst/>
          </a:prstGeom>
          <a:solidFill>
            <a:srgbClr val="FFFFFF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144" name="Text 21"/>
          <p:cNvSpPr/>
          <p:nvPr/>
        </p:nvSpPr>
        <p:spPr>
          <a:xfrm>
            <a:off x="9390960" y="1700640"/>
            <a:ext cx="3025800" cy="44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7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3</a:t>
            </a:r>
            <a:endParaRPr lang="en-US" sz="12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Shape 22"/>
          <p:cNvSpPr/>
          <p:nvPr/>
        </p:nvSpPr>
        <p:spPr>
          <a:xfrm>
            <a:off x="548640" y="2167200"/>
            <a:ext cx="685080" cy="483840"/>
          </a:xfrm>
          <a:prstGeom prst="rect">
            <a:avLst/>
          </a:prstGeom>
          <a:solidFill>
            <a:srgbClr val="F9FBFD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146" name="Text 23"/>
          <p:cNvSpPr/>
          <p:nvPr/>
        </p:nvSpPr>
        <p:spPr>
          <a:xfrm>
            <a:off x="612720" y="2185560"/>
            <a:ext cx="556920" cy="44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7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2</a:t>
            </a:r>
            <a:endParaRPr lang="en-US" sz="12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Shape 24"/>
          <p:cNvSpPr/>
          <p:nvPr/>
        </p:nvSpPr>
        <p:spPr>
          <a:xfrm>
            <a:off x="1234440" y="2167200"/>
            <a:ext cx="1508040" cy="483840"/>
          </a:xfrm>
          <a:prstGeom prst="rect">
            <a:avLst/>
          </a:prstGeom>
          <a:solidFill>
            <a:srgbClr val="F9FBFD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148" name="Text 25"/>
          <p:cNvSpPr/>
          <p:nvPr/>
        </p:nvSpPr>
        <p:spPr>
          <a:xfrm>
            <a:off x="1298520" y="2185560"/>
            <a:ext cx="1379880" cy="44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7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+</a:t>
            </a:r>
            <a:endParaRPr lang="en-US" sz="12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Shape 26"/>
          <p:cNvSpPr/>
          <p:nvPr/>
        </p:nvSpPr>
        <p:spPr>
          <a:xfrm>
            <a:off x="2743200" y="2167200"/>
            <a:ext cx="4754160" cy="483840"/>
          </a:xfrm>
          <a:prstGeom prst="rect">
            <a:avLst/>
          </a:prstGeom>
          <a:solidFill>
            <a:srgbClr val="F9FBFD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150" name="Text 27"/>
          <p:cNvSpPr/>
          <p:nvPr/>
        </p:nvSpPr>
        <p:spPr>
          <a:xfrm>
            <a:off x="2807280" y="2185560"/>
            <a:ext cx="4626000" cy="44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7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+</a:t>
            </a:r>
            <a:endParaRPr lang="en-US" sz="12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Shape 28"/>
          <p:cNvSpPr/>
          <p:nvPr/>
        </p:nvSpPr>
        <p:spPr>
          <a:xfrm>
            <a:off x="7498080" y="2167200"/>
            <a:ext cx="1828080" cy="483840"/>
          </a:xfrm>
          <a:prstGeom prst="rect">
            <a:avLst/>
          </a:prstGeom>
          <a:solidFill>
            <a:srgbClr val="F9FBFD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152" name="Text 29"/>
          <p:cNvSpPr/>
          <p:nvPr/>
        </p:nvSpPr>
        <p:spPr>
          <a:xfrm>
            <a:off x="7562160" y="2185560"/>
            <a:ext cx="1699920" cy="44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7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push +</a:t>
            </a:r>
            <a:endParaRPr lang="en-US" sz="12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Shape 30"/>
          <p:cNvSpPr/>
          <p:nvPr/>
        </p:nvSpPr>
        <p:spPr>
          <a:xfrm>
            <a:off x="9326880" y="2167200"/>
            <a:ext cx="3153960" cy="483840"/>
          </a:xfrm>
          <a:prstGeom prst="rect">
            <a:avLst/>
          </a:prstGeom>
          <a:solidFill>
            <a:srgbClr val="F9FBFD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154" name="Text 31"/>
          <p:cNvSpPr/>
          <p:nvPr/>
        </p:nvSpPr>
        <p:spPr>
          <a:xfrm>
            <a:off x="9390960" y="2185560"/>
            <a:ext cx="3025800" cy="44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7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3</a:t>
            </a:r>
            <a:endParaRPr lang="en-US" sz="12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Shape 32"/>
          <p:cNvSpPr/>
          <p:nvPr/>
        </p:nvSpPr>
        <p:spPr>
          <a:xfrm>
            <a:off x="548640" y="2651760"/>
            <a:ext cx="685080" cy="483840"/>
          </a:xfrm>
          <a:prstGeom prst="rect">
            <a:avLst/>
          </a:prstGeom>
          <a:solidFill>
            <a:srgbClr val="FFFFFF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156" name="Text 33"/>
          <p:cNvSpPr/>
          <p:nvPr/>
        </p:nvSpPr>
        <p:spPr>
          <a:xfrm>
            <a:off x="612720" y="2670120"/>
            <a:ext cx="556920" cy="44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7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3</a:t>
            </a:r>
            <a:endParaRPr lang="en-US" sz="12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34"/>
          <p:cNvSpPr/>
          <p:nvPr/>
        </p:nvSpPr>
        <p:spPr>
          <a:xfrm>
            <a:off x="1234440" y="2651760"/>
            <a:ext cx="1508040" cy="483840"/>
          </a:xfrm>
          <a:prstGeom prst="rect">
            <a:avLst/>
          </a:prstGeom>
          <a:solidFill>
            <a:srgbClr val="FFFFFF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158" name="Text 35"/>
          <p:cNvSpPr/>
          <p:nvPr/>
        </p:nvSpPr>
        <p:spPr>
          <a:xfrm>
            <a:off x="1298520" y="2670120"/>
            <a:ext cx="1379880" cy="44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7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4</a:t>
            </a:r>
            <a:endParaRPr lang="en-US" sz="12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Shape 36"/>
          <p:cNvSpPr/>
          <p:nvPr/>
        </p:nvSpPr>
        <p:spPr>
          <a:xfrm>
            <a:off x="2743200" y="2651760"/>
            <a:ext cx="4754160" cy="483840"/>
          </a:xfrm>
          <a:prstGeom prst="rect">
            <a:avLst/>
          </a:prstGeom>
          <a:solidFill>
            <a:srgbClr val="FFFFFF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160" name="Text 37"/>
          <p:cNvSpPr/>
          <p:nvPr/>
        </p:nvSpPr>
        <p:spPr>
          <a:xfrm>
            <a:off x="2807280" y="2670120"/>
            <a:ext cx="4626000" cy="44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7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+</a:t>
            </a:r>
            <a:endParaRPr lang="en-US" sz="12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Shape 38"/>
          <p:cNvSpPr/>
          <p:nvPr/>
        </p:nvSpPr>
        <p:spPr>
          <a:xfrm>
            <a:off x="7498080" y="2651760"/>
            <a:ext cx="1828080" cy="483840"/>
          </a:xfrm>
          <a:prstGeom prst="rect">
            <a:avLst/>
          </a:prstGeom>
          <a:solidFill>
            <a:srgbClr val="FFFFFF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162" name="Text 39"/>
          <p:cNvSpPr/>
          <p:nvPr/>
        </p:nvSpPr>
        <p:spPr>
          <a:xfrm>
            <a:off x="7562160" y="2670120"/>
            <a:ext cx="1699920" cy="44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27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อ่าน </a:t>
            </a:r>
            <a:r>
              <a:rPr lang="en-US" sz="127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Operand</a:t>
            </a:r>
            <a:endParaRPr lang="en-US" sz="12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Shape 40"/>
          <p:cNvSpPr/>
          <p:nvPr/>
        </p:nvSpPr>
        <p:spPr>
          <a:xfrm>
            <a:off x="9326880" y="2651760"/>
            <a:ext cx="3153960" cy="483840"/>
          </a:xfrm>
          <a:prstGeom prst="rect">
            <a:avLst/>
          </a:prstGeom>
          <a:solidFill>
            <a:srgbClr val="FFFFFF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164" name="Text 41"/>
          <p:cNvSpPr/>
          <p:nvPr/>
        </p:nvSpPr>
        <p:spPr>
          <a:xfrm>
            <a:off x="9390960" y="2670120"/>
            <a:ext cx="3025800" cy="44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7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3 4</a:t>
            </a:r>
            <a:endParaRPr lang="en-US" sz="12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Shape 42"/>
          <p:cNvSpPr/>
          <p:nvPr/>
        </p:nvSpPr>
        <p:spPr>
          <a:xfrm>
            <a:off x="548640" y="3136320"/>
            <a:ext cx="685080" cy="483840"/>
          </a:xfrm>
          <a:prstGeom prst="rect">
            <a:avLst/>
          </a:prstGeom>
          <a:solidFill>
            <a:srgbClr val="F9FBFD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166" name="Text 43"/>
          <p:cNvSpPr/>
          <p:nvPr/>
        </p:nvSpPr>
        <p:spPr>
          <a:xfrm>
            <a:off x="612720" y="3154680"/>
            <a:ext cx="556920" cy="44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7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4</a:t>
            </a:r>
            <a:endParaRPr lang="en-US" sz="12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Shape 44"/>
          <p:cNvSpPr/>
          <p:nvPr/>
        </p:nvSpPr>
        <p:spPr>
          <a:xfrm>
            <a:off x="1234440" y="3136320"/>
            <a:ext cx="1508040" cy="483840"/>
          </a:xfrm>
          <a:prstGeom prst="rect">
            <a:avLst/>
          </a:prstGeom>
          <a:solidFill>
            <a:srgbClr val="F9FBFD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168" name="Text 45"/>
          <p:cNvSpPr/>
          <p:nvPr/>
        </p:nvSpPr>
        <p:spPr>
          <a:xfrm>
            <a:off x="1298520" y="3154680"/>
            <a:ext cx="1379880" cy="44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7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*</a:t>
            </a:r>
            <a:endParaRPr lang="en-US" sz="12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Shape 46"/>
          <p:cNvSpPr/>
          <p:nvPr/>
        </p:nvSpPr>
        <p:spPr>
          <a:xfrm>
            <a:off x="2743200" y="3136320"/>
            <a:ext cx="4754160" cy="483840"/>
          </a:xfrm>
          <a:prstGeom prst="rect">
            <a:avLst/>
          </a:prstGeom>
          <a:solidFill>
            <a:srgbClr val="F9FBFD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170" name="Text 47"/>
          <p:cNvSpPr/>
          <p:nvPr/>
        </p:nvSpPr>
        <p:spPr>
          <a:xfrm>
            <a:off x="2807280" y="3154680"/>
            <a:ext cx="4626000" cy="44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7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+ *</a:t>
            </a:r>
            <a:endParaRPr lang="en-US" sz="12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Shape 48"/>
          <p:cNvSpPr/>
          <p:nvPr/>
        </p:nvSpPr>
        <p:spPr>
          <a:xfrm>
            <a:off x="7498080" y="3136320"/>
            <a:ext cx="1828080" cy="483840"/>
          </a:xfrm>
          <a:prstGeom prst="rect">
            <a:avLst/>
          </a:prstGeom>
          <a:solidFill>
            <a:srgbClr val="F9FBFD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172" name="Text 49"/>
          <p:cNvSpPr/>
          <p:nvPr/>
        </p:nvSpPr>
        <p:spPr>
          <a:xfrm>
            <a:off x="7562160" y="3154680"/>
            <a:ext cx="1699920" cy="44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7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* </a:t>
            </a:r>
            <a:r>
              <a:rPr lang="hi-IN" sz="127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สูงกว่า </a:t>
            </a:r>
            <a:r>
              <a:rPr lang="en-US" sz="127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+</a:t>
            </a:r>
            <a:endParaRPr lang="en-US" sz="12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Shape 50"/>
          <p:cNvSpPr/>
          <p:nvPr/>
        </p:nvSpPr>
        <p:spPr>
          <a:xfrm>
            <a:off x="9326880" y="3136320"/>
            <a:ext cx="3153960" cy="483840"/>
          </a:xfrm>
          <a:prstGeom prst="rect">
            <a:avLst/>
          </a:prstGeom>
          <a:solidFill>
            <a:srgbClr val="F9FBFD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174" name="Text 51"/>
          <p:cNvSpPr/>
          <p:nvPr/>
        </p:nvSpPr>
        <p:spPr>
          <a:xfrm>
            <a:off x="9390960" y="3154680"/>
            <a:ext cx="3025800" cy="44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7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3 4</a:t>
            </a:r>
            <a:endParaRPr lang="en-US" sz="12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Shape 52"/>
          <p:cNvSpPr/>
          <p:nvPr/>
        </p:nvSpPr>
        <p:spPr>
          <a:xfrm>
            <a:off x="548640" y="3620880"/>
            <a:ext cx="685080" cy="483840"/>
          </a:xfrm>
          <a:prstGeom prst="rect">
            <a:avLst/>
          </a:prstGeom>
          <a:solidFill>
            <a:srgbClr val="FFFFFF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176" name="Text 53"/>
          <p:cNvSpPr/>
          <p:nvPr/>
        </p:nvSpPr>
        <p:spPr>
          <a:xfrm>
            <a:off x="612720" y="3639240"/>
            <a:ext cx="556920" cy="44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7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5</a:t>
            </a:r>
            <a:endParaRPr lang="en-US" sz="12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Shape 54"/>
          <p:cNvSpPr/>
          <p:nvPr/>
        </p:nvSpPr>
        <p:spPr>
          <a:xfrm>
            <a:off x="1234440" y="3620880"/>
            <a:ext cx="1508040" cy="483840"/>
          </a:xfrm>
          <a:prstGeom prst="rect">
            <a:avLst/>
          </a:prstGeom>
          <a:solidFill>
            <a:srgbClr val="FFFFFF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178" name="Text 55"/>
          <p:cNvSpPr/>
          <p:nvPr/>
        </p:nvSpPr>
        <p:spPr>
          <a:xfrm>
            <a:off x="1298520" y="3639240"/>
            <a:ext cx="1379880" cy="44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7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2</a:t>
            </a:r>
            <a:endParaRPr lang="en-US" sz="12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Shape 56"/>
          <p:cNvSpPr/>
          <p:nvPr/>
        </p:nvSpPr>
        <p:spPr>
          <a:xfrm>
            <a:off x="2743200" y="3620880"/>
            <a:ext cx="4754160" cy="483840"/>
          </a:xfrm>
          <a:prstGeom prst="rect">
            <a:avLst/>
          </a:prstGeom>
          <a:solidFill>
            <a:srgbClr val="FFFFFF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180" name="Text 57"/>
          <p:cNvSpPr/>
          <p:nvPr/>
        </p:nvSpPr>
        <p:spPr>
          <a:xfrm>
            <a:off x="2807280" y="3639240"/>
            <a:ext cx="4626000" cy="44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7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+ *</a:t>
            </a:r>
            <a:endParaRPr lang="en-US" sz="12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Shape 58"/>
          <p:cNvSpPr/>
          <p:nvPr/>
        </p:nvSpPr>
        <p:spPr>
          <a:xfrm>
            <a:off x="7498080" y="3620880"/>
            <a:ext cx="1828080" cy="483840"/>
          </a:xfrm>
          <a:prstGeom prst="rect">
            <a:avLst/>
          </a:prstGeom>
          <a:solidFill>
            <a:srgbClr val="FFFFFF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182" name="Text 59"/>
          <p:cNvSpPr/>
          <p:nvPr/>
        </p:nvSpPr>
        <p:spPr>
          <a:xfrm>
            <a:off x="7562160" y="3639240"/>
            <a:ext cx="1699920" cy="44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27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อ่าน </a:t>
            </a:r>
            <a:r>
              <a:rPr lang="en-US" sz="127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Operand</a:t>
            </a:r>
            <a:endParaRPr lang="en-US" sz="12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Shape 60"/>
          <p:cNvSpPr/>
          <p:nvPr/>
        </p:nvSpPr>
        <p:spPr>
          <a:xfrm>
            <a:off x="9326880" y="3620880"/>
            <a:ext cx="3153960" cy="483840"/>
          </a:xfrm>
          <a:prstGeom prst="rect">
            <a:avLst/>
          </a:prstGeom>
          <a:solidFill>
            <a:srgbClr val="FFFFFF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184" name="Text 61"/>
          <p:cNvSpPr/>
          <p:nvPr/>
        </p:nvSpPr>
        <p:spPr>
          <a:xfrm>
            <a:off x="9390960" y="3639240"/>
            <a:ext cx="3025800" cy="44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7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3 4 2</a:t>
            </a:r>
            <a:endParaRPr lang="en-US" sz="12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Shape 62"/>
          <p:cNvSpPr/>
          <p:nvPr/>
        </p:nvSpPr>
        <p:spPr>
          <a:xfrm>
            <a:off x="548640" y="4105800"/>
            <a:ext cx="685080" cy="483840"/>
          </a:xfrm>
          <a:prstGeom prst="rect">
            <a:avLst/>
          </a:prstGeom>
          <a:solidFill>
            <a:srgbClr val="F9FBFD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186" name="Text 63"/>
          <p:cNvSpPr/>
          <p:nvPr/>
        </p:nvSpPr>
        <p:spPr>
          <a:xfrm>
            <a:off x="612720" y="4123800"/>
            <a:ext cx="556920" cy="44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7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6</a:t>
            </a:r>
            <a:endParaRPr lang="en-US" sz="12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Shape 64"/>
          <p:cNvSpPr/>
          <p:nvPr/>
        </p:nvSpPr>
        <p:spPr>
          <a:xfrm>
            <a:off x="1234440" y="4105800"/>
            <a:ext cx="1508040" cy="483840"/>
          </a:xfrm>
          <a:prstGeom prst="rect">
            <a:avLst/>
          </a:prstGeom>
          <a:solidFill>
            <a:srgbClr val="F9FBFD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188" name="Text 65"/>
          <p:cNvSpPr/>
          <p:nvPr/>
        </p:nvSpPr>
        <p:spPr>
          <a:xfrm>
            <a:off x="1298520" y="4123800"/>
            <a:ext cx="1379880" cy="44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7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END</a:t>
            </a:r>
            <a:endParaRPr lang="en-US" sz="12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Shape 66"/>
          <p:cNvSpPr/>
          <p:nvPr/>
        </p:nvSpPr>
        <p:spPr>
          <a:xfrm>
            <a:off x="2743200" y="4105800"/>
            <a:ext cx="4754160" cy="483840"/>
          </a:xfrm>
          <a:prstGeom prst="rect">
            <a:avLst/>
          </a:prstGeom>
          <a:solidFill>
            <a:srgbClr val="F9FBFD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190" name="Text 67"/>
          <p:cNvSpPr/>
          <p:nvPr/>
        </p:nvSpPr>
        <p:spPr>
          <a:xfrm>
            <a:off x="2807280" y="4123800"/>
            <a:ext cx="4626000" cy="44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7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∅</a:t>
            </a:r>
            <a:endParaRPr lang="en-US" sz="12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Shape 68"/>
          <p:cNvSpPr/>
          <p:nvPr/>
        </p:nvSpPr>
        <p:spPr>
          <a:xfrm>
            <a:off x="7498080" y="4105800"/>
            <a:ext cx="1828080" cy="483840"/>
          </a:xfrm>
          <a:prstGeom prst="rect">
            <a:avLst/>
          </a:prstGeom>
          <a:solidFill>
            <a:srgbClr val="F9FBFD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192" name="Text 69"/>
          <p:cNvSpPr/>
          <p:nvPr/>
        </p:nvSpPr>
        <p:spPr>
          <a:xfrm>
            <a:off x="7562160" y="4123800"/>
            <a:ext cx="1699920" cy="44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7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Postfix </a:t>
            </a:r>
            <a:r>
              <a:rPr lang="hi-IN" sz="127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พร้อม</a:t>
            </a:r>
            <a:endParaRPr lang="en-US" sz="12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Shape 70"/>
          <p:cNvSpPr/>
          <p:nvPr/>
        </p:nvSpPr>
        <p:spPr>
          <a:xfrm>
            <a:off x="9326880" y="4105800"/>
            <a:ext cx="3153960" cy="483840"/>
          </a:xfrm>
          <a:prstGeom prst="rect">
            <a:avLst/>
          </a:prstGeom>
          <a:solidFill>
            <a:srgbClr val="F9FBFD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194" name="Text 71"/>
          <p:cNvSpPr/>
          <p:nvPr/>
        </p:nvSpPr>
        <p:spPr>
          <a:xfrm>
            <a:off x="9390960" y="4123800"/>
            <a:ext cx="3025800" cy="44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7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3 4 2 * +</a:t>
            </a:r>
            <a:endParaRPr lang="en-US" sz="12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Shape 72"/>
          <p:cNvSpPr/>
          <p:nvPr/>
        </p:nvSpPr>
        <p:spPr>
          <a:xfrm>
            <a:off x="567000" y="5074920"/>
            <a:ext cx="3656880" cy="803880"/>
          </a:xfrm>
          <a:prstGeom prst="roundRect">
            <a:avLst>
              <a:gd name="adj" fmla="val 9091"/>
            </a:avLst>
          </a:prstGeom>
          <a:solidFill>
            <a:srgbClr val="E6F5F0"/>
          </a:solidFill>
          <a:ln w="1397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196" name="Text 73"/>
          <p:cNvSpPr/>
          <p:nvPr/>
        </p:nvSpPr>
        <p:spPr>
          <a:xfrm>
            <a:off x="731520" y="5166360"/>
            <a:ext cx="33278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2C4670"/>
                </a:solidFill>
                <a:effectLst/>
                <a:uFillTx/>
                <a:latin typeface="TH Sarabun New"/>
                <a:ea typeface="TH Sarabun New"/>
              </a:rPr>
              <a:t>Postfix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 74"/>
          <p:cNvSpPr/>
          <p:nvPr/>
        </p:nvSpPr>
        <p:spPr>
          <a:xfrm>
            <a:off x="731520" y="5495400"/>
            <a:ext cx="332784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3 4 2 * +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Shape 75"/>
          <p:cNvSpPr/>
          <p:nvPr/>
        </p:nvSpPr>
        <p:spPr>
          <a:xfrm>
            <a:off x="4407480" y="5074920"/>
            <a:ext cx="2925360" cy="803880"/>
          </a:xfrm>
          <a:prstGeom prst="roundRect">
            <a:avLst>
              <a:gd name="adj" fmla="val 9091"/>
            </a:avLst>
          </a:prstGeom>
          <a:solidFill>
            <a:srgbClr val="EAF0F8"/>
          </a:solidFill>
          <a:ln w="1397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199" name="Text 76"/>
          <p:cNvSpPr/>
          <p:nvPr/>
        </p:nvSpPr>
        <p:spPr>
          <a:xfrm>
            <a:off x="4572000" y="5166360"/>
            <a:ext cx="25963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2C4670"/>
                </a:solidFill>
                <a:effectLst/>
                <a:uFillTx/>
                <a:latin typeface="TH Sarabun New"/>
                <a:ea typeface="TH Sarabun New"/>
              </a:rPr>
              <a:t>Result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77"/>
          <p:cNvSpPr/>
          <p:nvPr/>
        </p:nvSpPr>
        <p:spPr>
          <a:xfrm>
            <a:off x="4572000" y="5495400"/>
            <a:ext cx="259632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11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Shape 78"/>
          <p:cNvSpPr/>
          <p:nvPr/>
        </p:nvSpPr>
        <p:spPr>
          <a:xfrm>
            <a:off x="7498080" y="5074920"/>
            <a:ext cx="4068360" cy="803880"/>
          </a:xfrm>
          <a:prstGeom prst="roundRect">
            <a:avLst>
              <a:gd name="adj" fmla="val 9091"/>
            </a:avLst>
          </a:prstGeom>
          <a:solidFill>
            <a:srgbClr val="FFF1DE"/>
          </a:solidFill>
          <a:ln w="1397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202" name="Text 79"/>
          <p:cNvSpPr/>
          <p:nvPr/>
        </p:nvSpPr>
        <p:spPr>
          <a:xfrm>
            <a:off x="7662600" y="5166360"/>
            <a:ext cx="37393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800" b="1" u="none" strike="noStrike">
                <a:solidFill>
                  <a:srgbClr val="2C4670"/>
                </a:solidFill>
                <a:effectLst/>
                <a:uFillTx/>
                <a:latin typeface="TH Sarabun New"/>
                <a:cs typeface="TH Sarabun New"/>
              </a:rPr>
              <a:t>ประเด็นสำคัญ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 80"/>
          <p:cNvSpPr/>
          <p:nvPr/>
        </p:nvSpPr>
        <p:spPr>
          <a:xfrm>
            <a:off x="7662600" y="5495400"/>
            <a:ext cx="373932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*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ถูกประมวลผลก่อน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+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PlaceHolder 1"/>
          <p:cNvSpPr>
            <a:spLocks noGrp="1"/>
          </p:cNvSpPr>
          <p:nvPr>
            <p:ph type="sldNum" idx="10"/>
          </p:nvPr>
        </p:nvSpPr>
        <p:spPr>
          <a:xfrm>
            <a:off x="11475720" y="6510600"/>
            <a:ext cx="799200" cy="299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667085"/>
                </a:solidFill>
                <a:effectLst/>
                <a:uFillTx/>
                <a:latin typeface="TH Sarabun New"/>
                <a:ea typeface="TH Sarabun New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5E6692EB-BB5D-458B-B73D-72F99AE8C8FF}" type="slidenum">
              <a:rPr lang="en-US" sz="1200" b="0" u="none" strike="noStrike">
                <a:solidFill>
                  <a:srgbClr val="667085"/>
                </a:solidFill>
                <a:effectLst/>
                <a:uFillTx/>
                <a:latin typeface="TH Sarabun New"/>
                <a:ea typeface="TH Sarabun New"/>
              </a:rPr>
              <a:t>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Text 0"/>
          <p:cNvSpPr/>
          <p:nvPr/>
        </p:nvSpPr>
        <p:spPr>
          <a:xfrm>
            <a:off x="530280" y="329040"/>
            <a:ext cx="1097208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7. Correctness Argument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1"/>
          <p:cNvSpPr/>
          <p:nvPr/>
        </p:nvSpPr>
        <p:spPr>
          <a:xfrm>
            <a:off x="548640" y="841320"/>
            <a:ext cx="1097208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6C7480"/>
                </a:solidFill>
                <a:effectLst/>
                <a:uFillTx/>
                <a:latin typeface="TH Sarabun New"/>
                <a:ea typeface="TH Sarabun New"/>
              </a:rPr>
              <a:t>Precondition • Invariant • Postcondition • Termination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Shape 2"/>
          <p:cNvSpPr/>
          <p:nvPr/>
        </p:nvSpPr>
        <p:spPr>
          <a:xfrm>
            <a:off x="567000" y="1234440"/>
            <a:ext cx="5394240" cy="1142280"/>
          </a:xfrm>
          <a:prstGeom prst="roundRect">
            <a:avLst>
              <a:gd name="adj" fmla="val 6400"/>
            </a:avLst>
          </a:prstGeom>
          <a:solidFill>
            <a:srgbClr val="EAF0F8"/>
          </a:solidFill>
          <a:ln w="1397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208" name="Text 3"/>
          <p:cNvSpPr/>
          <p:nvPr/>
        </p:nvSpPr>
        <p:spPr>
          <a:xfrm>
            <a:off x="731520" y="1325880"/>
            <a:ext cx="5065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2C4670"/>
                </a:solidFill>
                <a:effectLst/>
                <a:uFillTx/>
                <a:latin typeface="TH Sarabun New"/>
                <a:ea typeface="TH Sarabun New"/>
              </a:rPr>
              <a:t>Precondition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4"/>
          <p:cNvSpPr/>
          <p:nvPr/>
        </p:nvSpPr>
        <p:spPr>
          <a:xfrm>
            <a:off x="731520" y="1654920"/>
            <a:ext cx="5065200" cy="63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Input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ถูก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Tokenize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แล้ว และตรวจรูปแบบ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/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วงเล็บเบื้องต้นผ่าน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Shape 5"/>
          <p:cNvSpPr/>
          <p:nvPr/>
        </p:nvSpPr>
        <p:spPr>
          <a:xfrm>
            <a:off x="6199560" y="1234440"/>
            <a:ext cx="5394240" cy="1142280"/>
          </a:xfrm>
          <a:prstGeom prst="roundRect">
            <a:avLst>
              <a:gd name="adj" fmla="val 6400"/>
            </a:avLst>
          </a:prstGeom>
          <a:solidFill>
            <a:srgbClr val="E6F5F0"/>
          </a:solidFill>
          <a:ln w="1397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211" name="Text 6"/>
          <p:cNvSpPr/>
          <p:nvPr/>
        </p:nvSpPr>
        <p:spPr>
          <a:xfrm>
            <a:off x="6364080" y="1325880"/>
            <a:ext cx="5065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fontScale="70000" lnSpcReduction="19999"/>
          </a:bodyPr>
          <a:p>
            <a:pPr>
              <a:lnSpc>
                <a:spcPct val="100000"/>
              </a:lnSpc>
              <a:spcAft>
                <a:spcPts val="201"/>
              </a:spcAft>
            </a:pP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TH Sarabun New"/>
              </a:rPr>
              <a:t>Invariant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</a:pPr>
            <a:r>
              <a:rPr lang="hi-IN" sz="1100" b="0" u="none" strike="noStrike">
                <a:solidFill>
                  <a:srgbClr val="000000"/>
                </a:solidFill>
                <a:effectLst/>
                <a:uFillTx/>
                <a:latin typeface="TH Sarabun New"/>
              </a:rPr>
              <a:t>ระหว่างสแกน </a:t>
            </a: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TH Sarabun New"/>
              </a:rPr>
              <a:t>Operator Stack </a:t>
            </a:r>
            <a:r>
              <a:rPr lang="hi-IN" sz="1100" b="0" u="none" strike="noStrike">
                <a:solidFill>
                  <a:srgbClr val="000000"/>
                </a:solidFill>
                <a:effectLst/>
                <a:uFillTx/>
                <a:latin typeface="TH Sarabun New"/>
              </a:rPr>
              <a:t>รักษาลำดับ </a:t>
            </a: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TH Sarabun New"/>
              </a:rPr>
              <a:t>Priority </a:t>
            </a:r>
            <a:r>
              <a:rPr lang="hi-IN" sz="1100" b="0" u="none" strike="noStrike">
                <a:solidFill>
                  <a:srgbClr val="000000"/>
                </a:solidFill>
                <a:effectLst/>
                <a:uFillTx/>
                <a:latin typeface="TH Sarabun New"/>
              </a:rPr>
              <a:t>ภายในระดับวงเล็บ และ </a:t>
            </a: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TH Sarabun New"/>
              </a:rPr>
              <a:t>Postfix </a:t>
            </a:r>
            <a:r>
              <a:rPr lang="hi-IN" sz="1100" b="0" u="none" strike="noStrike">
                <a:solidFill>
                  <a:srgbClr val="000000"/>
                </a:solidFill>
                <a:effectLst/>
                <a:uFillTx/>
                <a:latin typeface="TH Sarabun New"/>
              </a:rPr>
              <a:t>ที่สะสมแล้วถูกต้องสำหรับ </a:t>
            </a: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TH Sarabun New"/>
              </a:rPr>
              <a:t>Token </a:t>
            </a:r>
            <a:r>
              <a:rPr lang="hi-IN" sz="1100" b="0" u="none" strike="noStrike">
                <a:solidFill>
                  <a:srgbClr val="000000"/>
                </a:solidFill>
                <a:effectLst/>
                <a:uFillTx/>
                <a:latin typeface="TH Sarabun New"/>
              </a:rPr>
              <a:t>ที่อ่านมาแล้ว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7"/>
          <p:cNvSpPr/>
          <p:nvPr/>
        </p:nvSpPr>
        <p:spPr>
          <a:xfrm>
            <a:off x="6364080" y="1654920"/>
            <a:ext cx="5065200" cy="63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Token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ที่อ่านแล้วถูกเก็บใน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Output/Stack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โดยไม่ทำให้ลำดับความหมายของนิพจน์เสีย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Shape 8"/>
          <p:cNvSpPr/>
          <p:nvPr/>
        </p:nvSpPr>
        <p:spPr>
          <a:xfrm>
            <a:off x="567000" y="2697480"/>
            <a:ext cx="5394240" cy="1142280"/>
          </a:xfrm>
          <a:prstGeom prst="roundRect">
            <a:avLst>
              <a:gd name="adj" fmla="val 6400"/>
            </a:avLst>
          </a:prstGeom>
          <a:solidFill>
            <a:srgbClr val="FFF1DE"/>
          </a:solidFill>
          <a:ln w="1397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214" name="Text 9"/>
          <p:cNvSpPr/>
          <p:nvPr/>
        </p:nvSpPr>
        <p:spPr>
          <a:xfrm>
            <a:off x="731520" y="2788920"/>
            <a:ext cx="5065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2C4670"/>
                </a:solidFill>
                <a:effectLst/>
                <a:uFillTx/>
                <a:latin typeface="TH Sarabun New"/>
                <a:ea typeface="TH Sarabun New"/>
              </a:rPr>
              <a:t>Postcondition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 10"/>
          <p:cNvSpPr/>
          <p:nvPr/>
        </p:nvSpPr>
        <p:spPr>
          <a:xfrm>
            <a:off x="731520" y="3117960"/>
            <a:ext cx="5065200" cy="63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Operator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ที่เหลือถูกประมวลผลครบ →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Postfix/Result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ถูกต้องตาม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Infix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เดิม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Shape 11"/>
          <p:cNvSpPr/>
          <p:nvPr/>
        </p:nvSpPr>
        <p:spPr>
          <a:xfrm>
            <a:off x="6199560" y="2697480"/>
            <a:ext cx="5394240" cy="1142280"/>
          </a:xfrm>
          <a:prstGeom prst="roundRect">
            <a:avLst>
              <a:gd name="adj" fmla="val 6400"/>
            </a:avLst>
          </a:prstGeom>
          <a:solidFill>
            <a:srgbClr val="F8FAFC"/>
          </a:solidFill>
          <a:ln w="1397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217" name="Text 12"/>
          <p:cNvSpPr/>
          <p:nvPr/>
        </p:nvSpPr>
        <p:spPr>
          <a:xfrm>
            <a:off x="6364080" y="2788920"/>
            <a:ext cx="5065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2C4670"/>
                </a:solidFill>
                <a:effectLst/>
                <a:uFillTx/>
                <a:latin typeface="TH Sarabun New"/>
                <a:ea typeface="TH Sarabun New"/>
              </a:rPr>
              <a:t>Termination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13"/>
          <p:cNvSpPr/>
          <p:nvPr/>
        </p:nvSpPr>
        <p:spPr>
          <a:xfrm>
            <a:off x="6364080" y="3117960"/>
            <a:ext cx="5065200" cy="63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ทุก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Token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ถูกอ่านครั้งเดียว และ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Stack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ถูกเคลียร์จนจบ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 14"/>
          <p:cNvSpPr/>
          <p:nvPr/>
        </p:nvSpPr>
        <p:spPr>
          <a:xfrm>
            <a:off x="594360" y="4160520"/>
            <a:ext cx="20109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900" b="1" u="none" strike="noStrike">
                <a:solidFill>
                  <a:srgbClr val="2C4670"/>
                </a:solidFill>
                <a:effectLst/>
                <a:uFillTx/>
                <a:latin typeface="TH Sarabun New"/>
                <a:cs typeface="TH Sarabun New"/>
              </a:rPr>
              <a:t>ทำไมถูกต้อง</a:t>
            </a:r>
            <a:r>
              <a:rPr lang="en-US" sz="1900" b="1" u="none" strike="noStrike">
                <a:solidFill>
                  <a:srgbClr val="2C4670"/>
                </a:solidFill>
                <a:effectLst/>
                <a:uFillTx/>
                <a:latin typeface="TH Sarabun New"/>
                <a:ea typeface="TH Sarabun New"/>
              </a:rPr>
              <a:t>?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Shape 15"/>
          <p:cNvSpPr/>
          <p:nvPr/>
        </p:nvSpPr>
        <p:spPr>
          <a:xfrm>
            <a:off x="567000" y="4572000"/>
            <a:ext cx="2605320" cy="1078200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397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221" name="Text 16"/>
          <p:cNvSpPr/>
          <p:nvPr/>
        </p:nvSpPr>
        <p:spPr>
          <a:xfrm>
            <a:off x="731520" y="4663440"/>
            <a:ext cx="22762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2C4670"/>
                </a:solidFill>
                <a:effectLst/>
                <a:uFillTx/>
                <a:latin typeface="TH Sarabun New"/>
                <a:ea typeface="TH Sarabun New"/>
              </a:rPr>
              <a:t>1. Priority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 17"/>
          <p:cNvSpPr/>
          <p:nvPr/>
        </p:nvSpPr>
        <p:spPr>
          <a:xfrm>
            <a:off x="731520" y="4992480"/>
            <a:ext cx="2276280" cy="56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* /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มาก่อน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+ -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Shape 18"/>
          <p:cNvSpPr/>
          <p:nvPr/>
        </p:nvSpPr>
        <p:spPr>
          <a:xfrm>
            <a:off x="3337560" y="4572000"/>
            <a:ext cx="2605320" cy="1078200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397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224" name="Text 19"/>
          <p:cNvSpPr/>
          <p:nvPr/>
        </p:nvSpPr>
        <p:spPr>
          <a:xfrm>
            <a:off x="3502080" y="4663440"/>
            <a:ext cx="22762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2C4670"/>
                </a:solidFill>
                <a:effectLst/>
                <a:uFillTx/>
                <a:latin typeface="TH Sarabun New"/>
                <a:ea typeface="TH Sarabun New"/>
              </a:rPr>
              <a:t>2. Parentheses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 20"/>
          <p:cNvSpPr/>
          <p:nvPr/>
        </p:nvSpPr>
        <p:spPr>
          <a:xfrm>
            <a:off x="3502080" y="4992480"/>
            <a:ext cx="2276280" cy="56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บังคับลำดับก่อนหลัง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Shape 21"/>
          <p:cNvSpPr/>
          <p:nvPr/>
        </p:nvSpPr>
        <p:spPr>
          <a:xfrm>
            <a:off x="6099120" y="4572000"/>
            <a:ext cx="2605320" cy="1078200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397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227" name="Text 22"/>
          <p:cNvSpPr/>
          <p:nvPr/>
        </p:nvSpPr>
        <p:spPr>
          <a:xfrm>
            <a:off x="6263640" y="4663440"/>
            <a:ext cx="22762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2C4670"/>
                </a:solidFill>
                <a:effectLst/>
                <a:uFillTx/>
                <a:latin typeface="TH Sarabun New"/>
                <a:ea typeface="TH Sarabun New"/>
              </a:rPr>
              <a:t>3. Postfix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 23"/>
          <p:cNvSpPr/>
          <p:nvPr/>
        </p:nvSpPr>
        <p:spPr>
          <a:xfrm>
            <a:off x="6263640" y="4992480"/>
            <a:ext cx="2276280" cy="56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ไม่มีความกำกวมของลำดับ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Shape 24"/>
          <p:cNvSpPr/>
          <p:nvPr/>
        </p:nvSpPr>
        <p:spPr>
          <a:xfrm>
            <a:off x="8851320" y="4572000"/>
            <a:ext cx="2605320" cy="1078200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397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230" name="Text 25"/>
          <p:cNvSpPr/>
          <p:nvPr/>
        </p:nvSpPr>
        <p:spPr>
          <a:xfrm>
            <a:off x="9015840" y="4663440"/>
            <a:ext cx="22762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2C4670"/>
                </a:solidFill>
                <a:effectLst/>
                <a:uFillTx/>
                <a:latin typeface="TH Sarabun New"/>
                <a:ea typeface="TH Sarabun New"/>
              </a:rPr>
              <a:t>4. Operand Stack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 26"/>
          <p:cNvSpPr/>
          <p:nvPr/>
        </p:nvSpPr>
        <p:spPr>
          <a:xfrm>
            <a:off x="9015840" y="4992480"/>
            <a:ext cx="2276280" cy="56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เก็บผลลัพธ์ย่อยเพื่อประกอบคำตอบ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PlaceHolder 1"/>
          <p:cNvSpPr>
            <a:spLocks noGrp="1"/>
          </p:cNvSpPr>
          <p:nvPr>
            <p:ph type="sldNum" idx="11"/>
          </p:nvPr>
        </p:nvSpPr>
        <p:spPr>
          <a:xfrm>
            <a:off x="11475720" y="6510600"/>
            <a:ext cx="799200" cy="299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667085"/>
                </a:solidFill>
                <a:effectLst/>
                <a:uFillTx/>
                <a:latin typeface="TH Sarabun New"/>
                <a:ea typeface="TH Sarabun New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C339E4BD-44A3-4A72-8682-FE65265F00F2}" type="slidenum">
              <a:rPr lang="en-US" sz="1200" b="0" u="none" strike="noStrike">
                <a:solidFill>
                  <a:srgbClr val="667085"/>
                </a:solidFill>
                <a:effectLst/>
                <a:uFillTx/>
                <a:latin typeface="TH Sarabun New"/>
                <a:ea typeface="TH Sarabun New"/>
              </a:rPr>
              <a:t>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Text 0"/>
          <p:cNvSpPr/>
          <p:nvPr/>
        </p:nvSpPr>
        <p:spPr>
          <a:xfrm>
            <a:off x="530280" y="329040"/>
            <a:ext cx="1097208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8. Big-O Analysis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 1"/>
          <p:cNvSpPr/>
          <p:nvPr/>
        </p:nvSpPr>
        <p:spPr>
          <a:xfrm>
            <a:off x="548640" y="841320"/>
            <a:ext cx="1097208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500" b="0" u="none" strike="noStrike">
                <a:solidFill>
                  <a:srgbClr val="6C7480"/>
                </a:solidFill>
                <a:effectLst/>
                <a:uFillTx/>
                <a:latin typeface="TH Sarabun New"/>
                <a:cs typeface="TH Sarabun New"/>
              </a:rPr>
              <a:t>ตอบคำถามวิเคราะห์ด้าน </a:t>
            </a:r>
            <a:r>
              <a:rPr lang="en-US" sz="1500" b="0" u="none" strike="noStrike">
                <a:solidFill>
                  <a:srgbClr val="6C7480"/>
                </a:solidFill>
                <a:effectLst/>
                <a:uFillTx/>
                <a:latin typeface="TH Sarabun New"/>
                <a:ea typeface="TH Sarabun New"/>
              </a:rPr>
              <a:t>Complexity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Shape 2"/>
          <p:cNvSpPr/>
          <p:nvPr/>
        </p:nvSpPr>
        <p:spPr>
          <a:xfrm>
            <a:off x="567000" y="1234440"/>
            <a:ext cx="5394240" cy="1480680"/>
          </a:xfrm>
          <a:prstGeom prst="roundRect">
            <a:avLst>
              <a:gd name="adj" fmla="val 4938"/>
            </a:avLst>
          </a:prstGeom>
          <a:solidFill>
            <a:srgbClr val="EAF0F8"/>
          </a:solidFill>
          <a:ln w="1397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236" name="Text 3"/>
          <p:cNvSpPr/>
          <p:nvPr/>
        </p:nvSpPr>
        <p:spPr>
          <a:xfrm>
            <a:off x="731520" y="1325880"/>
            <a:ext cx="5065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2C4670"/>
                </a:solidFill>
                <a:effectLst/>
                <a:uFillTx/>
                <a:latin typeface="TH Sarabun New"/>
                <a:ea typeface="TH Sarabun New"/>
              </a:rPr>
              <a:t>Balanced Parentheses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4"/>
          <p:cNvSpPr/>
          <p:nvPr/>
        </p:nvSpPr>
        <p:spPr>
          <a:xfrm>
            <a:off x="731520" y="1654920"/>
            <a:ext cx="5065200" cy="96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อ่าน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Token 1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ครั้ง →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push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เมื่อเจอ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'(' → pop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เมื่อเจอ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')'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ดังนั้น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Time = O(n), Space = O(n)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Shape 5"/>
          <p:cNvSpPr/>
          <p:nvPr/>
        </p:nvSpPr>
        <p:spPr>
          <a:xfrm>
            <a:off x="6199560" y="1234440"/>
            <a:ext cx="5394240" cy="1480680"/>
          </a:xfrm>
          <a:prstGeom prst="roundRect">
            <a:avLst>
              <a:gd name="adj" fmla="val 4938"/>
            </a:avLst>
          </a:prstGeom>
          <a:solidFill>
            <a:srgbClr val="E6F5F0"/>
          </a:solidFill>
          <a:ln w="1397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239" name="Text 6"/>
          <p:cNvSpPr/>
          <p:nvPr/>
        </p:nvSpPr>
        <p:spPr>
          <a:xfrm>
            <a:off x="6364080" y="1325880"/>
            <a:ext cx="5065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2C4670"/>
                </a:solidFill>
                <a:effectLst/>
                <a:uFillTx/>
                <a:latin typeface="TH Sarabun New"/>
                <a:ea typeface="TH Sarabun New"/>
              </a:rPr>
              <a:t>Infix → Postfix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 7"/>
          <p:cNvSpPr/>
          <p:nvPr/>
        </p:nvSpPr>
        <p:spPr>
          <a:xfrm>
            <a:off x="6364080" y="1654920"/>
            <a:ext cx="5065200" cy="96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แต่ละ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Token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ถูก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push/pop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จาก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Operator Stack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จำนวนจำกัด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จึงรวมเป็น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O(n)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Shape 8"/>
          <p:cNvSpPr/>
          <p:nvPr/>
        </p:nvSpPr>
        <p:spPr>
          <a:xfrm>
            <a:off x="567000" y="2999160"/>
            <a:ext cx="5394240" cy="1480680"/>
          </a:xfrm>
          <a:prstGeom prst="roundRect">
            <a:avLst>
              <a:gd name="adj" fmla="val 4938"/>
            </a:avLst>
          </a:prstGeom>
          <a:solidFill>
            <a:srgbClr val="FFF1DE"/>
          </a:solidFill>
          <a:ln w="1397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242" name="Text 9"/>
          <p:cNvSpPr/>
          <p:nvPr/>
        </p:nvSpPr>
        <p:spPr>
          <a:xfrm>
            <a:off x="731520" y="3090600"/>
            <a:ext cx="5065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800" b="1" u="none" strike="noStrike">
                <a:solidFill>
                  <a:srgbClr val="2C4670"/>
                </a:solidFill>
                <a:effectLst/>
                <a:uFillTx/>
                <a:latin typeface="TH Sarabun New"/>
                <a:cs typeface="TH Sarabun New"/>
              </a:rPr>
              <a:t>ทำไม </a:t>
            </a:r>
            <a:r>
              <a:rPr lang="en-US" sz="1800" b="1" u="none" strike="noStrike">
                <a:solidFill>
                  <a:srgbClr val="2C4670"/>
                </a:solidFill>
                <a:effectLst/>
                <a:uFillTx/>
                <a:latin typeface="TH Sarabun New"/>
                <a:ea typeface="TH Sarabun New"/>
              </a:rPr>
              <a:t>Push/Pop </a:t>
            </a:r>
            <a:r>
              <a:rPr lang="hi-IN" sz="1800" b="1" u="none" strike="noStrike">
                <a:solidFill>
                  <a:srgbClr val="2C4670"/>
                </a:solidFill>
                <a:effectLst/>
                <a:uFillTx/>
                <a:latin typeface="TH Sarabun New"/>
                <a:cs typeface="TH Sarabun New"/>
              </a:rPr>
              <a:t>จำกัด</a:t>
            </a:r>
            <a:r>
              <a:rPr lang="en-US" sz="1800" b="1" u="none" strike="noStrike">
                <a:solidFill>
                  <a:srgbClr val="2C4670"/>
                </a:solidFill>
                <a:effectLst/>
                <a:uFillTx/>
                <a:latin typeface="TH Sarabun New"/>
                <a:ea typeface="TH Sarabun New"/>
              </a:rPr>
              <a:t>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 10"/>
          <p:cNvSpPr/>
          <p:nvPr/>
        </p:nvSpPr>
        <p:spPr>
          <a:xfrm>
            <a:off x="731520" y="3420000"/>
            <a:ext cx="5065200" cy="96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ในแต่ละ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Phase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การทำงาน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Token/Operator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หนึ่งตัวถูกนำเข้าและนำออกจาก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Stack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จำนวนจำกัด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;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จึงรวมได้เป็นสัดส่วน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O(n)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รวมการเคลื่อนที่จึงไม่เกินสัดส่วน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O(n)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Shape 11"/>
          <p:cNvSpPr/>
          <p:nvPr/>
        </p:nvSpPr>
        <p:spPr>
          <a:xfrm>
            <a:off x="6199560" y="2999160"/>
            <a:ext cx="5394240" cy="1480680"/>
          </a:xfrm>
          <a:prstGeom prst="roundRect">
            <a:avLst>
              <a:gd name="adj" fmla="val 4938"/>
            </a:avLst>
          </a:prstGeom>
          <a:solidFill>
            <a:srgbClr val="F8FAFC"/>
          </a:solidFill>
          <a:ln w="1397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245" name="Text 12"/>
          <p:cNvSpPr/>
          <p:nvPr/>
        </p:nvSpPr>
        <p:spPr>
          <a:xfrm>
            <a:off x="6364080" y="3090600"/>
            <a:ext cx="5065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800" b="1" u="none" strike="noStrike">
                <a:solidFill>
                  <a:srgbClr val="2C4670"/>
                </a:solidFill>
                <a:effectLst/>
                <a:uFillTx/>
                <a:latin typeface="TH Sarabun New"/>
                <a:cs typeface="TH Sarabun New"/>
              </a:rPr>
              <a:t>ภาพรวมระบบ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 13"/>
          <p:cNvSpPr/>
          <p:nvPr/>
        </p:nvSpPr>
        <p:spPr>
          <a:xfrm>
            <a:off x="6364080" y="3420000"/>
            <a:ext cx="5065200" cy="96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Tokenize + Validation + Algorithm + Evaluation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เมื่อทำงานบนข้อมูลขนาด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n →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เวลาโดยรวม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O(n)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Shape 14"/>
          <p:cNvSpPr/>
          <p:nvPr/>
        </p:nvSpPr>
        <p:spPr>
          <a:xfrm>
            <a:off x="567000" y="4507920"/>
            <a:ext cx="2559600" cy="438120"/>
          </a:xfrm>
          <a:prstGeom prst="rect">
            <a:avLst/>
          </a:prstGeom>
          <a:solidFill>
            <a:srgbClr val="EAF0F8"/>
          </a:solidFill>
          <a:ln w="1270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248" name="Text 15"/>
          <p:cNvSpPr/>
          <p:nvPr/>
        </p:nvSpPr>
        <p:spPr>
          <a:xfrm>
            <a:off x="640080" y="4526280"/>
            <a:ext cx="241344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250" b="1" u="none" strike="noStrike">
                <a:solidFill>
                  <a:srgbClr val="2C4670"/>
                </a:solidFill>
                <a:effectLst/>
                <a:uFillTx/>
                <a:latin typeface="TH Sarabun New"/>
                <a:cs typeface="TH Sarabun New"/>
              </a:rPr>
              <a:t>กรณี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Shape 16"/>
          <p:cNvSpPr/>
          <p:nvPr/>
        </p:nvSpPr>
        <p:spPr>
          <a:xfrm>
            <a:off x="3127320" y="4507920"/>
            <a:ext cx="2559600" cy="438120"/>
          </a:xfrm>
          <a:prstGeom prst="rect">
            <a:avLst/>
          </a:prstGeom>
          <a:solidFill>
            <a:srgbClr val="EAF0F8"/>
          </a:solidFill>
          <a:ln w="1270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250" name="Text 17"/>
          <p:cNvSpPr/>
          <p:nvPr/>
        </p:nvSpPr>
        <p:spPr>
          <a:xfrm>
            <a:off x="3200400" y="4526280"/>
            <a:ext cx="241344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2C4670"/>
                </a:solidFill>
                <a:effectLst/>
                <a:uFillTx/>
                <a:latin typeface="TH Sarabun New"/>
                <a:ea typeface="TH Sarabun New"/>
              </a:rPr>
              <a:t>Algorithm A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Shape 18"/>
          <p:cNvSpPr/>
          <p:nvPr/>
        </p:nvSpPr>
        <p:spPr>
          <a:xfrm>
            <a:off x="5687640" y="4507920"/>
            <a:ext cx="2559600" cy="438120"/>
          </a:xfrm>
          <a:prstGeom prst="rect">
            <a:avLst/>
          </a:prstGeom>
          <a:solidFill>
            <a:srgbClr val="EAF0F8"/>
          </a:solidFill>
          <a:ln w="1270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252" name="Text 19"/>
          <p:cNvSpPr/>
          <p:nvPr/>
        </p:nvSpPr>
        <p:spPr>
          <a:xfrm>
            <a:off x="5760720" y="4526280"/>
            <a:ext cx="241344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2C4670"/>
                </a:solidFill>
                <a:effectLst/>
                <a:uFillTx/>
                <a:latin typeface="TH Sarabun New"/>
                <a:ea typeface="TH Sarabun New"/>
              </a:rPr>
              <a:t>Algorithm B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Shape 20"/>
          <p:cNvSpPr/>
          <p:nvPr/>
        </p:nvSpPr>
        <p:spPr>
          <a:xfrm>
            <a:off x="8247960" y="4507920"/>
            <a:ext cx="2925360" cy="438120"/>
          </a:xfrm>
          <a:prstGeom prst="rect">
            <a:avLst/>
          </a:prstGeom>
          <a:solidFill>
            <a:srgbClr val="EAF0F8"/>
          </a:solidFill>
          <a:ln w="1270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254" name="Text 21"/>
          <p:cNvSpPr/>
          <p:nvPr/>
        </p:nvSpPr>
        <p:spPr>
          <a:xfrm>
            <a:off x="8321040" y="4526280"/>
            <a:ext cx="277920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250" b="1" u="none" strike="noStrike">
                <a:solidFill>
                  <a:srgbClr val="2C4670"/>
                </a:solidFill>
                <a:effectLst/>
                <a:uFillTx/>
                <a:latin typeface="TH Sarabun New"/>
                <a:cs typeface="TH Sarabun New"/>
              </a:rPr>
              <a:t>เหตุผล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Shape 22"/>
          <p:cNvSpPr/>
          <p:nvPr/>
        </p:nvSpPr>
        <p:spPr>
          <a:xfrm>
            <a:off x="567000" y="4946760"/>
            <a:ext cx="2559600" cy="493200"/>
          </a:xfrm>
          <a:prstGeom prst="rect">
            <a:avLst/>
          </a:prstGeom>
          <a:solidFill>
            <a:srgbClr val="FFFFFF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256" name="Text 23"/>
          <p:cNvSpPr/>
          <p:nvPr/>
        </p:nvSpPr>
        <p:spPr>
          <a:xfrm>
            <a:off x="631080" y="4965120"/>
            <a:ext cx="243144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Best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Shape 24"/>
          <p:cNvSpPr/>
          <p:nvPr/>
        </p:nvSpPr>
        <p:spPr>
          <a:xfrm>
            <a:off x="3127320" y="4946760"/>
            <a:ext cx="2559600" cy="493200"/>
          </a:xfrm>
          <a:prstGeom prst="rect">
            <a:avLst/>
          </a:prstGeom>
          <a:solidFill>
            <a:srgbClr val="FFFFFF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258" name="Text 25"/>
          <p:cNvSpPr/>
          <p:nvPr/>
        </p:nvSpPr>
        <p:spPr>
          <a:xfrm>
            <a:off x="3191400" y="4965120"/>
            <a:ext cx="243144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</a:pPr>
            <a:r>
              <a:rPr lang="en-US" sz="125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O(n)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Shape 26"/>
          <p:cNvSpPr/>
          <p:nvPr/>
        </p:nvSpPr>
        <p:spPr>
          <a:xfrm>
            <a:off x="5687640" y="4946760"/>
            <a:ext cx="2559600" cy="493200"/>
          </a:xfrm>
          <a:prstGeom prst="rect">
            <a:avLst/>
          </a:prstGeom>
          <a:solidFill>
            <a:srgbClr val="FFFFFF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260" name="Text 27"/>
          <p:cNvSpPr/>
          <p:nvPr/>
        </p:nvSpPr>
        <p:spPr>
          <a:xfrm>
            <a:off x="5751720" y="4965120"/>
            <a:ext cx="243144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</a:pPr>
            <a:r>
              <a:rPr lang="en-US" sz="125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O(n)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Shape 28"/>
          <p:cNvSpPr/>
          <p:nvPr/>
        </p:nvSpPr>
        <p:spPr>
          <a:xfrm>
            <a:off x="8247960" y="4946760"/>
            <a:ext cx="2925360" cy="493200"/>
          </a:xfrm>
          <a:prstGeom prst="rect">
            <a:avLst/>
          </a:prstGeom>
          <a:solidFill>
            <a:srgbClr val="FFFFFF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262" name="Text 29"/>
          <p:cNvSpPr/>
          <p:nvPr/>
        </p:nvSpPr>
        <p:spPr>
          <a:xfrm>
            <a:off x="8312040" y="4965120"/>
            <a:ext cx="279720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</a:pPr>
            <a:r>
              <a:rPr lang="hi-IN" sz="125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ต้องอ่าน</a:t>
            </a:r>
            <a:r>
              <a:rPr lang="en-US" sz="125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/</a:t>
            </a:r>
            <a:r>
              <a:rPr lang="hi-IN" sz="125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ตรวจ </a:t>
            </a:r>
            <a:r>
              <a:rPr lang="en-US" sz="125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Input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Shape 30"/>
          <p:cNvSpPr/>
          <p:nvPr/>
        </p:nvSpPr>
        <p:spPr>
          <a:xfrm>
            <a:off x="567000" y="5440680"/>
            <a:ext cx="2559600" cy="493200"/>
          </a:xfrm>
          <a:prstGeom prst="rect">
            <a:avLst/>
          </a:prstGeom>
          <a:solidFill>
            <a:srgbClr val="F9FBFD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264" name="Text 31"/>
          <p:cNvSpPr/>
          <p:nvPr/>
        </p:nvSpPr>
        <p:spPr>
          <a:xfrm>
            <a:off x="631080" y="5459040"/>
            <a:ext cx="243144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Average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Shape 32"/>
          <p:cNvSpPr/>
          <p:nvPr/>
        </p:nvSpPr>
        <p:spPr>
          <a:xfrm>
            <a:off x="3127320" y="5440680"/>
            <a:ext cx="2559600" cy="493200"/>
          </a:xfrm>
          <a:prstGeom prst="rect">
            <a:avLst/>
          </a:prstGeom>
          <a:solidFill>
            <a:srgbClr val="F9FBFD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266" name="Text 33"/>
          <p:cNvSpPr/>
          <p:nvPr/>
        </p:nvSpPr>
        <p:spPr>
          <a:xfrm>
            <a:off x="3191400" y="5459040"/>
            <a:ext cx="243144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O(n)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Shape 34"/>
          <p:cNvSpPr/>
          <p:nvPr/>
        </p:nvSpPr>
        <p:spPr>
          <a:xfrm>
            <a:off x="5687640" y="5440680"/>
            <a:ext cx="2559600" cy="493200"/>
          </a:xfrm>
          <a:prstGeom prst="rect">
            <a:avLst/>
          </a:prstGeom>
          <a:solidFill>
            <a:srgbClr val="F9FBFD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268" name="Text 35"/>
          <p:cNvSpPr/>
          <p:nvPr/>
        </p:nvSpPr>
        <p:spPr>
          <a:xfrm>
            <a:off x="5751720" y="5459040"/>
            <a:ext cx="243144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O(n)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Shape 36"/>
          <p:cNvSpPr/>
          <p:nvPr/>
        </p:nvSpPr>
        <p:spPr>
          <a:xfrm>
            <a:off x="8247960" y="5440680"/>
            <a:ext cx="2925360" cy="493200"/>
          </a:xfrm>
          <a:prstGeom prst="rect">
            <a:avLst/>
          </a:prstGeom>
          <a:solidFill>
            <a:srgbClr val="F9FBFD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270" name="Text 37"/>
          <p:cNvSpPr/>
          <p:nvPr/>
        </p:nvSpPr>
        <p:spPr>
          <a:xfrm>
            <a:off x="8312040" y="5459040"/>
            <a:ext cx="279720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25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อ่าน </a:t>
            </a:r>
            <a:r>
              <a:rPr lang="en-US" sz="125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Token </a:t>
            </a:r>
            <a:r>
              <a:rPr lang="hi-IN" sz="125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ตาม </a:t>
            </a:r>
            <a:r>
              <a:rPr lang="en-US" sz="125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n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Shape 38"/>
          <p:cNvSpPr/>
          <p:nvPr/>
        </p:nvSpPr>
        <p:spPr>
          <a:xfrm>
            <a:off x="567000" y="5934600"/>
            <a:ext cx="2559600" cy="493200"/>
          </a:xfrm>
          <a:prstGeom prst="rect">
            <a:avLst/>
          </a:prstGeom>
          <a:solidFill>
            <a:srgbClr val="FFFFFF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272" name="Text 39"/>
          <p:cNvSpPr/>
          <p:nvPr/>
        </p:nvSpPr>
        <p:spPr>
          <a:xfrm>
            <a:off x="631080" y="5952600"/>
            <a:ext cx="243144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Worst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Shape 40"/>
          <p:cNvSpPr/>
          <p:nvPr/>
        </p:nvSpPr>
        <p:spPr>
          <a:xfrm>
            <a:off x="3127320" y="5934600"/>
            <a:ext cx="2559600" cy="493200"/>
          </a:xfrm>
          <a:prstGeom prst="rect">
            <a:avLst/>
          </a:prstGeom>
          <a:solidFill>
            <a:srgbClr val="FFFFFF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274" name="Text 41"/>
          <p:cNvSpPr/>
          <p:nvPr/>
        </p:nvSpPr>
        <p:spPr>
          <a:xfrm>
            <a:off x="3191400" y="5952600"/>
            <a:ext cx="243144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O(n)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Shape 42"/>
          <p:cNvSpPr/>
          <p:nvPr/>
        </p:nvSpPr>
        <p:spPr>
          <a:xfrm>
            <a:off x="5687640" y="5934600"/>
            <a:ext cx="2559600" cy="493200"/>
          </a:xfrm>
          <a:prstGeom prst="rect">
            <a:avLst/>
          </a:prstGeom>
          <a:solidFill>
            <a:srgbClr val="FFFFFF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276" name="Text 43"/>
          <p:cNvSpPr/>
          <p:nvPr/>
        </p:nvSpPr>
        <p:spPr>
          <a:xfrm>
            <a:off x="5751720" y="5952600"/>
            <a:ext cx="243144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O(n)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Shape 44"/>
          <p:cNvSpPr/>
          <p:nvPr/>
        </p:nvSpPr>
        <p:spPr>
          <a:xfrm>
            <a:off x="8247960" y="5934600"/>
            <a:ext cx="2925360" cy="493200"/>
          </a:xfrm>
          <a:prstGeom prst="rect">
            <a:avLst/>
          </a:prstGeom>
          <a:solidFill>
            <a:srgbClr val="FFFFFF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278" name="Text 45"/>
          <p:cNvSpPr/>
          <p:nvPr/>
        </p:nvSpPr>
        <p:spPr>
          <a:xfrm>
            <a:off x="8312040" y="5952600"/>
            <a:ext cx="279720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25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สแกนและจัดการ </a:t>
            </a:r>
            <a:r>
              <a:rPr lang="en-US" sz="125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Stack </a:t>
            </a:r>
            <a:r>
              <a:rPr lang="hi-IN" sz="125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ตาม </a:t>
            </a:r>
            <a:r>
              <a:rPr lang="en-US" sz="125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n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PlaceHolder 1"/>
          <p:cNvSpPr>
            <a:spLocks noGrp="1"/>
          </p:cNvSpPr>
          <p:nvPr>
            <p:ph type="sldNum" idx="12"/>
          </p:nvPr>
        </p:nvSpPr>
        <p:spPr>
          <a:xfrm>
            <a:off x="11475720" y="6510600"/>
            <a:ext cx="799200" cy="299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667085"/>
                </a:solidFill>
                <a:effectLst/>
                <a:uFillTx/>
                <a:latin typeface="TH Sarabun New"/>
                <a:ea typeface="TH Sarabun New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BB0F92DD-C338-4F00-B922-3A66ED839364}" type="slidenum">
              <a:rPr lang="en-US" sz="1200" b="0" u="none" strike="noStrike">
                <a:solidFill>
                  <a:srgbClr val="667085"/>
                </a:solidFill>
                <a:effectLst/>
                <a:uFillTx/>
                <a:latin typeface="TH Sarabun New"/>
                <a:ea typeface="TH Sarabun New"/>
              </a:rPr>
              <a:t>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Text 0"/>
          <p:cNvSpPr/>
          <p:nvPr/>
        </p:nvSpPr>
        <p:spPr>
          <a:xfrm>
            <a:off x="530280" y="329040"/>
            <a:ext cx="1097208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9. Class Diagram </a:t>
            </a:r>
            <a:r>
              <a:rPr lang="hi-IN" sz="18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และ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Java Implementation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 1"/>
          <p:cNvSpPr/>
          <p:nvPr/>
        </p:nvSpPr>
        <p:spPr>
          <a:xfrm>
            <a:off x="548640" y="841320"/>
            <a:ext cx="1097208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500" b="0" u="none" strike="noStrike">
                <a:solidFill>
                  <a:srgbClr val="6C7480"/>
                </a:solidFill>
                <a:effectLst/>
                <a:uFillTx/>
                <a:latin typeface="TH Sarabun New"/>
                <a:cs typeface="TH Sarabun New"/>
              </a:rPr>
              <a:t>โครงสร้างขั้นต่ำตามโจทย์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Shape 2"/>
          <p:cNvSpPr/>
          <p:nvPr/>
        </p:nvSpPr>
        <p:spPr>
          <a:xfrm>
            <a:off x="594360" y="1417320"/>
            <a:ext cx="2056680" cy="1873800"/>
          </a:xfrm>
          <a:prstGeom prst="roundRect">
            <a:avLst>
              <a:gd name="adj" fmla="val 3902"/>
            </a:avLst>
          </a:prstGeom>
          <a:solidFill>
            <a:srgbClr val="EAF0F8"/>
          </a:solidFill>
          <a:ln w="1397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283" name="Text 3"/>
          <p:cNvSpPr/>
          <p:nvPr/>
        </p:nvSpPr>
        <p:spPr>
          <a:xfrm>
            <a:off x="758880" y="1508760"/>
            <a:ext cx="17276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2C4670"/>
                </a:solidFill>
                <a:effectLst/>
                <a:uFillTx/>
                <a:latin typeface="TH Sarabun New"/>
                <a:ea typeface="TH Sarabun New"/>
              </a:rPr>
              <a:t>Main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 4"/>
          <p:cNvSpPr/>
          <p:nvPr/>
        </p:nvSpPr>
        <p:spPr>
          <a:xfrm>
            <a:off x="758880" y="1837800"/>
            <a:ext cx="1727640" cy="136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main()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menu()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5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เลือก </a:t>
            </a:r>
            <a:r>
              <a:rPr lang="en-US" sz="15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A / B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Shape 5"/>
          <p:cNvSpPr/>
          <p:nvPr/>
        </p:nvSpPr>
        <p:spPr>
          <a:xfrm>
            <a:off x="2880360" y="1417320"/>
            <a:ext cx="2056680" cy="1873800"/>
          </a:xfrm>
          <a:prstGeom prst="roundRect">
            <a:avLst>
              <a:gd name="adj" fmla="val 3902"/>
            </a:avLst>
          </a:prstGeom>
          <a:solidFill>
            <a:srgbClr val="EAF0F8"/>
          </a:solidFill>
          <a:ln w="1397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286" name="Text 6"/>
          <p:cNvSpPr/>
          <p:nvPr/>
        </p:nvSpPr>
        <p:spPr>
          <a:xfrm>
            <a:off x="3044880" y="1508760"/>
            <a:ext cx="17276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ExpressionResult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 7"/>
          <p:cNvSpPr/>
          <p:nvPr/>
        </p:nvSpPr>
        <p:spPr>
          <a:xfrm>
            <a:off x="3044880" y="1837800"/>
            <a:ext cx="1727640" cy="136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result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postfix / time / counter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Shape 8"/>
          <p:cNvSpPr/>
          <p:nvPr/>
        </p:nvSpPr>
        <p:spPr>
          <a:xfrm>
            <a:off x="5166360" y="1417320"/>
            <a:ext cx="2056680" cy="1873800"/>
          </a:xfrm>
          <a:prstGeom prst="roundRect">
            <a:avLst>
              <a:gd name="adj" fmla="val 3902"/>
            </a:avLst>
          </a:prstGeom>
          <a:solidFill>
            <a:srgbClr val="E6F5F0"/>
          </a:solidFill>
          <a:ln w="1397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289" name="Text 9"/>
          <p:cNvSpPr/>
          <p:nvPr/>
        </p:nvSpPr>
        <p:spPr>
          <a:xfrm>
            <a:off x="5330880" y="1508760"/>
            <a:ext cx="17276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AlgorithmA / AlgorithmB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Text 10"/>
          <p:cNvSpPr/>
          <p:nvPr/>
        </p:nvSpPr>
        <p:spPr>
          <a:xfrm>
            <a:off x="5330880" y="1837800"/>
            <a:ext cx="1727640" cy="136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evaluate()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(</a:t>
            </a:r>
            <a:r>
              <a:rPr lang="hi-IN" sz="18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ตามวิธีของแต่ละ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Algorithm)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Shape 11"/>
          <p:cNvSpPr/>
          <p:nvPr/>
        </p:nvSpPr>
        <p:spPr>
          <a:xfrm>
            <a:off x="7452360" y="1417320"/>
            <a:ext cx="2056680" cy="1873800"/>
          </a:xfrm>
          <a:prstGeom prst="roundRect">
            <a:avLst>
              <a:gd name="adj" fmla="val 3902"/>
            </a:avLst>
          </a:prstGeom>
          <a:solidFill>
            <a:srgbClr val="EAF0F8"/>
          </a:solidFill>
          <a:ln w="1397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292" name="Text 12"/>
          <p:cNvSpPr/>
          <p:nvPr/>
        </p:nvSpPr>
        <p:spPr>
          <a:xfrm>
            <a:off x="7616880" y="1508760"/>
            <a:ext cx="17276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2C4670"/>
                </a:solidFill>
                <a:effectLst/>
                <a:uFillTx/>
                <a:latin typeface="TH Sarabun New"/>
                <a:ea typeface="TH Sarabun New"/>
              </a:rPr>
              <a:t>OperationCounter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 13"/>
          <p:cNvSpPr/>
          <p:nvPr/>
        </p:nvSpPr>
        <p:spPr>
          <a:xfrm>
            <a:off x="7616880" y="1837800"/>
            <a:ext cx="1727640" cy="136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push / pop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comparisons / loops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Shape 14"/>
          <p:cNvSpPr/>
          <p:nvPr/>
        </p:nvSpPr>
        <p:spPr>
          <a:xfrm>
            <a:off x="9738360" y="1417320"/>
            <a:ext cx="2056680" cy="1873800"/>
          </a:xfrm>
          <a:prstGeom prst="roundRect">
            <a:avLst>
              <a:gd name="adj" fmla="val 3902"/>
            </a:avLst>
          </a:prstGeom>
          <a:solidFill>
            <a:srgbClr val="FFF1DE"/>
          </a:solidFill>
          <a:ln w="1397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295" name="Text 15"/>
          <p:cNvSpPr/>
          <p:nvPr/>
        </p:nvSpPr>
        <p:spPr>
          <a:xfrm>
            <a:off x="9902880" y="1508760"/>
            <a:ext cx="17276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BenchmarkExperiment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 16"/>
          <p:cNvSpPr/>
          <p:nvPr/>
        </p:nvSpPr>
        <p:spPr>
          <a:xfrm>
            <a:off x="9902880" y="1837800"/>
            <a:ext cx="1727640" cy="136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nanoTime()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run 5 rounds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average()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Shape 17"/>
          <p:cNvSpPr/>
          <p:nvPr/>
        </p:nvSpPr>
        <p:spPr>
          <a:xfrm>
            <a:off x="2651760" y="2359080"/>
            <a:ext cx="228600" cy="360"/>
          </a:xfrm>
          <a:prstGeom prst="line">
            <a:avLst/>
          </a:prstGeom>
          <a:ln w="25400">
            <a:solidFill>
              <a:srgbClr val="2C467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298" name="Shape 18"/>
          <p:cNvSpPr/>
          <p:nvPr/>
        </p:nvSpPr>
        <p:spPr>
          <a:xfrm>
            <a:off x="4937760" y="2359080"/>
            <a:ext cx="228600" cy="360"/>
          </a:xfrm>
          <a:prstGeom prst="line">
            <a:avLst/>
          </a:prstGeom>
          <a:ln w="25400">
            <a:solidFill>
              <a:srgbClr val="2C467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299" name="Shape 19"/>
          <p:cNvSpPr/>
          <p:nvPr/>
        </p:nvSpPr>
        <p:spPr>
          <a:xfrm>
            <a:off x="7223760" y="2359080"/>
            <a:ext cx="228600" cy="360"/>
          </a:xfrm>
          <a:prstGeom prst="line">
            <a:avLst/>
          </a:prstGeom>
          <a:ln w="25400">
            <a:solidFill>
              <a:srgbClr val="2C467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00" name="Shape 20"/>
          <p:cNvSpPr/>
          <p:nvPr/>
        </p:nvSpPr>
        <p:spPr>
          <a:xfrm>
            <a:off x="9509760" y="2359080"/>
            <a:ext cx="228600" cy="360"/>
          </a:xfrm>
          <a:prstGeom prst="line">
            <a:avLst/>
          </a:prstGeom>
          <a:ln w="25400">
            <a:solidFill>
              <a:srgbClr val="2C467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01" name="Shape 21"/>
          <p:cNvSpPr/>
          <p:nvPr/>
        </p:nvSpPr>
        <p:spPr>
          <a:xfrm>
            <a:off x="594360" y="3886200"/>
            <a:ext cx="5321160" cy="1352520"/>
          </a:xfrm>
          <a:prstGeom prst="roundRect">
            <a:avLst>
              <a:gd name="adj" fmla="val 5405"/>
            </a:avLst>
          </a:prstGeom>
          <a:solidFill>
            <a:srgbClr val="F8FAFC"/>
          </a:solidFill>
          <a:ln w="1397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02" name="Text 22"/>
          <p:cNvSpPr/>
          <p:nvPr/>
        </p:nvSpPr>
        <p:spPr>
          <a:xfrm>
            <a:off x="758880" y="3977640"/>
            <a:ext cx="49917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2C4670"/>
                </a:solidFill>
                <a:effectLst/>
                <a:uFillTx/>
                <a:latin typeface="TH Sarabun New"/>
                <a:ea typeface="TH Sarabun New"/>
              </a:rPr>
              <a:t>Java requirements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Text 23"/>
          <p:cNvSpPr/>
          <p:nvPr/>
        </p:nvSpPr>
        <p:spPr>
          <a:xfrm>
            <a:off x="758880" y="4306680"/>
            <a:ext cx="4991760" cy="84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Main Class • AlgorithmA / AlgorithmB • ExpressionResult • OperationCounter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Tokenizer (tokenize / validateTokens) • Menu • Empty Stack Check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Shape 24"/>
          <p:cNvSpPr/>
          <p:nvPr/>
        </p:nvSpPr>
        <p:spPr>
          <a:xfrm>
            <a:off x="6144840" y="3886200"/>
            <a:ext cx="5439960" cy="1352520"/>
          </a:xfrm>
          <a:prstGeom prst="roundRect">
            <a:avLst>
              <a:gd name="adj" fmla="val 5405"/>
            </a:avLst>
          </a:prstGeom>
          <a:solidFill>
            <a:srgbClr val="F8FAFC"/>
          </a:solidFill>
          <a:ln w="1397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05" name="Text 25"/>
          <p:cNvSpPr/>
          <p:nvPr/>
        </p:nvSpPr>
        <p:spPr>
          <a:xfrm>
            <a:off x="6309360" y="3977640"/>
            <a:ext cx="51109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800" b="1" u="none" strike="noStrike">
                <a:solidFill>
                  <a:srgbClr val="2C4670"/>
                </a:solidFill>
                <a:effectLst/>
                <a:uFillTx/>
                <a:latin typeface="TH Sarabun New"/>
                <a:cs typeface="TH Sarabun New"/>
              </a:rPr>
              <a:t>ต้องมีในการ </a:t>
            </a:r>
            <a:r>
              <a:rPr lang="en-US" sz="1800" b="1" u="none" strike="noStrike">
                <a:solidFill>
                  <a:srgbClr val="2C4670"/>
                </a:solidFill>
                <a:effectLst/>
                <a:uFillTx/>
                <a:latin typeface="TH Sarabun New"/>
                <a:ea typeface="TH Sarabun New"/>
              </a:rPr>
              <a:t>Demo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 26"/>
          <p:cNvSpPr/>
          <p:nvPr/>
        </p:nvSpPr>
        <p:spPr>
          <a:xfrm>
            <a:off x="6309360" y="4306680"/>
            <a:ext cx="5110920" cy="84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แสดง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Stack State •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เลือก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A/B •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นับ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Operation •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วัดเวลา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ใช้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Deque&lt;T&gt; stack = new ArrayDeque&lt;&gt;();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ในการทำงานแบบ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Stack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PlaceHolder 1"/>
          <p:cNvSpPr>
            <a:spLocks noGrp="1"/>
          </p:cNvSpPr>
          <p:nvPr>
            <p:ph type="sldNum" idx="13"/>
          </p:nvPr>
        </p:nvSpPr>
        <p:spPr>
          <a:xfrm>
            <a:off x="11475720" y="6510600"/>
            <a:ext cx="799200" cy="299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667085"/>
                </a:solidFill>
                <a:effectLst/>
                <a:uFillTx/>
                <a:latin typeface="TH Sarabun New"/>
                <a:ea typeface="TH Sarabun New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2555E800-E44A-4D8E-BD1F-3C9C6D68D168}" type="slidenum">
              <a:rPr lang="en-US" sz="1200" b="0" u="none" strike="noStrike">
                <a:solidFill>
                  <a:srgbClr val="667085"/>
                </a:solidFill>
                <a:effectLst/>
                <a:uFillTx/>
                <a:latin typeface="TH Sarabun New"/>
                <a:ea typeface="TH Sarabun New"/>
              </a:rPr>
              <a:t>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Text 0"/>
          <p:cNvSpPr/>
          <p:nvPr/>
        </p:nvSpPr>
        <p:spPr>
          <a:xfrm>
            <a:off x="530280" y="329040"/>
            <a:ext cx="1097208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10. Test Cases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Text 1"/>
          <p:cNvSpPr/>
          <p:nvPr/>
        </p:nvSpPr>
        <p:spPr>
          <a:xfrm>
            <a:off x="548640" y="841320"/>
            <a:ext cx="1097208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500" b="0" u="none" strike="noStrike">
                <a:solidFill>
                  <a:srgbClr val="6C7480"/>
                </a:solidFill>
                <a:effectLst/>
                <a:uFillTx/>
                <a:latin typeface="TH Sarabun New"/>
                <a:cs typeface="TH Sarabun New"/>
              </a:rPr>
              <a:t>ต้องครอบคลุมทั้งกรณีถูกต้องและ </a:t>
            </a:r>
            <a:r>
              <a:rPr lang="en-US" sz="1500" b="0" u="none" strike="noStrike">
                <a:solidFill>
                  <a:srgbClr val="6C7480"/>
                </a:solidFill>
                <a:effectLst/>
                <a:uFillTx/>
                <a:latin typeface="TH Sarabun New"/>
                <a:ea typeface="TH Sarabun New"/>
              </a:rPr>
              <a:t>Error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Shape 2"/>
          <p:cNvSpPr/>
          <p:nvPr/>
        </p:nvSpPr>
        <p:spPr>
          <a:xfrm>
            <a:off x="438840" y="1188720"/>
            <a:ext cx="502200" cy="419760"/>
          </a:xfrm>
          <a:prstGeom prst="rect">
            <a:avLst/>
          </a:prstGeom>
          <a:solidFill>
            <a:srgbClr val="EAF0F8"/>
          </a:solidFill>
          <a:ln w="1270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11" name="Text 3"/>
          <p:cNvSpPr/>
          <p:nvPr/>
        </p:nvSpPr>
        <p:spPr>
          <a:xfrm>
            <a:off x="511920" y="1207080"/>
            <a:ext cx="35604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1" u="none" strike="noStrike">
                <a:solidFill>
                  <a:srgbClr val="2C4670"/>
                </a:solidFill>
                <a:effectLst/>
                <a:uFillTx/>
                <a:latin typeface="TH Sarabun New"/>
                <a:ea typeface="TH Sarabun New"/>
              </a:rPr>
              <a:t>#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Shape 4"/>
          <p:cNvSpPr/>
          <p:nvPr/>
        </p:nvSpPr>
        <p:spPr>
          <a:xfrm>
            <a:off x="941760" y="1188720"/>
            <a:ext cx="2925360" cy="419760"/>
          </a:xfrm>
          <a:prstGeom prst="rect">
            <a:avLst/>
          </a:prstGeom>
          <a:solidFill>
            <a:srgbClr val="EAF0F8"/>
          </a:solidFill>
          <a:ln w="1270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13" name="Text 5"/>
          <p:cNvSpPr/>
          <p:nvPr/>
        </p:nvSpPr>
        <p:spPr>
          <a:xfrm>
            <a:off x="1014840" y="1207080"/>
            <a:ext cx="27792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1" u="none" strike="noStrike">
                <a:solidFill>
                  <a:srgbClr val="2C4670"/>
                </a:solidFill>
                <a:effectLst/>
                <a:uFillTx/>
                <a:latin typeface="TH Sarabun New"/>
                <a:ea typeface="TH Sarabun New"/>
              </a:rPr>
              <a:t>Input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Shape 6"/>
          <p:cNvSpPr/>
          <p:nvPr/>
        </p:nvSpPr>
        <p:spPr>
          <a:xfrm>
            <a:off x="3867840" y="1188720"/>
            <a:ext cx="1919520" cy="419760"/>
          </a:xfrm>
          <a:prstGeom prst="rect">
            <a:avLst/>
          </a:prstGeom>
          <a:solidFill>
            <a:srgbClr val="EAF0F8"/>
          </a:solidFill>
          <a:ln w="1270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15" name="Text 7"/>
          <p:cNvSpPr/>
          <p:nvPr/>
        </p:nvSpPr>
        <p:spPr>
          <a:xfrm>
            <a:off x="3940920" y="1207080"/>
            <a:ext cx="177336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130" b="1" u="none" strike="noStrike">
                <a:solidFill>
                  <a:srgbClr val="2C4670"/>
                </a:solidFill>
                <a:effectLst/>
                <a:uFillTx/>
                <a:latin typeface="TH Sarabun New"/>
                <a:cs typeface="TH Sarabun New"/>
              </a:rPr>
              <a:t>ประเภท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Shape 8"/>
          <p:cNvSpPr/>
          <p:nvPr/>
        </p:nvSpPr>
        <p:spPr>
          <a:xfrm>
            <a:off x="5788080" y="1188720"/>
            <a:ext cx="4525560" cy="419760"/>
          </a:xfrm>
          <a:prstGeom prst="rect">
            <a:avLst/>
          </a:prstGeom>
          <a:solidFill>
            <a:srgbClr val="EAF0F8"/>
          </a:solidFill>
          <a:ln w="1270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17" name="Text 9"/>
          <p:cNvSpPr/>
          <p:nvPr/>
        </p:nvSpPr>
        <p:spPr>
          <a:xfrm>
            <a:off x="5861160" y="1207080"/>
            <a:ext cx="43794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130" b="1" u="none" strike="noStrike">
                <a:solidFill>
                  <a:srgbClr val="2C4670"/>
                </a:solidFill>
                <a:effectLst/>
                <a:uFillTx/>
                <a:latin typeface="TH Sarabun New"/>
                <a:cs typeface="TH Sarabun New"/>
              </a:rPr>
              <a:t>เหตุผล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Shape 10"/>
          <p:cNvSpPr/>
          <p:nvPr/>
        </p:nvSpPr>
        <p:spPr>
          <a:xfrm>
            <a:off x="10314360" y="1188720"/>
            <a:ext cx="1828080" cy="419760"/>
          </a:xfrm>
          <a:prstGeom prst="rect">
            <a:avLst/>
          </a:prstGeom>
          <a:solidFill>
            <a:srgbClr val="EAF0F8"/>
          </a:solidFill>
          <a:ln w="1270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19" name="Text 11"/>
          <p:cNvSpPr/>
          <p:nvPr/>
        </p:nvSpPr>
        <p:spPr>
          <a:xfrm>
            <a:off x="10387440" y="1207080"/>
            <a:ext cx="168192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1" u="none" strike="noStrike">
                <a:solidFill>
                  <a:srgbClr val="2C4670"/>
                </a:solidFill>
                <a:effectLst/>
                <a:uFillTx/>
                <a:latin typeface="TH Sarabun New"/>
                <a:ea typeface="TH Sarabun New"/>
              </a:rPr>
              <a:t>Expected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Shape 12"/>
          <p:cNvSpPr/>
          <p:nvPr/>
        </p:nvSpPr>
        <p:spPr>
          <a:xfrm>
            <a:off x="438840" y="1609200"/>
            <a:ext cx="502200" cy="410760"/>
          </a:xfrm>
          <a:prstGeom prst="rect">
            <a:avLst/>
          </a:prstGeom>
          <a:solidFill>
            <a:srgbClr val="FFFFFF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21" name="Text 13"/>
          <p:cNvSpPr/>
          <p:nvPr/>
        </p:nvSpPr>
        <p:spPr>
          <a:xfrm>
            <a:off x="502920" y="1627560"/>
            <a:ext cx="374040" cy="37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1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Shape 14"/>
          <p:cNvSpPr/>
          <p:nvPr/>
        </p:nvSpPr>
        <p:spPr>
          <a:xfrm>
            <a:off x="941760" y="1609200"/>
            <a:ext cx="2925360" cy="410760"/>
          </a:xfrm>
          <a:prstGeom prst="rect">
            <a:avLst/>
          </a:prstGeom>
          <a:solidFill>
            <a:srgbClr val="FFFFFF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23" name="Text 15"/>
          <p:cNvSpPr/>
          <p:nvPr/>
        </p:nvSpPr>
        <p:spPr>
          <a:xfrm>
            <a:off x="1005840" y="1627560"/>
            <a:ext cx="2797200" cy="37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3 + 4 * 2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Shape 16"/>
          <p:cNvSpPr/>
          <p:nvPr/>
        </p:nvSpPr>
        <p:spPr>
          <a:xfrm>
            <a:off x="3867840" y="1609200"/>
            <a:ext cx="1919520" cy="410760"/>
          </a:xfrm>
          <a:prstGeom prst="rect">
            <a:avLst/>
          </a:prstGeom>
          <a:solidFill>
            <a:srgbClr val="FFFFFF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25" name="Text 17"/>
          <p:cNvSpPr/>
          <p:nvPr/>
        </p:nvSpPr>
        <p:spPr>
          <a:xfrm>
            <a:off x="3931920" y="1627560"/>
            <a:ext cx="1791360" cy="37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Normal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Shape 18"/>
          <p:cNvSpPr/>
          <p:nvPr/>
        </p:nvSpPr>
        <p:spPr>
          <a:xfrm>
            <a:off x="5788080" y="1609200"/>
            <a:ext cx="4525560" cy="410760"/>
          </a:xfrm>
          <a:prstGeom prst="rect">
            <a:avLst/>
          </a:prstGeom>
          <a:solidFill>
            <a:srgbClr val="FFFFFF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27" name="Text 19"/>
          <p:cNvSpPr/>
          <p:nvPr/>
        </p:nvSpPr>
        <p:spPr>
          <a:xfrm>
            <a:off x="5852160" y="1627560"/>
            <a:ext cx="4397400" cy="37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* </a:t>
            </a:r>
            <a:r>
              <a:rPr lang="hi-IN" sz="113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ก่อน </a:t>
            </a:r>
            <a:r>
              <a:rPr lang="en-US" sz="113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+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Shape 20"/>
          <p:cNvSpPr/>
          <p:nvPr/>
        </p:nvSpPr>
        <p:spPr>
          <a:xfrm>
            <a:off x="10314360" y="1609200"/>
            <a:ext cx="1828080" cy="410760"/>
          </a:xfrm>
          <a:prstGeom prst="rect">
            <a:avLst/>
          </a:prstGeom>
          <a:solidFill>
            <a:srgbClr val="FFFFFF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29" name="Text 21"/>
          <p:cNvSpPr/>
          <p:nvPr/>
        </p:nvSpPr>
        <p:spPr>
          <a:xfrm>
            <a:off x="10378440" y="1627560"/>
            <a:ext cx="1699920" cy="37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11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Shape 22"/>
          <p:cNvSpPr/>
          <p:nvPr/>
        </p:nvSpPr>
        <p:spPr>
          <a:xfrm>
            <a:off x="438840" y="2020680"/>
            <a:ext cx="502200" cy="410760"/>
          </a:xfrm>
          <a:prstGeom prst="rect">
            <a:avLst/>
          </a:prstGeom>
          <a:solidFill>
            <a:srgbClr val="F9FBFD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31" name="Text 23"/>
          <p:cNvSpPr/>
          <p:nvPr/>
        </p:nvSpPr>
        <p:spPr>
          <a:xfrm>
            <a:off x="502920" y="2039040"/>
            <a:ext cx="374040" cy="37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2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Shape 24"/>
          <p:cNvSpPr/>
          <p:nvPr/>
        </p:nvSpPr>
        <p:spPr>
          <a:xfrm>
            <a:off x="941760" y="2020680"/>
            <a:ext cx="2925360" cy="410760"/>
          </a:xfrm>
          <a:prstGeom prst="rect">
            <a:avLst/>
          </a:prstGeom>
          <a:solidFill>
            <a:srgbClr val="F9FBFD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33" name="Text 25"/>
          <p:cNvSpPr/>
          <p:nvPr/>
        </p:nvSpPr>
        <p:spPr>
          <a:xfrm>
            <a:off x="1005840" y="2039040"/>
            <a:ext cx="2797200" cy="37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(3 + 4) * 2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Shape 26"/>
          <p:cNvSpPr/>
          <p:nvPr/>
        </p:nvSpPr>
        <p:spPr>
          <a:xfrm>
            <a:off x="3867840" y="2020680"/>
            <a:ext cx="1919520" cy="410760"/>
          </a:xfrm>
          <a:prstGeom prst="rect">
            <a:avLst/>
          </a:prstGeom>
          <a:solidFill>
            <a:srgbClr val="F9FBFD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35" name="Text 27"/>
          <p:cNvSpPr/>
          <p:nvPr/>
        </p:nvSpPr>
        <p:spPr>
          <a:xfrm>
            <a:off x="3931920" y="2039040"/>
            <a:ext cx="1791360" cy="37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Normal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Shape 28"/>
          <p:cNvSpPr/>
          <p:nvPr/>
        </p:nvSpPr>
        <p:spPr>
          <a:xfrm>
            <a:off x="5788080" y="2020680"/>
            <a:ext cx="4525560" cy="410760"/>
          </a:xfrm>
          <a:prstGeom prst="rect">
            <a:avLst/>
          </a:prstGeom>
          <a:solidFill>
            <a:srgbClr val="F9FBFD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37" name="Text 29"/>
          <p:cNvSpPr/>
          <p:nvPr/>
        </p:nvSpPr>
        <p:spPr>
          <a:xfrm>
            <a:off x="5852160" y="2039040"/>
            <a:ext cx="4397400" cy="37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13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วงเล็บเปลี่ยนลำดับ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Shape 30"/>
          <p:cNvSpPr/>
          <p:nvPr/>
        </p:nvSpPr>
        <p:spPr>
          <a:xfrm>
            <a:off x="10314360" y="2020680"/>
            <a:ext cx="1828080" cy="410760"/>
          </a:xfrm>
          <a:prstGeom prst="rect">
            <a:avLst/>
          </a:prstGeom>
          <a:solidFill>
            <a:srgbClr val="F9FBFD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39" name="Text 31"/>
          <p:cNvSpPr/>
          <p:nvPr/>
        </p:nvSpPr>
        <p:spPr>
          <a:xfrm>
            <a:off x="10378440" y="2039040"/>
            <a:ext cx="1699920" cy="37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14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Shape 32"/>
          <p:cNvSpPr/>
          <p:nvPr/>
        </p:nvSpPr>
        <p:spPr>
          <a:xfrm>
            <a:off x="438840" y="2432160"/>
            <a:ext cx="502200" cy="410760"/>
          </a:xfrm>
          <a:prstGeom prst="rect">
            <a:avLst/>
          </a:prstGeom>
          <a:solidFill>
            <a:srgbClr val="FFFFFF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41" name="Text 33"/>
          <p:cNvSpPr/>
          <p:nvPr/>
        </p:nvSpPr>
        <p:spPr>
          <a:xfrm>
            <a:off x="502920" y="2450520"/>
            <a:ext cx="374040" cy="37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3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Shape 34"/>
          <p:cNvSpPr/>
          <p:nvPr/>
        </p:nvSpPr>
        <p:spPr>
          <a:xfrm>
            <a:off x="941760" y="2432160"/>
            <a:ext cx="2925360" cy="410760"/>
          </a:xfrm>
          <a:prstGeom prst="rect">
            <a:avLst/>
          </a:prstGeom>
          <a:solidFill>
            <a:srgbClr val="FFFFFF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43" name="Text 35"/>
          <p:cNvSpPr/>
          <p:nvPr/>
        </p:nvSpPr>
        <p:spPr>
          <a:xfrm>
            <a:off x="1005840" y="2450520"/>
            <a:ext cx="2797200" cy="37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((8 + 2) * 5)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Shape 36"/>
          <p:cNvSpPr/>
          <p:nvPr/>
        </p:nvSpPr>
        <p:spPr>
          <a:xfrm>
            <a:off x="3867840" y="2432160"/>
            <a:ext cx="1919520" cy="410760"/>
          </a:xfrm>
          <a:prstGeom prst="rect">
            <a:avLst/>
          </a:prstGeom>
          <a:solidFill>
            <a:srgbClr val="FFFFFF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45" name="Text 37"/>
          <p:cNvSpPr/>
          <p:nvPr/>
        </p:nvSpPr>
        <p:spPr>
          <a:xfrm>
            <a:off x="3931920" y="2450520"/>
            <a:ext cx="1791360" cy="37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Normal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Shape 38"/>
          <p:cNvSpPr/>
          <p:nvPr/>
        </p:nvSpPr>
        <p:spPr>
          <a:xfrm>
            <a:off x="5788080" y="2432160"/>
            <a:ext cx="4525560" cy="410760"/>
          </a:xfrm>
          <a:prstGeom prst="rect">
            <a:avLst/>
          </a:prstGeom>
          <a:solidFill>
            <a:srgbClr val="FFFFFF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47" name="Text 39"/>
          <p:cNvSpPr/>
          <p:nvPr/>
        </p:nvSpPr>
        <p:spPr>
          <a:xfrm>
            <a:off x="5852160" y="2450520"/>
            <a:ext cx="4397400" cy="37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13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วงเล็บซ้อน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Shape 40"/>
          <p:cNvSpPr/>
          <p:nvPr/>
        </p:nvSpPr>
        <p:spPr>
          <a:xfrm>
            <a:off x="10314360" y="2432160"/>
            <a:ext cx="1828080" cy="410760"/>
          </a:xfrm>
          <a:prstGeom prst="rect">
            <a:avLst/>
          </a:prstGeom>
          <a:solidFill>
            <a:srgbClr val="FFFFFF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49" name="Text 41"/>
          <p:cNvSpPr/>
          <p:nvPr/>
        </p:nvSpPr>
        <p:spPr>
          <a:xfrm>
            <a:off x="10378440" y="2450520"/>
            <a:ext cx="1699920" cy="37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50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Shape 42"/>
          <p:cNvSpPr/>
          <p:nvPr/>
        </p:nvSpPr>
        <p:spPr>
          <a:xfrm>
            <a:off x="438840" y="2843640"/>
            <a:ext cx="502200" cy="410760"/>
          </a:xfrm>
          <a:prstGeom prst="rect">
            <a:avLst/>
          </a:prstGeom>
          <a:solidFill>
            <a:srgbClr val="F9FBFD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51" name="Text 43"/>
          <p:cNvSpPr/>
          <p:nvPr/>
        </p:nvSpPr>
        <p:spPr>
          <a:xfrm>
            <a:off x="502920" y="2862000"/>
            <a:ext cx="374040" cy="37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4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Shape 44"/>
          <p:cNvSpPr/>
          <p:nvPr/>
        </p:nvSpPr>
        <p:spPr>
          <a:xfrm>
            <a:off x="941760" y="2843640"/>
            <a:ext cx="2925360" cy="410760"/>
          </a:xfrm>
          <a:prstGeom prst="rect">
            <a:avLst/>
          </a:prstGeom>
          <a:solidFill>
            <a:srgbClr val="F9FBFD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53" name="Text 45"/>
          <p:cNvSpPr/>
          <p:nvPr/>
        </p:nvSpPr>
        <p:spPr>
          <a:xfrm>
            <a:off x="1005840" y="2862000"/>
            <a:ext cx="2797200" cy="37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(3 + 4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Shape 46"/>
          <p:cNvSpPr/>
          <p:nvPr/>
        </p:nvSpPr>
        <p:spPr>
          <a:xfrm>
            <a:off x="3867840" y="2843640"/>
            <a:ext cx="1919520" cy="410760"/>
          </a:xfrm>
          <a:prstGeom prst="rect">
            <a:avLst/>
          </a:prstGeom>
          <a:solidFill>
            <a:srgbClr val="F9FBFD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55" name="Text 47"/>
          <p:cNvSpPr/>
          <p:nvPr/>
        </p:nvSpPr>
        <p:spPr>
          <a:xfrm>
            <a:off x="3931920" y="2862000"/>
            <a:ext cx="1791360" cy="37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Error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Shape 48"/>
          <p:cNvSpPr/>
          <p:nvPr/>
        </p:nvSpPr>
        <p:spPr>
          <a:xfrm>
            <a:off x="5788080" y="2843640"/>
            <a:ext cx="4525560" cy="410760"/>
          </a:xfrm>
          <a:prstGeom prst="rect">
            <a:avLst/>
          </a:prstGeom>
          <a:solidFill>
            <a:srgbClr val="F9FBFD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57" name="Text 49"/>
          <p:cNvSpPr/>
          <p:nvPr/>
        </p:nvSpPr>
        <p:spPr>
          <a:xfrm>
            <a:off x="5852160" y="2862000"/>
            <a:ext cx="4397400" cy="37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13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ปิดวงเล็บไม่ครบ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Shape 50"/>
          <p:cNvSpPr/>
          <p:nvPr/>
        </p:nvSpPr>
        <p:spPr>
          <a:xfrm>
            <a:off x="10314360" y="2843640"/>
            <a:ext cx="1828080" cy="410760"/>
          </a:xfrm>
          <a:prstGeom prst="rect">
            <a:avLst/>
          </a:prstGeom>
          <a:solidFill>
            <a:srgbClr val="F9FBFD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59" name="Text 51"/>
          <p:cNvSpPr/>
          <p:nvPr/>
        </p:nvSpPr>
        <p:spPr>
          <a:xfrm>
            <a:off x="10378440" y="2862000"/>
            <a:ext cx="1699920" cy="37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Unbalanced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Shape 52"/>
          <p:cNvSpPr/>
          <p:nvPr/>
        </p:nvSpPr>
        <p:spPr>
          <a:xfrm>
            <a:off x="438840" y="3255120"/>
            <a:ext cx="502200" cy="410760"/>
          </a:xfrm>
          <a:prstGeom prst="rect">
            <a:avLst/>
          </a:prstGeom>
          <a:solidFill>
            <a:srgbClr val="FFFFFF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61" name="Text 53"/>
          <p:cNvSpPr/>
          <p:nvPr/>
        </p:nvSpPr>
        <p:spPr>
          <a:xfrm>
            <a:off x="502920" y="3273480"/>
            <a:ext cx="374040" cy="37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5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Shape 54"/>
          <p:cNvSpPr/>
          <p:nvPr/>
        </p:nvSpPr>
        <p:spPr>
          <a:xfrm>
            <a:off x="941760" y="3255120"/>
            <a:ext cx="2925360" cy="410760"/>
          </a:xfrm>
          <a:prstGeom prst="rect">
            <a:avLst/>
          </a:prstGeom>
          <a:solidFill>
            <a:srgbClr val="FFFFFF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63" name="Text 55"/>
          <p:cNvSpPr/>
          <p:nvPr/>
        </p:nvSpPr>
        <p:spPr>
          <a:xfrm>
            <a:off x="1005840" y="3273480"/>
            <a:ext cx="2797200" cy="37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3 + 4)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Shape 56"/>
          <p:cNvSpPr/>
          <p:nvPr/>
        </p:nvSpPr>
        <p:spPr>
          <a:xfrm>
            <a:off x="3867840" y="3255120"/>
            <a:ext cx="1919520" cy="410760"/>
          </a:xfrm>
          <a:prstGeom prst="rect">
            <a:avLst/>
          </a:prstGeom>
          <a:solidFill>
            <a:srgbClr val="FFFFFF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65" name="Text 57"/>
          <p:cNvSpPr/>
          <p:nvPr/>
        </p:nvSpPr>
        <p:spPr>
          <a:xfrm>
            <a:off x="3931920" y="3273480"/>
            <a:ext cx="1791360" cy="37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Error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Shape 58"/>
          <p:cNvSpPr/>
          <p:nvPr/>
        </p:nvSpPr>
        <p:spPr>
          <a:xfrm>
            <a:off x="5788080" y="3255120"/>
            <a:ext cx="4525560" cy="410760"/>
          </a:xfrm>
          <a:prstGeom prst="rect">
            <a:avLst/>
          </a:prstGeom>
          <a:solidFill>
            <a:srgbClr val="FFFFFF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67" name="Text 59"/>
          <p:cNvSpPr/>
          <p:nvPr/>
        </p:nvSpPr>
        <p:spPr>
          <a:xfrm>
            <a:off x="5852160" y="3273480"/>
            <a:ext cx="4397400" cy="37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13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มี </a:t>
            </a:r>
            <a:r>
              <a:rPr lang="en-US" sz="113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) </a:t>
            </a:r>
            <a:r>
              <a:rPr lang="hi-IN" sz="113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เกิน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Shape 60"/>
          <p:cNvSpPr/>
          <p:nvPr/>
        </p:nvSpPr>
        <p:spPr>
          <a:xfrm>
            <a:off x="10314360" y="3255120"/>
            <a:ext cx="1828080" cy="410760"/>
          </a:xfrm>
          <a:prstGeom prst="rect">
            <a:avLst/>
          </a:prstGeom>
          <a:solidFill>
            <a:srgbClr val="FFFFFF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69" name="Text 61"/>
          <p:cNvSpPr/>
          <p:nvPr/>
        </p:nvSpPr>
        <p:spPr>
          <a:xfrm>
            <a:off x="10378440" y="3273480"/>
            <a:ext cx="1699920" cy="37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Unbalanced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Shape 62"/>
          <p:cNvSpPr/>
          <p:nvPr/>
        </p:nvSpPr>
        <p:spPr>
          <a:xfrm>
            <a:off x="438840" y="3666600"/>
            <a:ext cx="502200" cy="410760"/>
          </a:xfrm>
          <a:prstGeom prst="rect">
            <a:avLst/>
          </a:prstGeom>
          <a:solidFill>
            <a:srgbClr val="F9FBFD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71" name="Text 63"/>
          <p:cNvSpPr/>
          <p:nvPr/>
        </p:nvSpPr>
        <p:spPr>
          <a:xfrm>
            <a:off x="502920" y="3684960"/>
            <a:ext cx="374040" cy="37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6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Shape 64"/>
          <p:cNvSpPr/>
          <p:nvPr/>
        </p:nvSpPr>
        <p:spPr>
          <a:xfrm>
            <a:off x="941760" y="3666600"/>
            <a:ext cx="2925360" cy="410760"/>
          </a:xfrm>
          <a:prstGeom prst="rect">
            <a:avLst/>
          </a:prstGeom>
          <a:solidFill>
            <a:srgbClr val="F9FBFD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73" name="Text 65"/>
          <p:cNvSpPr/>
          <p:nvPr/>
        </p:nvSpPr>
        <p:spPr>
          <a:xfrm>
            <a:off x="1005840" y="3684960"/>
            <a:ext cx="2797200" cy="37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3 + * 4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Shape 66"/>
          <p:cNvSpPr/>
          <p:nvPr/>
        </p:nvSpPr>
        <p:spPr>
          <a:xfrm>
            <a:off x="3867840" y="3666600"/>
            <a:ext cx="1919520" cy="410760"/>
          </a:xfrm>
          <a:prstGeom prst="rect">
            <a:avLst/>
          </a:prstGeom>
          <a:solidFill>
            <a:srgbClr val="F9FBFD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75" name="Text 67"/>
          <p:cNvSpPr/>
          <p:nvPr/>
        </p:nvSpPr>
        <p:spPr>
          <a:xfrm>
            <a:off x="3931920" y="3684960"/>
            <a:ext cx="1791360" cy="37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Error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Shape 68"/>
          <p:cNvSpPr/>
          <p:nvPr/>
        </p:nvSpPr>
        <p:spPr>
          <a:xfrm>
            <a:off x="5788080" y="3666600"/>
            <a:ext cx="4525560" cy="410760"/>
          </a:xfrm>
          <a:prstGeom prst="rect">
            <a:avLst/>
          </a:prstGeom>
          <a:solidFill>
            <a:srgbClr val="F9FBFD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77" name="Text 69"/>
          <p:cNvSpPr/>
          <p:nvPr/>
        </p:nvSpPr>
        <p:spPr>
          <a:xfrm>
            <a:off x="5852160" y="3684960"/>
            <a:ext cx="4397400" cy="37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Operator </a:t>
            </a:r>
            <a:r>
              <a:rPr lang="hi-IN" sz="113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ติดกัน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Shape 70"/>
          <p:cNvSpPr/>
          <p:nvPr/>
        </p:nvSpPr>
        <p:spPr>
          <a:xfrm>
            <a:off x="10314360" y="3666600"/>
            <a:ext cx="1828080" cy="410760"/>
          </a:xfrm>
          <a:prstGeom prst="rect">
            <a:avLst/>
          </a:prstGeom>
          <a:solidFill>
            <a:srgbClr val="F9FBFD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79" name="Text 71"/>
          <p:cNvSpPr/>
          <p:nvPr/>
        </p:nvSpPr>
        <p:spPr>
          <a:xfrm>
            <a:off x="10378440" y="3684960"/>
            <a:ext cx="1699920" cy="37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Invalid pattern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Shape 72"/>
          <p:cNvSpPr/>
          <p:nvPr/>
        </p:nvSpPr>
        <p:spPr>
          <a:xfrm>
            <a:off x="438840" y="4078080"/>
            <a:ext cx="502200" cy="410760"/>
          </a:xfrm>
          <a:prstGeom prst="rect">
            <a:avLst/>
          </a:prstGeom>
          <a:solidFill>
            <a:srgbClr val="FFFFFF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81" name="Text 73"/>
          <p:cNvSpPr/>
          <p:nvPr/>
        </p:nvSpPr>
        <p:spPr>
          <a:xfrm>
            <a:off x="502920" y="4096440"/>
            <a:ext cx="374040" cy="37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7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Shape 74"/>
          <p:cNvSpPr/>
          <p:nvPr/>
        </p:nvSpPr>
        <p:spPr>
          <a:xfrm>
            <a:off x="941760" y="4078080"/>
            <a:ext cx="2925360" cy="410760"/>
          </a:xfrm>
          <a:prstGeom prst="rect">
            <a:avLst/>
          </a:prstGeom>
          <a:solidFill>
            <a:srgbClr val="FFFFFF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83" name="Text 75"/>
          <p:cNvSpPr/>
          <p:nvPr/>
        </p:nvSpPr>
        <p:spPr>
          <a:xfrm>
            <a:off x="1005840" y="4096440"/>
            <a:ext cx="2797200" cy="37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10 / (5 - 5)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Shape 76"/>
          <p:cNvSpPr/>
          <p:nvPr/>
        </p:nvSpPr>
        <p:spPr>
          <a:xfrm>
            <a:off x="3867840" y="4078080"/>
            <a:ext cx="1919520" cy="410760"/>
          </a:xfrm>
          <a:prstGeom prst="rect">
            <a:avLst/>
          </a:prstGeom>
          <a:solidFill>
            <a:srgbClr val="FFFFFF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85" name="Text 77"/>
          <p:cNvSpPr/>
          <p:nvPr/>
        </p:nvSpPr>
        <p:spPr>
          <a:xfrm>
            <a:off x="3931920" y="4096440"/>
            <a:ext cx="1791360" cy="37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Error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Shape 78"/>
          <p:cNvSpPr/>
          <p:nvPr/>
        </p:nvSpPr>
        <p:spPr>
          <a:xfrm>
            <a:off x="5788080" y="4078080"/>
            <a:ext cx="4525560" cy="410760"/>
          </a:xfrm>
          <a:prstGeom prst="rect">
            <a:avLst/>
          </a:prstGeom>
          <a:solidFill>
            <a:srgbClr val="FFFFFF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87" name="Text 79"/>
          <p:cNvSpPr/>
          <p:nvPr/>
        </p:nvSpPr>
        <p:spPr>
          <a:xfrm>
            <a:off x="5852160" y="4096440"/>
            <a:ext cx="4397400" cy="37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13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ตัวหาร </a:t>
            </a:r>
            <a:r>
              <a:rPr lang="en-US" sz="113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= 0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Shape 80"/>
          <p:cNvSpPr/>
          <p:nvPr/>
        </p:nvSpPr>
        <p:spPr>
          <a:xfrm>
            <a:off x="10314360" y="4078080"/>
            <a:ext cx="1828080" cy="410760"/>
          </a:xfrm>
          <a:prstGeom prst="rect">
            <a:avLst/>
          </a:prstGeom>
          <a:solidFill>
            <a:srgbClr val="FFFFFF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89" name="Text 81"/>
          <p:cNvSpPr/>
          <p:nvPr/>
        </p:nvSpPr>
        <p:spPr>
          <a:xfrm>
            <a:off x="10378440" y="4096440"/>
            <a:ext cx="1699920" cy="37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Division by zero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Shape 82"/>
          <p:cNvSpPr/>
          <p:nvPr/>
        </p:nvSpPr>
        <p:spPr>
          <a:xfrm>
            <a:off x="438840" y="4489560"/>
            <a:ext cx="502200" cy="410760"/>
          </a:xfrm>
          <a:prstGeom prst="rect">
            <a:avLst/>
          </a:prstGeom>
          <a:solidFill>
            <a:srgbClr val="F9FBFD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91" name="Text 83"/>
          <p:cNvSpPr/>
          <p:nvPr/>
        </p:nvSpPr>
        <p:spPr>
          <a:xfrm>
            <a:off x="502920" y="4507920"/>
            <a:ext cx="374040" cy="37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8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Shape 84"/>
          <p:cNvSpPr/>
          <p:nvPr/>
        </p:nvSpPr>
        <p:spPr>
          <a:xfrm>
            <a:off x="941760" y="4489560"/>
            <a:ext cx="2925360" cy="410760"/>
          </a:xfrm>
          <a:prstGeom prst="rect">
            <a:avLst/>
          </a:prstGeom>
          <a:solidFill>
            <a:srgbClr val="F9FBFD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93" name="Text 85"/>
          <p:cNvSpPr/>
          <p:nvPr/>
        </p:nvSpPr>
        <p:spPr>
          <a:xfrm>
            <a:off x="1005840" y="4507920"/>
            <a:ext cx="2797200" cy="37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(empty)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Shape 86"/>
          <p:cNvSpPr/>
          <p:nvPr/>
        </p:nvSpPr>
        <p:spPr>
          <a:xfrm>
            <a:off x="3867840" y="4489560"/>
            <a:ext cx="1919520" cy="410760"/>
          </a:xfrm>
          <a:prstGeom prst="rect">
            <a:avLst/>
          </a:prstGeom>
          <a:solidFill>
            <a:srgbClr val="F9FBFD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95" name="Text 87"/>
          <p:cNvSpPr/>
          <p:nvPr/>
        </p:nvSpPr>
        <p:spPr>
          <a:xfrm>
            <a:off x="3931920" y="4507920"/>
            <a:ext cx="1791360" cy="37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Error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Shape 88"/>
          <p:cNvSpPr/>
          <p:nvPr/>
        </p:nvSpPr>
        <p:spPr>
          <a:xfrm>
            <a:off x="5788080" y="4489560"/>
            <a:ext cx="4525560" cy="410760"/>
          </a:xfrm>
          <a:prstGeom prst="rect">
            <a:avLst/>
          </a:prstGeom>
          <a:solidFill>
            <a:srgbClr val="F9FBFD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97" name="Text 89"/>
          <p:cNvSpPr/>
          <p:nvPr/>
        </p:nvSpPr>
        <p:spPr>
          <a:xfrm>
            <a:off x="5852160" y="4507920"/>
            <a:ext cx="4397400" cy="37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13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ไม่มี </a:t>
            </a:r>
            <a:r>
              <a:rPr lang="en-US" sz="113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Token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Shape 90"/>
          <p:cNvSpPr/>
          <p:nvPr/>
        </p:nvSpPr>
        <p:spPr>
          <a:xfrm>
            <a:off x="10314360" y="4489560"/>
            <a:ext cx="1828080" cy="410760"/>
          </a:xfrm>
          <a:prstGeom prst="rect">
            <a:avLst/>
          </a:prstGeom>
          <a:solidFill>
            <a:srgbClr val="F9FBFD"/>
          </a:solidFill>
          <a:ln w="1016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399" name="Text 91"/>
          <p:cNvSpPr/>
          <p:nvPr/>
        </p:nvSpPr>
        <p:spPr>
          <a:xfrm>
            <a:off x="10378440" y="4507920"/>
            <a:ext cx="1699920" cy="37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Empty expression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Shape 92"/>
          <p:cNvSpPr/>
          <p:nvPr/>
        </p:nvSpPr>
        <p:spPr>
          <a:xfrm>
            <a:off x="475560" y="4892040"/>
            <a:ext cx="5394240" cy="959400"/>
          </a:xfrm>
          <a:prstGeom prst="roundRect">
            <a:avLst>
              <a:gd name="adj" fmla="val 7619"/>
            </a:avLst>
          </a:prstGeom>
          <a:solidFill>
            <a:srgbClr val="EAF0F8"/>
          </a:solidFill>
          <a:ln w="1397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401" name="Text 93"/>
          <p:cNvSpPr/>
          <p:nvPr/>
        </p:nvSpPr>
        <p:spPr>
          <a:xfrm>
            <a:off x="640080" y="4983480"/>
            <a:ext cx="5065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800" b="1" u="none" strike="noStrike">
                <a:solidFill>
                  <a:srgbClr val="2C4670"/>
                </a:solidFill>
                <a:effectLst/>
                <a:uFillTx/>
                <a:latin typeface="TH Sarabun New"/>
                <a:cs typeface="TH Sarabun New"/>
              </a:rPr>
              <a:t>ตัวอย่างบังคับ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Text 94"/>
          <p:cNvSpPr/>
          <p:nvPr/>
        </p:nvSpPr>
        <p:spPr>
          <a:xfrm>
            <a:off x="640080" y="5312520"/>
            <a:ext cx="5065200" cy="44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3 + 4 * 2 / (1 - 5)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Postfix: 3 4 2 * 1 5 - / +   Result: 1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Shape 95"/>
          <p:cNvSpPr/>
          <p:nvPr/>
        </p:nvSpPr>
        <p:spPr>
          <a:xfrm>
            <a:off x="6108120" y="4892040"/>
            <a:ext cx="5485680" cy="959400"/>
          </a:xfrm>
          <a:prstGeom prst="roundRect">
            <a:avLst>
              <a:gd name="adj" fmla="val 7619"/>
            </a:avLst>
          </a:prstGeom>
          <a:solidFill>
            <a:srgbClr val="FFF1DE"/>
          </a:solidFill>
          <a:ln w="13970">
            <a:solidFill>
              <a:srgbClr val="C9D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TH Sarabun New"/>
            </a:endParaRPr>
          </a:p>
        </p:txBody>
      </p:sp>
      <p:sp>
        <p:nvSpPr>
          <p:cNvPr id="404" name="Text 96"/>
          <p:cNvSpPr/>
          <p:nvPr/>
        </p:nvSpPr>
        <p:spPr>
          <a:xfrm>
            <a:off x="6272640" y="4983480"/>
            <a:ext cx="51566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</a:pPr>
            <a:r>
              <a:rPr lang="hi-IN" sz="18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ต้องแสดงใน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Demo </a:t>
            </a:r>
            <a:r>
              <a:rPr lang="hi-IN" sz="18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และตรวจว่า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A / B </a:t>
            </a:r>
            <a:r>
              <a:rPr lang="hi-IN" sz="18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ให้ผลตรงกัน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Text 97"/>
          <p:cNvSpPr/>
          <p:nvPr/>
        </p:nvSpPr>
        <p:spPr>
          <a:xfrm>
            <a:off x="6272640" y="5312520"/>
            <a:ext cx="5156640" cy="44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Stack state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หลังอ่าน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Token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อย่างน้อย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1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นิพจน์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และผลลัพธ์ของ </a:t>
            </a:r>
            <a:r>
              <a:rPr lang="en-US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ea typeface="TH Sarabun New"/>
              </a:rPr>
              <a:t>A / B </a:t>
            </a:r>
            <a:r>
              <a:rPr lang="hi-IN" sz="1700" b="0" u="none" strike="noStrike">
                <a:solidFill>
                  <a:srgbClr val="22304A"/>
                </a:solidFill>
                <a:effectLst/>
                <a:uFillTx/>
                <a:latin typeface="TH Sarabun New"/>
                <a:cs typeface="TH Sarabun New"/>
              </a:rPr>
              <a:t>ต้องตรงกัน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6" name="PlaceHolder 1"/>
          <p:cNvSpPr>
            <a:spLocks noGrp="1"/>
          </p:cNvSpPr>
          <p:nvPr>
            <p:ph type="sldNum" idx="14"/>
          </p:nvPr>
        </p:nvSpPr>
        <p:spPr>
          <a:xfrm>
            <a:off x="11475720" y="6510600"/>
            <a:ext cx="799200" cy="299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667085"/>
                </a:solidFill>
                <a:effectLst/>
                <a:uFillTx/>
                <a:latin typeface="TH Sarabun New"/>
                <a:ea typeface="TH Sarabun New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282C77EC-D13D-41C9-8568-8303B7E1A758}" type="slidenum">
              <a:rPr lang="en-US" sz="1200" b="0" u="none" strike="noStrike">
                <a:solidFill>
                  <a:srgbClr val="667085"/>
                </a:solidFill>
                <a:effectLst/>
                <a:uFillTx/>
                <a:latin typeface="TH Sarabun New"/>
                <a:ea typeface="TH Sarabun New"/>
              </a:rPr>
              <a:t>10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Text 0"/>
          <p:cNvSpPr/>
          <p:nvPr/>
        </p:nvSpPr>
        <p:spPr>
          <a:xfrm>
            <a:off x="530280" y="329040"/>
            <a:ext cx="1097208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11. Experimental Results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8" name="PlaceHolder 1"/>
          <p:cNvSpPr>
            <a:spLocks noGrp="1"/>
          </p:cNvSpPr>
          <p:nvPr>
            <p:ph type="sldNum" idx="15"/>
          </p:nvPr>
        </p:nvSpPr>
        <p:spPr>
          <a:xfrm>
            <a:off x="11475720" y="6510600"/>
            <a:ext cx="799200" cy="299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667085"/>
                </a:solidFill>
                <a:effectLst/>
                <a:uFillTx/>
                <a:latin typeface="TH Sarabun New"/>
                <a:ea typeface="TH Sarabun New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BFC1DA9D-9281-4BD5-8DD8-182796864E2B}" type="slidenum">
              <a:rPr lang="en-US" sz="1200" b="0" u="none" strike="noStrike">
                <a:solidFill>
                  <a:srgbClr val="667085"/>
                </a:solidFill>
                <a:effectLst/>
                <a:uFillTx/>
                <a:latin typeface="TH Sarabun New"/>
                <a:ea typeface="TH Sarabun New"/>
              </a:rPr>
              <a:t>11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409" name="Table 25"/>
          <p:cNvGraphicFramePr/>
          <p:nvPr/>
        </p:nvGraphicFramePr>
        <p:xfrm>
          <a:off x="502920" y="1051560"/>
          <a:ext cx="11107800" cy="2468880"/>
        </p:xfrm>
        <a:graphic>
          <a:graphicData uri="http://schemas.openxmlformats.org/drawingml/2006/table">
            <a:tbl>
              <a:tblPr/>
              <a:tblGrid>
                <a:gridCol w="1586880"/>
                <a:gridCol w="1586880"/>
                <a:gridCol w="1586880"/>
                <a:gridCol w="1586880"/>
                <a:gridCol w="1586880"/>
                <a:gridCol w="1586880"/>
                <a:gridCol w="1586880"/>
              </a:tblGrid>
              <a:tr h="2743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TH Sarabun New"/>
                        </a:rPr>
                        <a:t>n</a:t>
                      </a:r>
                      <a:endParaRPr lang="en-US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D456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TH Sarabun New"/>
                        </a:rPr>
                        <a:t>Alg</a:t>
                      </a:r>
                      <a:endParaRPr lang="en-US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D456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TH Sarabun New"/>
                        </a:rPr>
                        <a:t>Actual tokens</a:t>
                      </a:r>
                      <a:endParaRPr lang="en-US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D456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TH Sarabun New"/>
                        </a:rPr>
                        <a:t>Avg Time (µs)</a:t>
                      </a:r>
                      <a:endParaRPr lang="en-US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D456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TH Sarabun New"/>
                        </a:rPr>
                        <a:t>Push</a:t>
                      </a:r>
                      <a:endParaRPr lang="en-US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D456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TH Sarabun New"/>
                        </a:rPr>
                        <a:t>Pop</a:t>
                      </a:r>
                      <a:endParaRPr lang="en-US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D456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TH Sarabun New"/>
                        </a:rPr>
                        <a:t>Comparisons / Loops</a:t>
                      </a:r>
                      <a:endParaRPr lang="en-US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D456E"/>
                    </a:solidFill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100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101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834.300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151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151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70 / 202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100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B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101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203.780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151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151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71 / 101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1000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1001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1,647.620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1,501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1,501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767 / 2,002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1000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B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1001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670.600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1,501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1,501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769 / 1,001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10000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10001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8,474.200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15,001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15,001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7,539 / 20,002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10000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B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10001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3,614.760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15,001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15,001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7,540 / 10,001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50000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50001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12,280.660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75,001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75,001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37,527 / 100,002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50000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B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50001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6,934.660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75,001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75,001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37,528 / 50,001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</a:tr>
            </a:tbl>
          </a:graphicData>
        </a:graphic>
      </p:graphicFrame>
      <p:sp>
        <p:nvSpPr>
          <p:cNvPr id="410" name="TextBox 26"/>
          <p:cNvSpPr/>
          <p:nvPr/>
        </p:nvSpPr>
        <p:spPr>
          <a:xfrm>
            <a:off x="594360" y="3703320"/>
            <a:ext cx="3839760" cy="233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hi-IN" sz="1600" b="1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วิธีทดลอง </a:t>
            </a: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/ </a:t>
            </a:r>
            <a:r>
              <a:rPr lang="hi-IN" sz="1600" b="1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ผลสรุป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• n = 100, 1,000, 10,000, 50,000 </a:t>
            </a:r>
            <a:r>
              <a:rPr lang="hi-IN" sz="12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และเฉลี่ยผล </a:t>
            </a: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5 </a:t>
            </a:r>
            <a:r>
              <a:rPr lang="hi-IN" sz="12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รอบ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• เก็บ </a:t>
            </a: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Push / Pop / Comparisons / Loop Iterations / Time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• Algorithm B </a:t>
            </a:r>
            <a:r>
              <a:rPr lang="hi-IN" sz="12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เร็วกว่าทุกขนาดในชุดข้อมูลนี้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• แนวโน้มเวลาเพิ่มตามขนาดข้อมูล สอดคล้องกับ </a:t>
            </a: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O(n) </a:t>
            </a:r>
            <a:r>
              <a:rPr lang="hi-IN" sz="12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ในเชิง </a:t>
            </a: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Asymptotic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1" name="TextBox 28"/>
          <p:cNvSpPr/>
          <p:nvPr/>
        </p:nvSpPr>
        <p:spPr>
          <a:xfrm>
            <a:off x="594360" y="6144840"/>
            <a:ext cx="1088064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hi-IN" sz="900" b="0" i="1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แหล่งข้อมูล</a:t>
            </a:r>
            <a:r>
              <a:rPr lang="en-US" sz="900" b="0" i="1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: results/Stack_Group04_Experiment.csv (</a:t>
            </a:r>
            <a:r>
              <a:rPr lang="hi-IN" sz="900" b="0" i="1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ค่าจริงจากการทดลอง</a:t>
            </a:r>
            <a:r>
              <a:rPr lang="en-US" sz="900" b="0" i="1" u="none" strike="noStrike">
                <a:solidFill>
                  <a:schemeClr val="dk1"/>
                </a:solidFill>
                <a:effectLst/>
                <a:uFillTx/>
                <a:latin typeface="TH Sarabun New"/>
              </a:rPr>
              <a:t>)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2" name="Picture 412" descr="Stack_Group04_Performance_Graph.png"/>
          <p:cNvPicPr/>
          <p:nvPr/>
        </p:nvPicPr>
        <p:blipFill>
          <a:blip r:embed="rId1"/>
          <a:stretch/>
        </p:blipFill>
        <p:spPr>
          <a:xfrm>
            <a:off x="4434840" y="3886200"/>
            <a:ext cx="7131600" cy="2697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TextBox 1"/>
          <p:cNvSpPr/>
          <p:nvPr/>
        </p:nvSpPr>
        <p:spPr>
          <a:xfrm>
            <a:off x="530280" y="329040"/>
            <a:ext cx="1097208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600" b="0" u="none" strike="noStrike">
                <a:solidFill>
                  <a:srgbClr val="141414"/>
                </a:solidFill>
                <a:effectLst/>
                <a:uFillTx/>
                <a:latin typeface="TH Sarabun New"/>
              </a:rPr>
              <a:t>12. </a:t>
            </a:r>
            <a:r>
              <a:rPr lang="hi-IN" sz="2600" b="0" u="none" strike="noStrike">
                <a:solidFill>
                  <a:srgbClr val="141414"/>
                </a:solidFill>
                <a:effectLst/>
                <a:uFillTx/>
                <a:latin typeface="TH Sarabun New"/>
              </a:rPr>
              <a:t>สรุปและวิธีที่กลุ่มเลือก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TextBox 2"/>
          <p:cNvSpPr/>
          <p:nvPr/>
        </p:nvSpPr>
        <p:spPr>
          <a:xfrm>
            <a:off x="548640" y="841320"/>
            <a:ext cx="1097208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hi-IN" sz="1700" b="0" u="none" strike="noStrike">
                <a:solidFill>
                  <a:srgbClr val="464646"/>
                </a:solidFill>
                <a:effectLst/>
                <a:uFillTx/>
                <a:latin typeface="TH Sarabun New"/>
              </a:rPr>
              <a:t>ข้อสรุปจากการออกแบบและเปรียบเทียบ </a:t>
            </a:r>
            <a:r>
              <a:rPr lang="en-US" sz="1700" b="0" u="none" strike="noStrike">
                <a:solidFill>
                  <a:srgbClr val="464646"/>
                </a:solidFill>
                <a:effectLst/>
                <a:uFillTx/>
                <a:latin typeface="TH Sarabun New"/>
              </a:rPr>
              <a:t>2 Algorithm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TextBox 3"/>
          <p:cNvSpPr/>
          <p:nvPr/>
        </p:nvSpPr>
        <p:spPr>
          <a:xfrm>
            <a:off x="685800" y="1371600"/>
            <a:ext cx="5257080" cy="383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109800" tIns="73080" rIns="1098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hi-IN" sz="2100" b="1" u="none" strike="noStrike">
                <a:solidFill>
                  <a:srgbClr val="141414"/>
                </a:solidFill>
                <a:effectLst/>
                <a:uFillTx/>
                <a:latin typeface="TH Sarabun New"/>
              </a:rPr>
              <a:t>สรุปงาน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en-US" sz="1700" b="0" u="none" strike="noStrike">
                <a:solidFill>
                  <a:srgbClr val="1E1E1E"/>
                </a:solidFill>
                <a:effectLst/>
                <a:uFillTx/>
                <a:latin typeface="TH Sarabun New"/>
              </a:rPr>
              <a:t>• รับและตรวจสอบนิพจน์ </a:t>
            </a:r>
            <a:r>
              <a:rPr lang="en-US" sz="1700" b="0" u="none" strike="noStrike">
                <a:solidFill>
                  <a:srgbClr val="1E1E1E"/>
                </a:solidFill>
                <a:effectLst/>
                <a:uFillTx/>
                <a:latin typeface="TH Sarabun New"/>
              </a:rPr>
              <a:t>Infix </a:t>
            </a:r>
            <a:r>
              <a:rPr lang="hi-IN" sz="1700" b="0" u="none" strike="noStrike">
                <a:solidFill>
                  <a:srgbClr val="1E1E1E"/>
                </a:solidFill>
                <a:effectLst/>
                <a:uFillTx/>
                <a:latin typeface="TH Sarabun New"/>
              </a:rPr>
              <a:t>ตามข้อจำกัดของ </a:t>
            </a:r>
            <a:r>
              <a:rPr lang="en-US" sz="1700" b="0" u="none" strike="noStrike">
                <a:solidFill>
                  <a:srgbClr val="1E1E1E"/>
                </a:solidFill>
                <a:effectLst/>
                <a:uFillTx/>
                <a:latin typeface="TH Sarabun New"/>
              </a:rPr>
              <a:t>Group 4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en-US" sz="1700" b="0" u="none" strike="noStrike">
                <a:solidFill>
                  <a:srgbClr val="1E1E1E"/>
                </a:solidFill>
                <a:effectLst/>
                <a:uFillTx/>
                <a:latin typeface="TH Sarabun New"/>
              </a:rPr>
              <a:t>• ออกแบบ </a:t>
            </a:r>
            <a:r>
              <a:rPr lang="en-US" sz="1700" b="0" u="none" strike="noStrike">
                <a:solidFill>
                  <a:srgbClr val="1E1E1E"/>
                </a:solidFill>
                <a:effectLst/>
                <a:uFillTx/>
                <a:latin typeface="TH Sarabun New"/>
              </a:rPr>
              <a:t>Algorithm A </a:t>
            </a:r>
            <a:r>
              <a:rPr lang="hi-IN" sz="1700" b="0" u="none" strike="noStrike">
                <a:solidFill>
                  <a:srgbClr val="1E1E1E"/>
                </a:solidFill>
                <a:effectLst/>
                <a:uFillTx/>
                <a:latin typeface="TH Sarabun New"/>
              </a:rPr>
              <a:t>และ </a:t>
            </a:r>
            <a:r>
              <a:rPr lang="en-US" sz="1700" b="0" u="none" strike="noStrike">
                <a:solidFill>
                  <a:srgbClr val="1E1E1E"/>
                </a:solidFill>
                <a:effectLst/>
                <a:uFillTx/>
                <a:latin typeface="TH Sarabun New"/>
              </a:rPr>
              <a:t>Algorithm B </a:t>
            </a:r>
            <a:r>
              <a:rPr lang="hi-IN" sz="1700" b="0" u="none" strike="noStrike">
                <a:solidFill>
                  <a:srgbClr val="1E1E1E"/>
                </a:solidFill>
                <a:effectLst/>
                <a:uFillTx/>
                <a:latin typeface="TH Sarabun New"/>
              </a:rPr>
              <a:t>บนพื้นฐาน </a:t>
            </a:r>
            <a:r>
              <a:rPr lang="en-US" sz="1700" b="0" u="none" strike="noStrike">
                <a:solidFill>
                  <a:srgbClr val="1E1E1E"/>
                </a:solidFill>
                <a:effectLst/>
                <a:uFillTx/>
                <a:latin typeface="TH Sarabun New"/>
              </a:rPr>
              <a:t>Stack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en-US" sz="1700" b="0" u="none" strike="noStrike">
                <a:solidFill>
                  <a:srgbClr val="1E1E1E"/>
                </a:solidFill>
                <a:effectLst/>
                <a:uFillTx/>
                <a:latin typeface="TH Sarabun New"/>
              </a:rPr>
              <a:t>• ทดสอบกรณีปกติ กรณีขอบเขต และกรณี </a:t>
            </a:r>
            <a:r>
              <a:rPr lang="en-US" sz="1700" b="0" u="none" strike="noStrike">
                <a:solidFill>
                  <a:srgbClr val="1E1E1E"/>
                </a:solidFill>
                <a:effectLst/>
                <a:uFillTx/>
                <a:latin typeface="TH Sarabun New"/>
              </a:rPr>
              <a:t>Error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en-US" sz="1700" b="0" u="none" strike="noStrike">
                <a:solidFill>
                  <a:srgbClr val="1E1E1E"/>
                </a:solidFill>
                <a:effectLst/>
                <a:uFillTx/>
                <a:latin typeface="TH Sarabun New"/>
              </a:rPr>
              <a:t>• วิเคราะห์ </a:t>
            </a:r>
            <a:r>
              <a:rPr lang="en-US" sz="1700" b="0" u="none" strike="noStrike">
                <a:solidFill>
                  <a:srgbClr val="1E1E1E"/>
                </a:solidFill>
                <a:effectLst/>
                <a:uFillTx/>
                <a:latin typeface="TH Sarabun New"/>
              </a:rPr>
              <a:t>Time Complexity </a:t>
            </a:r>
            <a:r>
              <a:rPr lang="hi-IN" sz="1700" b="0" u="none" strike="noStrike">
                <a:solidFill>
                  <a:srgbClr val="1E1E1E"/>
                </a:solidFill>
                <a:effectLst/>
                <a:uFillTx/>
                <a:latin typeface="TH Sarabun New"/>
              </a:rPr>
              <a:t>และ </a:t>
            </a:r>
            <a:r>
              <a:rPr lang="en-US" sz="1700" b="0" u="none" strike="noStrike">
                <a:solidFill>
                  <a:srgbClr val="1E1E1E"/>
                </a:solidFill>
                <a:effectLst/>
                <a:uFillTx/>
                <a:latin typeface="TH Sarabun New"/>
              </a:rPr>
              <a:t>Space Complexity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en-US" sz="1700" b="0" u="none" strike="noStrike">
                <a:solidFill>
                  <a:srgbClr val="1E1E1E"/>
                </a:solidFill>
                <a:effectLst/>
                <a:uFillTx/>
                <a:latin typeface="TH Sarabun New"/>
              </a:rPr>
              <a:t>• พัฒนาเป็นโปรแกรม </a:t>
            </a:r>
            <a:r>
              <a:rPr lang="en-US" sz="1700" b="0" u="none" strike="noStrike">
                <a:solidFill>
                  <a:srgbClr val="1E1E1E"/>
                </a:solidFill>
                <a:effectLst/>
                <a:uFillTx/>
                <a:latin typeface="TH Sarabun New"/>
              </a:rPr>
              <a:t>Java </a:t>
            </a:r>
            <a:r>
              <a:rPr lang="hi-IN" sz="1700" b="0" u="none" strike="noStrike">
                <a:solidFill>
                  <a:srgbClr val="1E1E1E"/>
                </a:solidFill>
                <a:effectLst/>
                <a:uFillTx/>
                <a:latin typeface="TH Sarabun New"/>
              </a:rPr>
              <a:t>และทดลองประสิทธิภาพ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TextBox 4"/>
          <p:cNvSpPr/>
          <p:nvPr/>
        </p:nvSpPr>
        <p:spPr>
          <a:xfrm>
            <a:off x="6355080" y="1371600"/>
            <a:ext cx="5257080" cy="383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109800" tIns="73080" rIns="1098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hi-IN" sz="2100" b="1" u="none" strike="noStrike">
                <a:solidFill>
                  <a:srgbClr val="141414"/>
                </a:solidFill>
                <a:effectLst/>
                <a:uFillTx/>
                <a:latin typeface="TH Sarabun New"/>
              </a:rPr>
              <a:t>วิธีที่กลุ่มเลือก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en-US" sz="1700" b="0" u="none" strike="noStrike">
                <a:solidFill>
                  <a:srgbClr val="1E1E1E"/>
                </a:solidFill>
                <a:effectLst/>
                <a:uFillTx/>
                <a:latin typeface="TH Sarabun New"/>
              </a:rPr>
              <a:t>• Algorithm A </a:t>
            </a:r>
            <a:r>
              <a:rPr lang="hi-IN" sz="1700" b="0" u="none" strike="noStrike">
                <a:solidFill>
                  <a:srgbClr val="1E1E1E"/>
                </a:solidFill>
                <a:effectLst/>
                <a:uFillTx/>
                <a:latin typeface="TH Sarabun New"/>
              </a:rPr>
              <a:t>เหมาะเมื่อเน้นความชัดเจนและตรวจสอบขั้นตอนง่าย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en-US" sz="1700" b="0" u="none" strike="noStrike">
                <a:solidFill>
                  <a:srgbClr val="1E1E1E"/>
                </a:solidFill>
                <a:effectLst/>
                <a:uFillTx/>
                <a:latin typeface="TH Sarabun New"/>
              </a:rPr>
              <a:t>• Algorithm B </a:t>
            </a:r>
            <a:r>
              <a:rPr lang="hi-IN" sz="1700" b="0" u="none" strike="noStrike">
                <a:solidFill>
                  <a:srgbClr val="1E1E1E"/>
                </a:solidFill>
                <a:effectLst/>
                <a:uFillTx/>
                <a:latin typeface="TH Sarabun New"/>
              </a:rPr>
              <a:t>คำนวณ </a:t>
            </a:r>
            <a:r>
              <a:rPr lang="en-US" sz="1700" b="0" u="none" strike="noStrike">
                <a:solidFill>
                  <a:srgbClr val="1E1E1E"/>
                </a:solidFill>
                <a:effectLst/>
                <a:uFillTx/>
                <a:latin typeface="TH Sarabun New"/>
              </a:rPr>
              <a:t>Infix </a:t>
            </a:r>
            <a:r>
              <a:rPr lang="hi-IN" sz="1700" b="0" u="none" strike="noStrike">
                <a:solidFill>
                  <a:srgbClr val="1E1E1E"/>
                </a:solidFill>
                <a:effectLst/>
                <a:uFillTx/>
                <a:latin typeface="TH Sarabun New"/>
              </a:rPr>
              <a:t>โดยตรงและไม่ต้องสร้าง </a:t>
            </a:r>
            <a:r>
              <a:rPr lang="en-US" sz="1700" b="0" u="none" strike="noStrike">
                <a:solidFill>
                  <a:srgbClr val="1E1E1E"/>
                </a:solidFill>
                <a:effectLst/>
                <a:uFillTx/>
                <a:latin typeface="TH Sarabun New"/>
              </a:rPr>
              <a:t>Postfix </a:t>
            </a:r>
            <a:r>
              <a:rPr lang="hi-IN" sz="1700" b="0" u="none" strike="noStrike">
                <a:solidFill>
                  <a:srgbClr val="1E1E1E"/>
                </a:solidFill>
                <a:effectLst/>
                <a:uFillTx/>
                <a:latin typeface="TH Sarabun New"/>
              </a:rPr>
              <a:t>เป็นผลลัพธ์กลาง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en-US" sz="1700" b="0" u="none" strike="noStrike">
                <a:solidFill>
                  <a:srgbClr val="1E1E1E"/>
                </a:solidFill>
                <a:effectLst/>
                <a:uFillTx/>
                <a:latin typeface="TH Sarabun New"/>
              </a:rPr>
              <a:t>• ทั้งสองวิธีมี </a:t>
            </a:r>
            <a:r>
              <a:rPr lang="en-US" sz="1700" b="0" u="none" strike="noStrike">
                <a:solidFill>
                  <a:srgbClr val="1E1E1E"/>
                </a:solidFill>
                <a:effectLst/>
                <a:uFillTx/>
                <a:latin typeface="TH Sarabun New"/>
              </a:rPr>
              <a:t>Time Complexity </a:t>
            </a:r>
            <a:r>
              <a:rPr lang="hi-IN" sz="1700" b="0" u="none" strike="noStrike">
                <a:solidFill>
                  <a:srgbClr val="1E1E1E"/>
                </a:solidFill>
                <a:effectLst/>
                <a:uFillTx/>
                <a:latin typeface="TH Sarabun New"/>
              </a:rPr>
              <a:t>โดยรวม </a:t>
            </a:r>
            <a:r>
              <a:rPr lang="en-US" sz="1700" b="0" u="none" strike="noStrike">
                <a:solidFill>
                  <a:srgbClr val="1E1E1E"/>
                </a:solidFill>
                <a:effectLst/>
                <a:uFillTx/>
                <a:latin typeface="TH Sarabun New"/>
              </a:rPr>
              <a:t>O(n)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en-US" sz="1700" b="0" u="none" strike="noStrike">
                <a:solidFill>
                  <a:srgbClr val="1E1E1E"/>
                </a:solidFill>
                <a:effectLst/>
                <a:uFillTx/>
                <a:latin typeface="TH Sarabun New"/>
              </a:rPr>
              <a:t>• Space Complexity </a:t>
            </a:r>
            <a:r>
              <a:rPr lang="hi-IN" sz="1700" b="0" u="none" strike="noStrike">
                <a:solidFill>
                  <a:srgbClr val="1E1E1E"/>
                </a:solidFill>
                <a:effectLst/>
                <a:uFillTx/>
                <a:latin typeface="TH Sarabun New"/>
              </a:rPr>
              <a:t>โดยรวม </a:t>
            </a:r>
            <a:r>
              <a:rPr lang="en-US" sz="1700" b="0" u="none" strike="noStrike">
                <a:solidFill>
                  <a:srgbClr val="1E1E1E"/>
                </a:solidFill>
                <a:effectLst/>
                <a:uFillTx/>
                <a:latin typeface="TH Sarabun New"/>
              </a:rPr>
              <a:t>O(n)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en-US" sz="1700" b="0" u="none" strike="noStrike">
                <a:solidFill>
                  <a:srgbClr val="1E1E1E"/>
                </a:solidFill>
                <a:effectLst/>
                <a:uFillTx/>
                <a:latin typeface="TH Sarabun New"/>
              </a:rPr>
              <a:t>• การเลือกใช้ขึ้นอยู่กับเป้าหมายของระบบและความง่ายในการตรวจสอบ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H Sarabun New" pitchFamily="0" charset="1"/>
        <a:ea typeface=""/>
        <a:cs typeface=""/>
      </a:majorFont>
      <a:minorFont>
        <a:latin typeface="TH Sarabun New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</TotalTime>
  <Application>LibreOffice/26.2.5.2$Windows_X86_64 LibreOffice_project/cd7284b4cbbfeb507e630c1aac019f4157393acb</Application>
  <AppVersion>15.0000</AppVersion>
  <Words>0</Words>
  <Paragraphs>0</Paragraphs>
  <Company>Suan Sunandha Rajabhat University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2026-09-07T05:31:29Z</dcterms:created>
  <dc:creator>OpenAI</dc:creator>
  <dc:description/>
  <dc:language>en-US</dc:language>
  <cp:lastModifiedBy/>
  <dcterms:modified xsi:type="dcterms:W3CDTF">2026-09-09T22:20:09Z</dcterms:modified>
  <cp:revision>4</cp:revision>
  <dc:subject>Group 4 Expression Processor</dc:subject>
  <dc:title>Group 4 — Expression Processor: Infix &amp; Postfix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21</vt:i4>
  </property>
  <property fmtid="{D5CDD505-2E9C-101B-9397-08002B2CF9AE}" pid="3" name="PresentationFormat">
    <vt:lpwstr>On-screen Show (16:9)</vt:lpwstr>
  </property>
  <property fmtid="{D5CDD505-2E9C-101B-9397-08002B2CF9AE}" pid="4" name="Slides">
    <vt:i4>21</vt:i4>
  </property>
</Properties>
</file>